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9" r:id="rId20"/>
    <p:sldId id="260" r:id="rId6"/>
    <p:sldId id="261" r:id="rId7"/>
    <p:sldId id="262" r:id="rId8"/>
    <p:sldId id="263" r:id="rId9"/>
    <p:sldId id="264" r:id="rId10"/>
    <p:sldId id="270" r:id="rId21"/>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5.xml"/><Relationship Id="rId21"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objetivo central: articular seis áreas de ciencia de datos para diseñar una campaña responsable. Explicar que la evidencia demuestra una propuesta y experimentos reproducibles, no una campaña pagada ni cambios turísticos ya observados. La exposición integra resultados por decisiones, no por materias.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del turismo desigual es complejo. Los datos disponibles describen parte de la oferta y unas series de ocupación en tres centros; no permiten identificar saturación municipal de todo el estado. Por tanto no afirmamos que los seis municipios seleccionados estén subutilizados ni que puedan recibir visitantes ilimitados. La campaña propone una prueba gradual, condicionada a validación de accesos y comunidades.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distingue entre universo geográfico y evidencia turística. La revisión adicional de 14 municipios ya pertenece al estado actual del proyecto; no se plantea nueva recopilación. Sus 40 registros corresponden a tipos diferentes —sitios, eventos, experiencias, patrimonio— y no se insertan automáticamente como si fueran relaciones idénticas de actividades. Hay respaldo textual archivado para 173 de 216 pares; eso no certifica apertura actual.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Describir la arquitectura real: múltiples fuentes normalizadas en SQLite con IDs, pasajes originales y relaciones auditables. Extracción y pruebas en Python; resultados de S4 a S8 en archivos reproducibles. No atribuir al proyecto un clúster distribuido Hadoop/Spark que no se operó. El modelo de ocupación es por centro hotelero y queda separado de las hipótesis de marketing municipal.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municipios aparecen en la intersección documentada para kayak y observación de aves. Esta recomendación es una coincidencia de oferta descrita por fuentes, no una probabilidad de conversión ni un itinerario con accesos confirmados. Los agrupamientos históricos no justifican afirmar segmentos de visitantes. Si un registro no nombra una actividad, el dato se clasifica como desconocido, no ausente.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cuatro resultados se evaluaron sobre las mismas 52 observaciones de tres centros. El error absoluto medio del bosque es 5.59 puntos porcentuales frente a 5.66 del promedio de tres meses. La diferencia es minúscula y el intervalo de remuestreo incluye cero, por lo que no justificamos usar el bosque como función operativa para recomendar otros municipios. Es un resultado científico válido aunque no sea superior.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Coatzacoalcos aumentar cobertura también aumenta ancho. En Xalapa, el intervalo móvil se vuelve muy ancho y la cobertura cae ligeramente. Son pruebas de calibración histórica, no promesas de precisión. Markov se evaluó sobre 20 transiciones de prueba y acertó ocho, exactamente lo mismo que la persistencia agregada. Estos resultados no nos autorizan a asignar probabilidades de visitantes a los seis municipios de la campaña.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variable binaria x indica si se selecciona un municipio. La variable y indica si el portafolio cubre cada actividad. La función objetivo maximiza suma de actividades distintas documentadas y el presupuesto exige que la suma de costos supuestos no pase de treinta mil pesos. Se comprobó un óptimo de 47 tipos con seis municipios y se mantiene al exigir respaldo textual original. No es un presupuesto cotizado, ni un modelo de capacidad de carga.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Los datos publicados no validan segmentos estatales: la encuesta del Centro Histórico tiene 500 respuestas mixtas, de ellas solo 40 turistas autodeclarados; 374 de 500 señalaron módulos informativos insuficientes, y 226 de 500 calificaron deficientemente la difusión de monumentos. Cumbre Tajín encuestó a 5.000 asistentes, entre quienes 41% viajó con familia. Se propone probar mensajes informativos específicos, no inferir patrones demográficos ni resultados de la campaña. Fuentes: https://www.uv.mx/veracruz/omv/files/2025/09/2025-Encuesta-Datos.pdf y https://www.veracruz.gob.mx/2024/03/25/cumbre-tajin-resurge-casi-un-millon-de-visitantes-avalan-su-retorno-triunfal-sectur/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de Investigación de Operaciones dispone de seis colocaciones de cinco mil pesos cada una, suponiendo costos iguales. Para concretar un diseño de marketing proponemos doce mil pesos para social y video, nueve mil en búsqueda, seis mil para contenido y fichas, y tres mil para medición. Estas cantidades no proceden de cotizaciones reales ni son una segunda optimización; se verificarán antes de cualquier gasto y deberán alimentar luego un nuevo MILP con costos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Diferenciamos cuatro niveles: alcance publicitario, interés cualificado, conversiones verificadas e impacto territorial. Al momento solo existe el plan; no hay métricas observadas. Para evaluar el proyecto se propone un piloto trazable, con consentimiento y UTMs, sin atribuir causalidad automáticamente. Cualquier expansión queda condicionada a verificar disponibilidad, permisos, capacidad y respuestas comunitarias.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Concluir con una defensa concisa: la contribución consiste en no fabricar demanda y en evitar que minería, predicción y optimización se vuelvan números mágicos. La base preserva oferta documentada; el aprendizaje automático mostró limitaciones; la optimización produce un portafolio auditable; mercadotecnia lo convierte en hipótesis verificables. Se requiere piloto para comprobar impacto. Si preguntan por resultados, distinguir experimentos retrospectivos de resultados de campo.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puede mantenerse como apoyo para preguntas. Todos los resultados principales tienen rutas a las salidas que los reproducen; se conservan números y fechas dentro del repositorio. Las normas y el contenido exigido se encuentran en el Problema Prototípico de 2026-2 y su rúbrica páginas 6 a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Fuente: veracruz_unified_flow/deps/veracruz_interest_bigdata/benchmark_reference.json; medición local repetida.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Fuente: versión candidata del planificador, 58 entradas de precios; no son cotizaciones.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33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oundRect">
            <a:avLst/>
          </a:prstGeom>
          <a:solidFill>
            <a:srgbClr val="12766C"/>
          </a:solidFill>
          <a:ln w="8890">
            <a:solidFill>
              <a:srgbClr val="12766C"/>
            </a:solidFill>
            <a:prstDash val="solid"/>
          </a:ln>
        </p:spPr>
        <p:txBody>
          <a:bodyPr/>
          <a:p/>
        </p:txBody>
      </p:sp>
      <p:sp>
        <p:nvSpPr>
          <p:cNvPr id="3" name="Shape 1"/>
          <p:cNvSpPr/>
          <p:nvPr/>
        </p:nvSpPr>
        <p:spPr>
          <a:xfrm>
            <a:off x="713232" y="713232"/>
            <a:ext cx="3931920" cy="393192"/>
          </a:xfrm>
          <a:prstGeom prst="roundRect">
            <a:avLst>
              <a:gd name="adj" fmla="val 27907"/>
            </a:avLst>
          </a:prstGeom>
          <a:solidFill>
            <a:srgbClr val="23506A"/>
          </a:solidFill>
          <a:ln w="8890">
            <a:solidFill>
              <a:srgbClr val="23506A"/>
            </a:solidFill>
            <a:prstDash val="solid"/>
          </a:ln>
        </p:spPr>
        <p:txBody>
          <a:bodyPr/>
          <a:p/>
        </p:txBody>
      </p:sp>
      <p:sp>
        <p:nvSpPr>
          <p:cNvPr id="4" name="Text 2"/>
          <p:cNvSpPr/>
          <p:nvPr/>
        </p:nvSpPr>
        <p:spPr>
          <a:xfrm>
            <a:off x="804672" y="786384"/>
            <a:ext cx="3749040" cy="228600"/>
          </a:xfrm>
          <a:prstGeom prst="rect">
            <a:avLst/>
          </a:prstGeom>
          <a:noFill/>
          <a:ln/>
        </p:spPr>
        <p:txBody>
          <a:bodyPr wrap="square" lIns="0" tIns="0" rIns="0" bIns="0" rtlCol="0" anchor="ctr">
            <a:normAutofit/>
          </a:bodyPr>
          <a:lstStyle/>
          <a:p>
            <a:pPr algn="ctr" indent="0" marL="0">
              <a:buNone/>
            </a:pPr>
            <a:r>
              <a:rPr lang="en-US" sz="1200" b="1" dirty="0">
                <a:solidFill>
                  <a:srgbClr val="12766C"/>
                </a:solidFill>
                <a:latin typeface="Aptos" pitchFamily="34" charset="0"/>
                <a:ea typeface="Aptos" pitchFamily="34" charset="-122"/>
                <a:cs typeface="Aptos" pitchFamily="34" charset="-120"/>
              </a:rPr>
              <a:t>PROBLEMA PROTOTÍPICO · 2026-2</a:t>
            </a:r>
            <a:endParaRPr lang="en-US" sz="1200" dirty="0"/>
          </a:p>
        </p:txBody>
      </p:sp>
      <p:sp>
        <p:nvSpPr>
          <p:cNvPr id="5" name="Text 3"/>
          <p:cNvSpPr/>
          <p:nvPr/>
        </p:nvSpPr>
        <p:spPr>
          <a:xfrm>
            <a:off x="731520" y="1426464"/>
            <a:ext cx="10789920" cy="749808"/>
          </a:xfrm>
          <a:prstGeom prst="rect">
            <a:avLst/>
          </a:prstGeom>
          <a:noFill/>
          <a:ln/>
        </p:spPr>
        <p:txBody>
          <a:bodyPr wrap="square" lIns="0" tIns="0" rIns="0" bIns="0" rtlCol="0" anchor="ctr">
            <a:normAutofit/>
          </a:bodyPr>
          <a:lstStyle/>
          <a:p>
            <a:pPr algn="l" indent="0" marL="0">
              <a:buNone/>
            </a:pPr>
            <a:r>
              <a:rPr lang="en-US" sz="5300" b="1" dirty="0">
                <a:solidFill>
                  <a:srgbClr val="FFFFFF"/>
                </a:solidFill>
                <a:latin typeface="Aptos" pitchFamily="34" charset="0"/>
                <a:ea typeface="Aptos" pitchFamily="34" charset="-122"/>
                <a:cs typeface="Aptos" pitchFamily="34" charset="-120"/>
              </a:rPr>
              <a:t>VERACRUZ</a:t>
            </a:r>
            <a:endParaRPr lang="en-US" sz="5300" dirty="0"/>
          </a:p>
        </p:txBody>
      </p:sp>
      <p:sp>
        <p:nvSpPr>
          <p:cNvPr id="6" name="Text 4"/>
          <p:cNvSpPr/>
          <p:nvPr/>
        </p:nvSpPr>
        <p:spPr>
          <a:xfrm>
            <a:off x="731520" y="2313432"/>
            <a:ext cx="10789920" cy="566928"/>
          </a:xfrm>
          <a:prstGeom prst="rect">
            <a:avLst/>
          </a:prstGeom>
          <a:noFill/>
          <a:ln/>
        </p:spPr>
        <p:txBody>
          <a:bodyPr wrap="square" lIns="0" tIns="0" rIns="0" bIns="0" rtlCol="0" anchor="ctr">
            <a:normAutofit/>
          </a:bodyPr>
          <a:lstStyle/>
          <a:p>
            <a:pPr algn="l" indent="0" marL="0">
              <a:buNone/>
            </a:pPr>
            <a:r>
              <a:rPr lang="en-US" sz="3200" dirty="0">
                <a:solidFill>
                  <a:srgbClr val="BEE8E2"/>
                </a:solidFill>
                <a:latin typeface="Aptos" pitchFamily="34" charset="0"/>
                <a:ea typeface="Aptos" pitchFamily="34" charset="-122"/>
                <a:cs typeface="Aptos" pitchFamily="34" charset="-120"/>
              </a:rPr>
              <a:t>Experiencias con raíz</a:t>
            </a:r>
            <a:endParaRPr lang="en-US" sz="3200" dirty="0"/>
          </a:p>
        </p:txBody>
      </p:sp>
      <p:sp>
        <p:nvSpPr>
          <p:cNvPr id="7" name="Text 5"/>
          <p:cNvSpPr/>
          <p:nvPr/>
        </p:nvSpPr>
        <p:spPr>
          <a:xfrm>
            <a:off x="731520" y="3246120"/>
            <a:ext cx="9875520" cy="1097280"/>
          </a:xfrm>
          <a:prstGeom prst="rect">
            <a:avLst/>
          </a:prstGeom>
          <a:noFill/>
          <a:ln/>
        </p:spPr>
        <p:txBody>
          <a:bodyPr wrap="square" lIns="0" tIns="0" rIns="0" bIns="0" rtlCol="0" anchor="ctr">
            <a:normAutofit/>
          </a:bodyPr>
          <a:lstStyle/>
          <a:p>
            <a:pPr algn="l" indent="0" marL="0">
              <a:buNone/>
            </a:pPr>
            <a:r>
              <a:rPr lang="en-US" sz="2500" dirty="0">
                <a:solidFill>
                  <a:srgbClr val="FFFFFF"/>
                </a:solidFill>
                <a:latin typeface="Aptos" pitchFamily="34" charset="0"/>
                <a:ea typeface="Aptos" pitchFamily="34" charset="-122"/>
                <a:cs typeface="Aptos" pitchFamily="34" charset="-120"/>
              </a:rPr>
              <a:t>De datos turísticos heterogéneos a una campaña pública, verificable y responsable</a:t>
            </a:r>
            <a:endParaRPr lang="en-US" sz="2500" dirty="0"/>
          </a:p>
        </p:txBody>
      </p:sp>
      <p:sp>
        <p:nvSpPr>
          <p:cNvPr id="8" name="Shape 6"/>
          <p:cNvSpPr/>
          <p:nvPr/>
        </p:nvSpPr>
        <p:spPr>
          <a:xfrm>
            <a:off x="713232" y="5733288"/>
            <a:ext cx="10744200" cy="548640"/>
          </a:xfrm>
          <a:prstGeom prst="roundRect">
            <a:avLst>
              <a:gd name="adj" fmla="val 20000"/>
            </a:avLst>
          </a:prstGeom>
          <a:solidFill>
            <a:srgbClr val="20425A"/>
          </a:solidFill>
          <a:ln w="8890">
            <a:solidFill>
              <a:srgbClr val="20425A"/>
            </a:solidFill>
            <a:prstDash val="solid"/>
          </a:ln>
        </p:spPr>
        <p:txBody>
          <a:bodyPr/>
          <a:p/>
        </p:txBody>
      </p:sp>
      <p:sp>
        <p:nvSpPr>
          <p:cNvPr id="9" name="Text 7"/>
          <p:cNvSpPr/>
          <p:nvPr/>
        </p:nvSpPr>
        <p:spPr>
          <a:xfrm>
            <a:off x="914400" y="5897880"/>
            <a:ext cx="10424160" cy="182880"/>
          </a:xfrm>
          <a:prstGeom prst="rect">
            <a:avLst/>
          </a:prstGeom>
          <a:noFill/>
          <a:ln/>
        </p:spPr>
        <p:txBody>
          <a:bodyPr wrap="square" lIns="0" tIns="0" rIns="0" bIns="0" rtlCol="0" anchor="ctr">
            <a:normAutofit/>
          </a:bodyPr>
          <a:lstStyle/>
          <a:p>
            <a:pPr algn="l" indent="0" marL="0">
              <a:buNone/>
            </a:pPr>
            <a:r>
              <a:rPr lang="en-US" sz="1300" dirty="0">
                <a:solidFill>
                  <a:srgbClr val="D5E7EE"/>
                </a:solidFill>
                <a:latin typeface="Aptos" pitchFamily="34" charset="0"/>
                <a:ea typeface="Aptos" pitchFamily="34" charset="-122"/>
                <a:cs typeface="Aptos" pitchFamily="34" charset="-120"/>
              </a:rPr>
              <a:t>Campaña digital fundamentada en evidencia · Diseño de estrategia y evaluación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oundRect">
            <a:avLst/>
          </a:prstGeom>
          <a:solidFill>
            <a:srgbClr val="12766C"/>
          </a:solidFill>
          <a:ln w="8890">
            <a:solidFill>
              <a:srgbClr val="12766C"/>
            </a:solidFill>
            <a:prstDash val="solid"/>
          </a:ln>
        </p:spPr>
        <p:txBody>
          <a:bodyPr/>
          <a:p/>
        </p:txBody>
      </p:sp>
      <p:sp>
        <p:nvSpPr>
          <p:cNvPr id="3" name="Text 1"/>
          <p:cNvSpPr/>
          <p:nvPr/>
        </p:nvSpPr>
        <p:spPr>
          <a:xfrm>
            <a:off x="585216" y="347472"/>
            <a:ext cx="10789920" cy="219456"/>
          </a:xfrm>
          <a:prstGeom prst="rect">
            <a:avLst/>
          </a:prstGeom>
          <a:noFill/>
          <a:ln/>
        </p:spPr>
        <p:txBody>
          <a:bodyPr wrap="square" lIns="0" tIns="0" rIns="0" bIns="0" rtlCol="0" anchor="ctr">
            <a:normAutofit/>
          </a:bodyPr>
          <a:lstStyle/>
          <a:p>
            <a:pPr algn="l" indent="0" marL="0">
              <a:buNone/>
            </a:pPr>
            <a:r>
              <a:rPr lang="en-US" sz="900" b="1" spc="150" kern="0" dirty="0">
                <a:solidFill>
                  <a:srgbClr val="12766C"/>
                </a:solidFill>
                <a:latin typeface="Aptos" pitchFamily="34" charset="0"/>
                <a:ea typeface="Aptos" pitchFamily="34" charset="-122"/>
                <a:cs typeface="Aptos" pitchFamily="34" charset="-120"/>
              </a:rPr>
              <a:t>PREGUNTA CENTRAL</a:t>
            </a:r>
            <a:endParaRPr lang="en-US" sz="900" dirty="0"/>
          </a:p>
        </p:txBody>
      </p:sp>
      <p:sp>
        <p:nvSpPr>
          <p:cNvPr id="4" name="Text 2"/>
          <p:cNvSpPr/>
          <p:nvPr/>
        </p:nvSpPr>
        <p:spPr>
          <a:xfrm>
            <a:off x="585216" y="749808"/>
            <a:ext cx="11064240" cy="658368"/>
          </a:xfrm>
          <a:prstGeom prst="rect">
            <a:avLst/>
          </a:prstGeom>
          <a:noFill/>
          <a:ln/>
        </p:spPr>
        <p:txBody>
          <a:bodyPr wrap="square" lIns="0" tIns="0" rIns="0" bIns="0" rtlCol="0" anchor="ctr">
            <a:normAutofit/>
          </a:bodyPr>
          <a:lstStyle/>
          <a:p>
            <a:pPr algn="l" indent="0" marL="0">
              <a:buNone/>
            </a:pPr>
            <a:r>
              <a:rPr lang="en-US" sz="2900" b="1" dirty="0">
                <a:solidFill>
                  <a:srgbClr val="10233C"/>
                </a:solidFill>
                <a:latin typeface="Aptos" pitchFamily="34" charset="0"/>
                <a:ea typeface="Aptos" pitchFamily="34" charset="-122"/>
                <a:cs typeface="Aptos" pitchFamily="34" charset="-120"/>
              </a:rPr>
              <a:t>De la concentración turística a la diversificación de experiencias</a:t>
            </a:r>
            <a:endParaRPr lang="en-US" sz="2900" dirty="0"/>
          </a:p>
        </p:txBody>
      </p:sp>
      <p:sp>
        <p:nvSpPr>
          <p:cNvPr id="5" name="Shape 3"/>
          <p:cNvSpPr/>
          <p:nvPr/>
        </p:nvSpPr>
        <p:spPr>
          <a:xfrm>
            <a:off x="585216" y="1508760"/>
            <a:ext cx="10991088" cy="0"/>
          </a:xfrm>
          <a:prstGeom prst="line">
            <a:avLst/>
          </a:prstGeom>
          <a:noFill/>
          <a:ln w="15875">
            <a:solidFill>
              <a:srgbClr val="D9E2E8"/>
            </a:solidFill>
            <a:prstDash val="solid"/>
          </a:ln>
        </p:spPr>
        <p:txBody>
          <a:bodyPr/>
          <a:p/>
        </p:txBody>
      </p:sp>
      <p:sp>
        <p:nvSpPr>
          <p:cNvPr id="6" name="Text 4"/>
          <p:cNvSpPr/>
          <p:nvPr/>
        </p:nvSpPr>
        <p:spPr>
          <a:xfrm>
            <a:off x="585216" y="6547104"/>
            <a:ext cx="9921240" cy="137160"/>
          </a:xfrm>
          <a:prstGeom prst="rect">
            <a:avLst/>
          </a:prstGeom>
          <a:noFill/>
          <a:ln/>
        </p:spPr>
        <p:txBody>
          <a:bodyPr wrap="square" lIns="0" tIns="0" rIns="0" bIns="0" rtlCol="0" anchor="ctr">
            <a:normAutofit/>
          </a:bodyPr>
          <a:lstStyle/>
          <a:p>
            <a:pPr algn="l" indent="0" marL="0">
              <a:buNone/>
            </a:pPr>
            <a:r>
              <a:rPr lang="en-US" sz="850" dirty="0">
                <a:solidFill>
                  <a:srgbClr val="5E7182"/>
                </a:solidFill>
                <a:latin typeface="Aptos" pitchFamily="34" charset="0"/>
                <a:ea typeface="Aptos" pitchFamily="34" charset="-122"/>
                <a:cs typeface="Aptos" pitchFamily="34" charset="-120"/>
              </a:rPr>
              <a:t>Universidad Rosario Castellanos (2026)</a:t>
            </a:r>
            <a:endParaRPr lang="en-US" sz="850" dirty="0"/>
          </a:p>
        </p:txBody>
      </p:sp>
      <p:sp>
        <p:nvSpPr>
          <p:cNvPr id="7" name="Text 5"/>
          <p:cNvSpPr/>
          <p:nvPr/>
        </p:nvSpPr>
        <p:spPr>
          <a:xfrm>
            <a:off x="11018520" y="6519672"/>
            <a:ext cx="475488" cy="164592"/>
          </a:xfrm>
          <a:prstGeom prst="rect">
            <a:avLst/>
          </a:prstGeom>
          <a:noFill/>
          <a:ln/>
        </p:spPr>
        <p:txBody>
          <a:bodyPr wrap="square" lIns="0" tIns="0" rIns="0" bIns="0" rtlCol="0" anchor="ctr">
            <a:normAutofit/>
          </a:bodyPr>
          <a:lstStyle/>
          <a:p>
            <a:pPr algn="r" indent="0" marL="0">
              <a:buNone/>
            </a:pPr>
            <a:r>
              <a:rPr lang="en-US" sz="900" dirty="0">
                <a:solidFill>
                  <a:srgbClr val="5E7182"/>
                </a:solidFill>
                <a:latin typeface="Aptos" pitchFamily="34" charset="0"/>
                <a:ea typeface="Aptos" pitchFamily="34" charset="-122"/>
                <a:cs typeface="Aptos" pitchFamily="34" charset="-120"/>
              </a:rPr>
              <a:t>2</a:t>
            </a:r>
            <a:endParaRPr lang="en-US" sz="900" dirty="0"/>
          </a:p>
        </p:txBody>
      </p:sp>
      <p:sp>
        <p:nvSpPr>
          <p:cNvPr id="8" name="Shape 6"/>
          <p:cNvSpPr/>
          <p:nvPr/>
        </p:nvSpPr>
        <p:spPr>
          <a:xfrm>
            <a:off x="658368" y="1856232"/>
            <a:ext cx="5486400" cy="3273552"/>
          </a:xfrm>
          <a:prstGeom prst="roundRect">
            <a:avLst>
              <a:gd name="adj" fmla="val 3352"/>
            </a:avLst>
          </a:prstGeom>
          <a:solidFill>
            <a:srgbClr val="F7F3E9"/>
          </a:solidFill>
          <a:ln w="8890">
            <a:solidFill>
              <a:srgbClr val="D9E2E8"/>
            </a:solidFill>
            <a:prstDash val="solid"/>
          </a:ln>
        </p:spPr>
        <p:txBody>
          <a:bodyPr/>
          <a:p/>
        </p:txBody>
      </p:sp>
      <p:sp>
        <p:nvSpPr>
          <p:cNvPr id="9" name="Text 7"/>
          <p:cNvSpPr/>
          <p:nvPr/>
        </p:nvSpPr>
        <p:spPr>
          <a:xfrm>
            <a:off x="914400" y="2212848"/>
            <a:ext cx="5029200" cy="1078992"/>
          </a:xfrm>
          <a:prstGeom prst="rect">
            <a:avLst/>
          </a:prstGeom>
          <a:noFill/>
          <a:ln/>
        </p:spPr>
        <p:txBody>
          <a:bodyPr wrap="square" lIns="0" tIns="0" rIns="0" bIns="0" rtlCol="0" anchor="ctr">
            <a:normAutofit/>
          </a:bodyPr>
          <a:lstStyle/>
          <a:p>
            <a:pPr algn="l" indent="0" marL="0">
              <a:buNone/>
            </a:pPr>
            <a:r>
              <a:rPr lang="en-US" sz="2900" b="1" dirty="0">
                <a:solidFill>
                  <a:srgbClr val="10233C"/>
                </a:solidFill>
                <a:latin typeface="Aptos" pitchFamily="34" charset="0"/>
                <a:ea typeface="Aptos" pitchFamily="34" charset="-122"/>
                <a:cs typeface="Aptos" pitchFamily="34" charset="-120"/>
              </a:rPr>
              <a:t>¿Cómo promover alternativas sin trasladar la saturación?</a:t>
            </a:r>
            <a:endParaRPr lang="en-US" sz="2900" dirty="0"/>
          </a:p>
        </p:txBody>
      </p:sp>
      <p:sp>
        <p:nvSpPr>
          <p:cNvPr id="10" name="Shape 8"/>
          <p:cNvSpPr/>
          <p:nvPr/>
        </p:nvSpPr>
        <p:spPr>
          <a:xfrm>
            <a:off x="932688" y="3621024"/>
            <a:ext cx="86868" cy="86868"/>
          </a:xfrm>
          <a:prstGeom prst="ellipse">
            <a:avLst/>
          </a:prstGeom>
          <a:solidFill>
            <a:srgbClr val="12766C"/>
          </a:solidFill>
          <a:ln w="12700">
            <a:solidFill>
              <a:srgbClr val="12766C"/>
            </a:solidFill>
            <a:prstDash val="solid"/>
          </a:ln>
        </p:spPr>
        <p:txBody>
          <a:bodyPr/>
          <a:p/>
        </p:txBody>
      </p:sp>
      <p:sp>
        <p:nvSpPr>
          <p:cNvPr id="11" name="Text 9"/>
          <p:cNvSpPr/>
          <p:nvPr/>
        </p:nvSpPr>
        <p:spPr>
          <a:xfrm>
            <a:off x="1124712" y="3474720"/>
            <a:ext cx="4599432" cy="448056"/>
          </a:xfrm>
          <a:prstGeom prst="rect">
            <a:avLst/>
          </a:prstGeom>
          <a:noFill/>
          <a:ln/>
        </p:spPr>
        <p:txBody>
          <a:bodyPr wrap="square" lIns="0" tIns="0" rIns="0" bIns="0" rtlCol="0" anchor="ctr">
            <a:normAutofit/>
          </a:bodyPr>
          <a:lstStyle/>
          <a:p>
            <a:pPr algn="l" indent="0" marL="0">
              <a:buNone/>
            </a:pPr>
            <a:r>
              <a:rPr lang="en-US" sz="1600" dirty="0">
                <a:solidFill>
                  <a:srgbClr val="1C3044"/>
                </a:solidFill>
                <a:latin typeface="Aptos" pitchFamily="34" charset="0"/>
                <a:ea typeface="Aptos" pitchFamily="34" charset="-122"/>
                <a:cs typeface="Aptos" pitchFamily="34" charset="-120"/>
              </a:rPr>
              <a:t>Oferta turística, intereses y demanda: variables distintas.</a:t>
            </a:r>
            <a:endParaRPr lang="en-US" sz="1600" dirty="0"/>
          </a:p>
        </p:txBody>
      </p:sp>
      <p:sp>
        <p:nvSpPr>
          <p:cNvPr id="12" name="Shape 10"/>
          <p:cNvSpPr/>
          <p:nvPr/>
        </p:nvSpPr>
        <p:spPr>
          <a:xfrm>
            <a:off x="932688" y="4087368"/>
            <a:ext cx="86868" cy="86868"/>
          </a:xfrm>
          <a:prstGeom prst="ellipse">
            <a:avLst/>
          </a:prstGeom>
          <a:solidFill>
            <a:srgbClr val="12766C"/>
          </a:solidFill>
          <a:ln w="12700">
            <a:solidFill>
              <a:srgbClr val="12766C"/>
            </a:solidFill>
            <a:prstDash val="solid"/>
          </a:ln>
        </p:spPr>
        <p:txBody>
          <a:bodyPr/>
          <a:p/>
        </p:txBody>
      </p:sp>
      <p:sp>
        <p:nvSpPr>
          <p:cNvPr id="13" name="Text 11"/>
          <p:cNvSpPr/>
          <p:nvPr/>
        </p:nvSpPr>
        <p:spPr>
          <a:xfrm>
            <a:off x="1124712" y="3941064"/>
            <a:ext cx="4599432" cy="448056"/>
          </a:xfrm>
          <a:prstGeom prst="rect">
            <a:avLst/>
          </a:prstGeom>
          <a:noFill/>
          <a:ln/>
        </p:spPr>
        <p:txBody>
          <a:bodyPr wrap="square" lIns="0" tIns="0" rIns="0" bIns="0" rtlCol="0" anchor="ctr">
            <a:normAutofit/>
          </a:bodyPr>
          <a:lstStyle/>
          <a:p>
            <a:pPr algn="l" indent="0" marL="0">
              <a:buNone/>
            </a:pPr>
            <a:r>
              <a:rPr lang="en-US" sz="1600" dirty="0">
                <a:solidFill>
                  <a:srgbClr val="1C3044"/>
                </a:solidFill>
                <a:latin typeface="Aptos" pitchFamily="34" charset="0"/>
                <a:ea typeface="Aptos" pitchFamily="34" charset="-122"/>
                <a:cs typeface="Aptos" pitchFamily="34" charset="-120"/>
              </a:rPr>
              <a:t>La capacidad se aborda con indicadores de infraestructura y territorio.</a:t>
            </a:r>
            <a:endParaRPr lang="en-US" sz="1600" dirty="0"/>
          </a:p>
        </p:txBody>
      </p:sp>
      <p:sp>
        <p:nvSpPr>
          <p:cNvPr id="14" name="Shape 12"/>
          <p:cNvSpPr/>
          <p:nvPr/>
        </p:nvSpPr>
        <p:spPr>
          <a:xfrm>
            <a:off x="932688" y="4553712"/>
            <a:ext cx="86868" cy="86868"/>
          </a:xfrm>
          <a:prstGeom prst="ellipse">
            <a:avLst/>
          </a:prstGeom>
          <a:solidFill>
            <a:srgbClr val="12766C"/>
          </a:solidFill>
          <a:ln w="12700">
            <a:solidFill>
              <a:srgbClr val="12766C"/>
            </a:solidFill>
            <a:prstDash val="solid"/>
          </a:ln>
        </p:spPr>
        <p:txBody>
          <a:bodyPr/>
          <a:p/>
        </p:txBody>
      </p:sp>
      <p:sp>
        <p:nvSpPr>
          <p:cNvPr id="15" name="Text 13"/>
          <p:cNvSpPr/>
          <p:nvPr/>
        </p:nvSpPr>
        <p:spPr>
          <a:xfrm>
            <a:off x="1124712" y="4407408"/>
            <a:ext cx="4599432" cy="448056"/>
          </a:xfrm>
          <a:prstGeom prst="rect">
            <a:avLst/>
          </a:prstGeom>
          <a:noFill/>
          <a:ln/>
        </p:spPr>
        <p:txBody>
          <a:bodyPr wrap="square" lIns="0" tIns="0" rIns="0" bIns="0" rtlCol="0" anchor="ctr">
            <a:normAutofit/>
          </a:bodyPr>
          <a:lstStyle/>
          <a:p>
            <a:pPr algn="l" indent="0" marL="0">
              <a:buNone/>
            </a:pPr>
            <a:r>
              <a:rPr lang="en-US" sz="1600" dirty="0">
                <a:solidFill>
                  <a:srgbClr val="1C3044"/>
                </a:solidFill>
                <a:latin typeface="Aptos" pitchFamily="34" charset="0"/>
                <a:ea typeface="Aptos" pitchFamily="34" charset="-122"/>
                <a:cs typeface="Aptos" pitchFamily="34" charset="-120"/>
              </a:rPr>
              <a:t>La respuesta se evalúa con métricas diferenciadas.</a:t>
            </a:r>
            <a:endParaRPr lang="en-US" sz="1600" dirty="0"/>
          </a:p>
        </p:txBody>
      </p:sp>
      <p:sp>
        <p:nvSpPr>
          <p:cNvPr id="16" name="Shape 14"/>
          <p:cNvSpPr/>
          <p:nvPr/>
        </p:nvSpPr>
        <p:spPr>
          <a:xfrm>
            <a:off x="6355080" y="1856232"/>
            <a:ext cx="5093208" cy="3273552"/>
          </a:xfrm>
          <a:prstGeom prst="roundRect">
            <a:avLst>
              <a:gd name="adj" fmla="val 3352"/>
            </a:avLst>
          </a:prstGeom>
          <a:solidFill>
            <a:srgbClr val="E3F6F2"/>
          </a:solidFill>
          <a:ln w="8890">
            <a:solidFill>
              <a:srgbClr val="D9E2E8"/>
            </a:solidFill>
            <a:prstDash val="solid"/>
          </a:ln>
        </p:spPr>
        <p:txBody>
          <a:bodyPr/>
          <a:p/>
        </p:txBody>
      </p:sp>
      <p:sp>
        <p:nvSpPr>
          <p:cNvPr id="17" name="Text 15"/>
          <p:cNvSpPr/>
          <p:nvPr/>
        </p:nvSpPr>
        <p:spPr>
          <a:xfrm>
            <a:off x="6647688" y="2157984"/>
            <a:ext cx="4480560" cy="365760"/>
          </a:xfrm>
          <a:prstGeom prst="rect">
            <a:avLst/>
          </a:prstGeom>
          <a:noFill/>
          <a:ln/>
        </p:spPr>
        <p:txBody>
          <a:bodyPr wrap="square" lIns="0" tIns="0" rIns="0" bIns="0" rtlCol="0" anchor="ctr">
            <a:normAutofit/>
          </a:bodyPr>
          <a:lstStyle/>
          <a:p>
            <a:pPr algn="l" indent="0" marL="0">
              <a:buNone/>
            </a:pPr>
            <a:r>
              <a:rPr lang="en-US" sz="2200" b="1" dirty="0">
                <a:solidFill>
                  <a:srgbClr val="12766C"/>
                </a:solidFill>
                <a:latin typeface="Aptos" pitchFamily="34" charset="0"/>
                <a:ea typeface="Aptos" pitchFamily="34" charset="-122"/>
                <a:cs typeface="Aptos" pitchFamily="34" charset="-120"/>
              </a:rPr>
              <a:t>Nuestra respuesta</a:t>
            </a:r>
            <a:endParaRPr lang="en-US" sz="2200" dirty="0"/>
          </a:p>
        </p:txBody>
      </p:sp>
      <p:sp>
        <p:nvSpPr>
          <p:cNvPr id="18" name="Shape 16"/>
          <p:cNvSpPr/>
          <p:nvPr/>
        </p:nvSpPr>
        <p:spPr>
          <a:xfrm>
            <a:off x="6620256" y="2843784"/>
            <a:ext cx="86868" cy="86868"/>
          </a:xfrm>
          <a:prstGeom prst="ellipse">
            <a:avLst/>
          </a:prstGeom>
          <a:solidFill>
            <a:srgbClr val="12766C"/>
          </a:solidFill>
          <a:ln w="12700">
            <a:solidFill>
              <a:srgbClr val="12766C"/>
            </a:solidFill>
            <a:prstDash val="solid"/>
          </a:ln>
        </p:spPr>
        <p:txBody>
          <a:bodyPr/>
          <a:p/>
        </p:txBody>
      </p:sp>
      <p:sp>
        <p:nvSpPr>
          <p:cNvPr id="19" name="Text 17"/>
          <p:cNvSpPr/>
          <p:nvPr/>
        </p:nvSpPr>
        <p:spPr>
          <a:xfrm>
            <a:off x="6812280" y="2697480"/>
            <a:ext cx="4361688" cy="484632"/>
          </a:xfrm>
          <a:prstGeom prst="rect">
            <a:avLst/>
          </a:prstGeom>
          <a:noFill/>
          <a:ln/>
        </p:spPr>
        <p:txBody>
          <a:bodyPr wrap="square" lIns="0" tIns="0" rIns="0" bIns="0" rtlCol="0" anchor="ctr">
            <a:normAutofit/>
          </a:bodyPr>
          <a:lstStyle/>
          <a:p>
            <a:pPr algn="l" indent="0" marL="0">
              <a:buNone/>
            </a:pPr>
            <a:r>
              <a:rPr lang="en-US" sz="1530" dirty="0">
                <a:solidFill>
                  <a:srgbClr val="1C3044"/>
                </a:solidFill>
                <a:latin typeface="Aptos" pitchFamily="34" charset="0"/>
                <a:ea typeface="Aptos" pitchFamily="34" charset="-122"/>
                <a:cs typeface="Aptos" pitchFamily="34" charset="-120"/>
              </a:rPr>
              <a:t>Identificar actividades con fuentes rastreables.</a:t>
            </a:r>
            <a:endParaRPr lang="en-US" sz="1530" dirty="0"/>
          </a:p>
        </p:txBody>
      </p:sp>
      <p:sp>
        <p:nvSpPr>
          <p:cNvPr id="20" name="Shape 18"/>
          <p:cNvSpPr/>
          <p:nvPr/>
        </p:nvSpPr>
        <p:spPr>
          <a:xfrm>
            <a:off x="6620256" y="3346704"/>
            <a:ext cx="86868" cy="86868"/>
          </a:xfrm>
          <a:prstGeom prst="ellipse">
            <a:avLst/>
          </a:prstGeom>
          <a:solidFill>
            <a:srgbClr val="12766C"/>
          </a:solidFill>
          <a:ln w="12700">
            <a:solidFill>
              <a:srgbClr val="12766C"/>
            </a:solidFill>
            <a:prstDash val="solid"/>
          </a:ln>
        </p:spPr>
        <p:txBody>
          <a:bodyPr/>
          <a:p/>
        </p:txBody>
      </p:sp>
      <p:sp>
        <p:nvSpPr>
          <p:cNvPr id="21" name="Text 19"/>
          <p:cNvSpPr/>
          <p:nvPr/>
        </p:nvSpPr>
        <p:spPr>
          <a:xfrm>
            <a:off x="6812280" y="3200400"/>
            <a:ext cx="4361688" cy="484632"/>
          </a:xfrm>
          <a:prstGeom prst="rect">
            <a:avLst/>
          </a:prstGeom>
          <a:noFill/>
          <a:ln/>
        </p:spPr>
        <p:txBody>
          <a:bodyPr wrap="square" lIns="0" tIns="0" rIns="0" bIns="0" rtlCol="0" anchor="ctr">
            <a:normAutofit/>
          </a:bodyPr>
          <a:lstStyle/>
          <a:p>
            <a:pPr algn="l" indent="0" marL="0">
              <a:buNone/>
            </a:pPr>
            <a:r>
              <a:rPr lang="en-US" sz="1530" dirty="0">
                <a:solidFill>
                  <a:srgbClr val="1C3044"/>
                </a:solidFill>
                <a:latin typeface="Aptos" pitchFamily="34" charset="0"/>
                <a:ea typeface="Aptos" pitchFamily="34" charset="-122"/>
                <a:cs typeface="Aptos" pitchFamily="34" charset="-120"/>
              </a:rPr>
              <a:t>Comparar modelos sobre observaciones equivalentes.</a:t>
            </a:r>
            <a:endParaRPr lang="en-US" sz="1530" dirty="0"/>
          </a:p>
        </p:txBody>
      </p:sp>
      <p:sp>
        <p:nvSpPr>
          <p:cNvPr id="22" name="Shape 20"/>
          <p:cNvSpPr/>
          <p:nvPr/>
        </p:nvSpPr>
        <p:spPr>
          <a:xfrm>
            <a:off x="6620256" y="3849624"/>
            <a:ext cx="86868" cy="86868"/>
          </a:xfrm>
          <a:prstGeom prst="ellipse">
            <a:avLst/>
          </a:prstGeom>
          <a:solidFill>
            <a:srgbClr val="12766C"/>
          </a:solidFill>
          <a:ln w="12700">
            <a:solidFill>
              <a:srgbClr val="12766C"/>
            </a:solidFill>
            <a:prstDash val="solid"/>
          </a:ln>
        </p:spPr>
        <p:txBody>
          <a:bodyPr/>
          <a:p/>
        </p:txBody>
      </p:sp>
      <p:sp>
        <p:nvSpPr>
          <p:cNvPr id="23" name="Text 21"/>
          <p:cNvSpPr/>
          <p:nvPr/>
        </p:nvSpPr>
        <p:spPr>
          <a:xfrm>
            <a:off x="6812280" y="3703320"/>
            <a:ext cx="4361688" cy="484632"/>
          </a:xfrm>
          <a:prstGeom prst="rect">
            <a:avLst/>
          </a:prstGeom>
          <a:noFill/>
          <a:ln/>
        </p:spPr>
        <p:txBody>
          <a:bodyPr wrap="square" lIns="0" tIns="0" rIns="0" bIns="0" rtlCol="0" anchor="ctr">
            <a:normAutofit/>
          </a:bodyPr>
          <a:lstStyle/>
          <a:p>
            <a:pPr algn="l" indent="0" marL="0">
              <a:buNone/>
            </a:pPr>
            <a:r>
              <a:rPr lang="en-US" sz="1530" dirty="0">
                <a:solidFill>
                  <a:srgbClr val="1C3044"/>
                </a:solidFill>
                <a:latin typeface="Aptos" pitchFamily="34" charset="0"/>
                <a:ea typeface="Aptos" pitchFamily="34" charset="-122"/>
                <a:cs typeface="Aptos" pitchFamily="34" charset="-120"/>
              </a:rPr>
              <a:t>Optimizar variedad bajo restricciones.</a:t>
            </a:r>
            <a:endParaRPr lang="en-US" sz="1530" dirty="0"/>
          </a:p>
        </p:txBody>
      </p:sp>
      <p:sp>
        <p:nvSpPr>
          <p:cNvPr id="24" name="Shape 22"/>
          <p:cNvSpPr/>
          <p:nvPr/>
        </p:nvSpPr>
        <p:spPr>
          <a:xfrm>
            <a:off x="6620256" y="4352544"/>
            <a:ext cx="86868" cy="86868"/>
          </a:xfrm>
          <a:prstGeom prst="ellipse">
            <a:avLst/>
          </a:prstGeom>
          <a:solidFill>
            <a:srgbClr val="12766C"/>
          </a:solidFill>
          <a:ln w="12700">
            <a:solidFill>
              <a:srgbClr val="12766C"/>
            </a:solidFill>
            <a:prstDash val="solid"/>
          </a:ln>
        </p:spPr>
        <p:txBody>
          <a:bodyPr/>
          <a:p/>
        </p:txBody>
      </p:sp>
      <p:sp>
        <p:nvSpPr>
          <p:cNvPr id="25" name="Text 23"/>
          <p:cNvSpPr/>
          <p:nvPr/>
        </p:nvSpPr>
        <p:spPr>
          <a:xfrm>
            <a:off x="6812280" y="4206240"/>
            <a:ext cx="4361688" cy="484632"/>
          </a:xfrm>
          <a:prstGeom prst="rect">
            <a:avLst/>
          </a:prstGeom>
          <a:noFill/>
          <a:ln/>
        </p:spPr>
        <p:txBody>
          <a:bodyPr wrap="square" lIns="0" tIns="0" rIns="0" bIns="0" rtlCol="0" anchor="ctr">
            <a:normAutofit/>
          </a:bodyPr>
          <a:lstStyle/>
          <a:p>
            <a:pPr algn="l" indent="0" marL="0">
              <a:buNone/>
            </a:pPr>
            <a:r>
              <a:rPr lang="en-US" sz="1530" dirty="0">
                <a:solidFill>
                  <a:srgbClr val="1C3044"/>
                </a:solidFill>
                <a:latin typeface="Aptos" pitchFamily="34" charset="0"/>
                <a:ea typeface="Aptos" pitchFamily="34" charset="-122"/>
                <a:cs typeface="Aptos" pitchFamily="34" charset="-120"/>
              </a:rPr>
              <a:t>Ensayar mensajes y medir resultados de campaña.</a:t>
            </a:r>
            <a:endParaRPr lang="en-US" sz="153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oundRect">
            <a:avLst/>
          </a:prstGeom>
          <a:solidFill>
            <a:srgbClr val="12766C"/>
          </a:solidFill>
          <a:ln w="8890">
            <a:solidFill>
              <a:srgbClr val="12766C"/>
            </a:solidFill>
            <a:prstDash val="solid"/>
          </a:ln>
        </p:spPr>
        <p:txBody>
          <a:bodyPr/>
          <a:p/>
        </p:txBody>
      </p:sp>
      <p:sp>
        <p:nvSpPr>
          <p:cNvPr id="3" name="Text 1"/>
          <p:cNvSpPr/>
          <p:nvPr/>
        </p:nvSpPr>
        <p:spPr>
          <a:xfrm>
            <a:off x="585216" y="347472"/>
            <a:ext cx="10789920" cy="219456"/>
          </a:xfrm>
          <a:prstGeom prst="rect">
            <a:avLst/>
          </a:prstGeom>
          <a:noFill/>
          <a:ln/>
        </p:spPr>
        <p:txBody>
          <a:bodyPr wrap="square" lIns="0" tIns="0" rIns="0" bIns="0" rtlCol="0" anchor="ctr">
            <a:normAutofit/>
          </a:bodyPr>
          <a:lstStyle/>
          <a:p>
            <a:pPr algn="l" indent="0" marL="0">
              <a:buNone/>
            </a:pPr>
            <a:r>
              <a:rPr lang="en-US" sz="900" b="1" spc="150" kern="0" dirty="0">
                <a:solidFill>
                  <a:srgbClr val="12766C"/>
                </a:solidFill>
                <a:latin typeface="Aptos" pitchFamily="34" charset="0"/>
                <a:ea typeface="Aptos" pitchFamily="34" charset="-122"/>
                <a:cs typeface="Aptos" pitchFamily="34" charset="-120"/>
              </a:rPr>
              <a:t>DATOS · 212 MUNICIPIOS</a:t>
            </a:r>
            <a:endParaRPr lang="en-US" sz="900" dirty="0"/>
          </a:p>
        </p:txBody>
      </p:sp>
      <p:sp>
        <p:nvSpPr>
          <p:cNvPr id="4" name="Text 2"/>
          <p:cNvSpPr/>
          <p:nvPr/>
        </p:nvSpPr>
        <p:spPr>
          <a:xfrm>
            <a:off x="585216" y="749808"/>
            <a:ext cx="11064240" cy="658368"/>
          </a:xfrm>
          <a:prstGeom prst="rect">
            <a:avLst/>
          </a:prstGeom>
          <a:noFill/>
          <a:ln/>
        </p:spPr>
        <p:txBody>
          <a:bodyPr wrap="square" lIns="0" tIns="0" rIns="0" bIns="0" rtlCol="0" anchor="ctr">
            <a:normAutofit/>
          </a:bodyPr>
          <a:lstStyle/>
          <a:p>
            <a:pPr algn="l" indent="0" marL="0">
              <a:buNone/>
            </a:pPr>
            <a:r>
              <a:rPr lang="en-US" sz="2900" b="1" dirty="0">
                <a:solidFill>
                  <a:srgbClr val="10233C"/>
                </a:solidFill>
                <a:latin typeface="Aptos" pitchFamily="34" charset="0"/>
                <a:ea typeface="Aptos" pitchFamily="34" charset="-122"/>
                <a:cs typeface="Aptos" pitchFamily="34" charset="-120"/>
              </a:rPr>
              <a:t>Una base de datos turística rastreable</a:t>
            </a:r>
            <a:endParaRPr lang="en-US" sz="2900" dirty="0"/>
          </a:p>
        </p:txBody>
      </p:sp>
      <p:sp>
        <p:nvSpPr>
          <p:cNvPr id="5" name="Shape 3"/>
          <p:cNvSpPr/>
          <p:nvPr/>
        </p:nvSpPr>
        <p:spPr>
          <a:xfrm>
            <a:off x="585216" y="1508760"/>
            <a:ext cx="10991088" cy="0"/>
          </a:xfrm>
          <a:prstGeom prst="line">
            <a:avLst/>
          </a:prstGeom>
          <a:noFill/>
          <a:ln w="15875">
            <a:solidFill>
              <a:srgbClr val="D9E2E8"/>
            </a:solidFill>
            <a:prstDash val="solid"/>
          </a:ln>
        </p:spPr>
        <p:txBody>
          <a:bodyPr/>
          <a:p/>
        </p:txBody>
      </p:sp>
      <p:sp>
        <p:nvSpPr>
          <p:cNvPr id="6" name="Text 4"/>
          <p:cNvSpPr/>
          <p:nvPr/>
        </p:nvSpPr>
        <p:spPr>
          <a:xfrm>
            <a:off x="585216" y="6547104"/>
            <a:ext cx="9921240" cy="137160"/>
          </a:xfrm>
          <a:prstGeom prst="rect">
            <a:avLst/>
          </a:prstGeom>
          <a:noFill/>
          <a:ln/>
        </p:spPr>
        <p:txBody>
          <a:bodyPr wrap="square" lIns="0" tIns="0" rIns="0" bIns="0" rtlCol="0" anchor="ctr">
            <a:normAutofit/>
          </a:bodyPr>
          <a:lstStyle/>
          <a:p>
            <a:pPr algn="l" indent="0" marL="0">
              <a:buNone/>
            </a:pPr>
            <a:r>
              <a:rPr lang="en-US" sz="850" dirty="0">
                <a:solidFill>
                  <a:srgbClr val="5E7182"/>
                </a:solidFill>
                <a:latin typeface="Aptos" pitchFamily="34" charset="0"/>
                <a:ea typeface="Aptos" pitchFamily="34" charset="-122"/>
                <a:cs typeface="Aptos" pitchFamily="34" charset="-120"/>
              </a:rPr>
              <a:t>Elaboración propia · Catálogo SECTUR Veracruz (2025–2026)</a:t>
            </a:r>
            <a:endParaRPr lang="en-US" sz="850" dirty="0"/>
          </a:p>
        </p:txBody>
      </p:sp>
      <p:sp>
        <p:nvSpPr>
          <p:cNvPr id="7" name="Text 5"/>
          <p:cNvSpPr/>
          <p:nvPr/>
        </p:nvSpPr>
        <p:spPr>
          <a:xfrm>
            <a:off x="11018520" y="6519672"/>
            <a:ext cx="475488" cy="164592"/>
          </a:xfrm>
          <a:prstGeom prst="rect">
            <a:avLst/>
          </a:prstGeom>
          <a:noFill/>
          <a:ln/>
        </p:spPr>
        <p:txBody>
          <a:bodyPr wrap="square" lIns="0" tIns="0" rIns="0" bIns="0" rtlCol="0" anchor="ctr">
            <a:normAutofit/>
          </a:bodyPr>
          <a:lstStyle/>
          <a:p>
            <a:pPr algn="r" indent="0" marL="0">
              <a:buNone/>
            </a:pPr>
            <a:r>
              <a:rPr lang="en-US" sz="900" dirty="0">
                <a:solidFill>
                  <a:srgbClr val="5E7182"/>
                </a:solidFill>
                <a:latin typeface="Aptos" pitchFamily="34" charset="0"/>
                <a:ea typeface="Aptos" pitchFamily="34" charset="-122"/>
                <a:cs typeface="Aptos" pitchFamily="34" charset="-120"/>
              </a:rPr>
              <a:t>3</a:t>
            </a:r>
            <a:endParaRPr lang="en-US" sz="900" dirty="0"/>
          </a:p>
        </p:txBody>
      </p:sp>
      <p:sp>
        <p:nvSpPr>
          <p:cNvPr id="8" name="Shape 6"/>
          <p:cNvSpPr/>
          <p:nvPr/>
        </p:nvSpPr>
        <p:spPr>
          <a:xfrm>
            <a:off x="658368" y="1847088"/>
            <a:ext cx="5285232" cy="1517904"/>
          </a:xfrm>
          <a:prstGeom prst="roundRect">
            <a:avLst>
              <a:gd name="adj" fmla="val 7229"/>
            </a:avLst>
          </a:prstGeom>
          <a:solidFill>
            <a:srgbClr val="EDF2F6"/>
          </a:solidFill>
          <a:ln w="8890">
            <a:solidFill>
              <a:srgbClr val="D9E2E8"/>
            </a:solidFill>
            <a:prstDash val="solid"/>
          </a:ln>
        </p:spPr>
        <p:txBody>
          <a:bodyPr/>
          <a:p/>
        </p:txBody>
      </p:sp>
      <p:sp>
        <p:nvSpPr>
          <p:cNvPr id="9" name="Text 7"/>
          <p:cNvSpPr/>
          <p:nvPr/>
        </p:nvSpPr>
        <p:spPr>
          <a:xfrm>
            <a:off x="877824" y="2066544"/>
            <a:ext cx="1426464" cy="621792"/>
          </a:xfrm>
          <a:prstGeom prst="rect">
            <a:avLst/>
          </a:prstGeom>
          <a:noFill/>
          <a:ln/>
        </p:spPr>
        <p:txBody>
          <a:bodyPr wrap="square" lIns="0" tIns="0" rIns="0" bIns="0" rtlCol="0" anchor="ctr">
            <a:normAutofit/>
          </a:bodyPr>
          <a:lstStyle/>
          <a:p>
            <a:pPr algn="l" indent="0" marL="0">
              <a:buNone/>
            </a:pPr>
            <a:r>
              <a:rPr lang="en-US" sz="4100" b="1" dirty="0">
                <a:solidFill>
                  <a:srgbClr val="12766C"/>
                </a:solidFill>
                <a:latin typeface="Aptos" pitchFamily="34" charset="0"/>
                <a:ea typeface="Aptos" pitchFamily="34" charset="-122"/>
                <a:cs typeface="Aptos" pitchFamily="34" charset="-120"/>
              </a:rPr>
              <a:t>212</a:t>
            </a:r>
            <a:endParaRPr lang="en-US" sz="4100" dirty="0"/>
          </a:p>
        </p:txBody>
      </p:sp>
      <p:sp>
        <p:nvSpPr>
          <p:cNvPr id="10" name="Text 8"/>
          <p:cNvSpPr/>
          <p:nvPr/>
        </p:nvSpPr>
        <p:spPr>
          <a:xfrm>
            <a:off x="2322576" y="2148840"/>
            <a:ext cx="3200400" cy="438912"/>
          </a:xfrm>
          <a:prstGeom prst="rect">
            <a:avLst/>
          </a:prstGeom>
          <a:noFill/>
          <a:ln/>
        </p:spPr>
        <p:txBody>
          <a:bodyPr wrap="square" lIns="0" tIns="0" rIns="0" bIns="0" rtlCol="0" anchor="ctr">
            <a:normAutofit/>
          </a:bodyPr>
          <a:lstStyle/>
          <a:p>
            <a:pPr algn="l" indent="0" marL="0">
              <a:buNone/>
            </a:pPr>
            <a:r>
              <a:rPr lang="en-US" sz="1700" b="1" dirty="0">
                <a:solidFill>
                  <a:srgbClr val="1C3044"/>
                </a:solidFill>
                <a:latin typeface="Aptos" pitchFamily="34" charset="0"/>
                <a:ea typeface="Aptos" pitchFamily="34" charset="-122"/>
                <a:cs typeface="Aptos" pitchFamily="34" charset="-120"/>
              </a:rPr>
              <a:t>municipios del universo</a:t>
            </a:r>
            <a:endParaRPr lang="en-US" sz="1700" dirty="0"/>
          </a:p>
        </p:txBody>
      </p:sp>
      <p:sp>
        <p:nvSpPr>
          <p:cNvPr id="11" name="Text 9"/>
          <p:cNvSpPr/>
          <p:nvPr/>
        </p:nvSpPr>
        <p:spPr>
          <a:xfrm>
            <a:off x="2322576" y="2715768"/>
            <a:ext cx="3200400" cy="265176"/>
          </a:xfrm>
          <a:prstGeom prst="rect">
            <a:avLst/>
          </a:prstGeom>
          <a:noFill/>
          <a:ln/>
        </p:spPr>
        <p:txBody>
          <a:bodyPr wrap="square" lIns="0" tIns="0" rIns="0" bIns="0" rtlCol="0" anchor="ctr">
            <a:normAutofit/>
          </a:bodyPr>
          <a:lstStyle/>
          <a:p>
            <a:pPr algn="l" indent="0" marL="0">
              <a:buNone/>
            </a:pPr>
            <a:r>
              <a:rPr lang="en-US" sz="1250" dirty="0">
                <a:solidFill>
                  <a:srgbClr val="5E7182"/>
                </a:solidFill>
                <a:latin typeface="Aptos" pitchFamily="34" charset="0"/>
                <a:ea typeface="Aptos" pitchFamily="34" charset="-122"/>
                <a:cs typeface="Aptos" pitchFamily="34" charset="-120"/>
              </a:rPr>
              <a:t>referencia de cobertura administrativa</a:t>
            </a:r>
            <a:endParaRPr lang="en-US" sz="1250" dirty="0"/>
          </a:p>
        </p:txBody>
      </p:sp>
      <p:sp>
        <p:nvSpPr>
          <p:cNvPr id="12" name="Shape 10"/>
          <p:cNvSpPr/>
          <p:nvPr/>
        </p:nvSpPr>
        <p:spPr>
          <a:xfrm>
            <a:off x="6227064" y="1847088"/>
            <a:ext cx="5285232" cy="1517904"/>
          </a:xfrm>
          <a:prstGeom prst="roundRect">
            <a:avLst>
              <a:gd name="adj" fmla="val 7229"/>
            </a:avLst>
          </a:prstGeom>
          <a:solidFill>
            <a:srgbClr val="E3F6F2"/>
          </a:solidFill>
          <a:ln w="8890">
            <a:solidFill>
              <a:srgbClr val="D9E2E8"/>
            </a:solidFill>
            <a:prstDash val="solid"/>
          </a:ln>
        </p:spPr>
        <p:txBody>
          <a:bodyPr/>
          <a:p/>
        </p:txBody>
      </p:sp>
      <p:sp>
        <p:nvSpPr>
          <p:cNvPr id="13" name="Text 11"/>
          <p:cNvSpPr/>
          <p:nvPr/>
        </p:nvSpPr>
        <p:spPr>
          <a:xfrm>
            <a:off x="6446520" y="2066544"/>
            <a:ext cx="1426464" cy="621792"/>
          </a:xfrm>
          <a:prstGeom prst="rect">
            <a:avLst/>
          </a:prstGeom>
          <a:noFill/>
          <a:ln/>
        </p:spPr>
        <p:txBody>
          <a:bodyPr wrap="square" lIns="0" tIns="0" rIns="0" bIns="0" rtlCol="0" anchor="ctr">
            <a:normAutofit/>
          </a:bodyPr>
          <a:lstStyle/>
          <a:p>
            <a:pPr algn="l" indent="0" marL="0">
              <a:buNone/>
            </a:pPr>
            <a:r>
              <a:rPr lang="en-US" sz="4100" b="1" dirty="0">
                <a:solidFill>
                  <a:srgbClr val="12766C"/>
                </a:solidFill>
                <a:latin typeface="Aptos" pitchFamily="34" charset="0"/>
                <a:ea typeface="Aptos" pitchFamily="34" charset="-122"/>
                <a:cs typeface="Aptos" pitchFamily="34" charset="-120"/>
              </a:rPr>
              <a:t>216</a:t>
            </a:r>
            <a:endParaRPr lang="en-US" sz="4100" dirty="0"/>
          </a:p>
        </p:txBody>
      </p:sp>
      <p:sp>
        <p:nvSpPr>
          <p:cNvPr id="14" name="Text 12"/>
          <p:cNvSpPr/>
          <p:nvPr/>
        </p:nvSpPr>
        <p:spPr>
          <a:xfrm>
            <a:off x="7891272" y="2148840"/>
            <a:ext cx="3200400" cy="438912"/>
          </a:xfrm>
          <a:prstGeom prst="rect">
            <a:avLst/>
          </a:prstGeom>
          <a:noFill/>
          <a:ln/>
        </p:spPr>
        <p:txBody>
          <a:bodyPr wrap="square" lIns="0" tIns="0" rIns="0" bIns="0" rtlCol="0" anchor="ctr">
            <a:normAutofit/>
          </a:bodyPr>
          <a:lstStyle/>
          <a:p>
            <a:pPr algn="l" indent="0" marL="0">
              <a:buNone/>
            </a:pPr>
            <a:r>
              <a:rPr lang="en-US" sz="1700" b="1" dirty="0">
                <a:solidFill>
                  <a:srgbClr val="1C3044"/>
                </a:solidFill>
                <a:latin typeface="Aptos" pitchFamily="34" charset="0"/>
                <a:ea typeface="Aptos" pitchFamily="34" charset="-122"/>
                <a:cs typeface="Aptos" pitchFamily="34" charset="-120"/>
              </a:rPr>
              <a:t>pares municipio–actividad</a:t>
            </a:r>
            <a:endParaRPr lang="en-US" sz="1700" dirty="0"/>
          </a:p>
        </p:txBody>
      </p:sp>
      <p:sp>
        <p:nvSpPr>
          <p:cNvPr id="15" name="Text 13"/>
          <p:cNvSpPr/>
          <p:nvPr/>
        </p:nvSpPr>
        <p:spPr>
          <a:xfrm>
            <a:off x="7891272" y="2715768"/>
            <a:ext cx="3200400" cy="265176"/>
          </a:xfrm>
          <a:prstGeom prst="rect">
            <a:avLst/>
          </a:prstGeom>
          <a:noFill/>
          <a:ln/>
        </p:spPr>
        <p:txBody>
          <a:bodyPr wrap="square" lIns="0" tIns="0" rIns="0" bIns="0" rtlCol="0" anchor="ctr">
            <a:normAutofit/>
          </a:bodyPr>
          <a:lstStyle/>
          <a:p>
            <a:pPr algn="l" indent="0" marL="0">
              <a:buNone/>
            </a:pPr>
            <a:r>
              <a:rPr lang="en-US" sz="1250" dirty="0">
                <a:solidFill>
                  <a:srgbClr val="5E7182"/>
                </a:solidFill>
                <a:latin typeface="Aptos" pitchFamily="34" charset="0"/>
                <a:ea typeface="Aptos" pitchFamily="34" charset="-122"/>
                <a:cs typeface="Aptos" pitchFamily="34" charset="-120"/>
              </a:rPr>
              <a:t>61 municipios y 78 tipos</a:t>
            </a:r>
            <a:endParaRPr lang="en-US" sz="1250" dirty="0"/>
          </a:p>
        </p:txBody>
      </p:sp>
      <p:sp>
        <p:nvSpPr>
          <p:cNvPr id="16" name="Shape 14"/>
          <p:cNvSpPr/>
          <p:nvPr/>
        </p:nvSpPr>
        <p:spPr>
          <a:xfrm>
            <a:off x="658368" y="3611880"/>
            <a:ext cx="5285232" cy="1517904"/>
          </a:xfrm>
          <a:prstGeom prst="roundRect">
            <a:avLst>
              <a:gd name="adj" fmla="val 7229"/>
            </a:avLst>
          </a:prstGeom>
          <a:solidFill>
            <a:srgbClr val="EDF2F6"/>
          </a:solidFill>
          <a:ln w="8890">
            <a:solidFill>
              <a:srgbClr val="D9E2E8"/>
            </a:solidFill>
            <a:prstDash val="solid"/>
          </a:ln>
        </p:spPr>
        <p:txBody>
          <a:bodyPr/>
          <a:p/>
        </p:txBody>
      </p:sp>
      <p:sp>
        <p:nvSpPr>
          <p:cNvPr id="17" name="Text 15"/>
          <p:cNvSpPr/>
          <p:nvPr/>
        </p:nvSpPr>
        <p:spPr>
          <a:xfrm>
            <a:off x="877824" y="3831336"/>
            <a:ext cx="1426464" cy="621792"/>
          </a:xfrm>
          <a:prstGeom prst="rect">
            <a:avLst/>
          </a:prstGeom>
          <a:noFill/>
          <a:ln/>
        </p:spPr>
        <p:txBody>
          <a:bodyPr wrap="square" lIns="0" tIns="0" rIns="0" bIns="0" rtlCol="0" anchor="ctr">
            <a:normAutofit/>
          </a:bodyPr>
          <a:lstStyle/>
          <a:p>
            <a:pPr algn="l" indent="0" marL="0">
              <a:buNone/>
            </a:pPr>
            <a:r>
              <a:rPr lang="en-US" sz="4100" b="1" dirty="0">
                <a:solidFill>
                  <a:srgbClr val="12766C"/>
                </a:solidFill>
                <a:latin typeface="Aptos" pitchFamily="34" charset="0"/>
                <a:ea typeface="Aptos" pitchFamily="34" charset="-122"/>
                <a:cs typeface="Aptos" pitchFamily="34" charset="-120"/>
              </a:rPr>
              <a:t>173</a:t>
            </a:r>
            <a:endParaRPr lang="en-US" sz="4100" dirty="0"/>
          </a:p>
        </p:txBody>
      </p:sp>
      <p:sp>
        <p:nvSpPr>
          <p:cNvPr id="18" name="Text 16"/>
          <p:cNvSpPr/>
          <p:nvPr/>
        </p:nvSpPr>
        <p:spPr>
          <a:xfrm>
            <a:off x="2322576" y="3913632"/>
            <a:ext cx="3200400" cy="438912"/>
          </a:xfrm>
          <a:prstGeom prst="rect">
            <a:avLst/>
          </a:prstGeom>
          <a:noFill/>
          <a:ln/>
        </p:spPr>
        <p:txBody>
          <a:bodyPr wrap="square" lIns="0" tIns="0" rIns="0" bIns="0" rtlCol="0" anchor="ctr">
            <a:normAutofit/>
          </a:bodyPr>
          <a:lstStyle/>
          <a:p>
            <a:pPr algn="l" indent="0" marL="0">
              <a:buNone/>
            </a:pPr>
            <a:r>
              <a:rPr lang="en-US" sz="1700" b="1" dirty="0">
                <a:solidFill>
                  <a:srgbClr val="1C3044"/>
                </a:solidFill>
                <a:latin typeface="Aptos" pitchFamily="34" charset="0"/>
                <a:ea typeface="Aptos" pitchFamily="34" charset="-122"/>
                <a:cs typeface="Aptos" pitchFamily="34" charset="-120"/>
              </a:rPr>
              <a:t>pares con texto original</a:t>
            </a:r>
            <a:endParaRPr lang="en-US" sz="1700" dirty="0"/>
          </a:p>
        </p:txBody>
      </p:sp>
      <p:sp>
        <p:nvSpPr>
          <p:cNvPr id="19" name="Text 17"/>
          <p:cNvSpPr/>
          <p:nvPr/>
        </p:nvSpPr>
        <p:spPr>
          <a:xfrm>
            <a:off x="2322576" y="4480560"/>
            <a:ext cx="3200400" cy="265176"/>
          </a:xfrm>
          <a:prstGeom prst="rect">
            <a:avLst/>
          </a:prstGeom>
          <a:noFill/>
          <a:ln/>
        </p:spPr>
        <p:txBody>
          <a:bodyPr wrap="square" lIns="0" tIns="0" rIns="0" bIns="0" rtlCol="0" anchor="ctr">
            <a:normAutofit/>
          </a:bodyPr>
          <a:lstStyle/>
          <a:p>
            <a:pPr algn="l" indent="0" marL="0">
              <a:buNone/>
            </a:pPr>
            <a:r>
              <a:rPr lang="en-US" sz="1250" dirty="0">
                <a:solidFill>
                  <a:srgbClr val="5E7182"/>
                </a:solidFill>
                <a:latin typeface="Aptos" pitchFamily="34" charset="0"/>
                <a:ea typeface="Aptos" pitchFamily="34" charset="-122"/>
                <a:cs typeface="Aptos" pitchFamily="34" charset="-120"/>
              </a:rPr>
              <a:t>respaldo archivado registrado</a:t>
            </a:r>
            <a:endParaRPr lang="en-US" sz="1250" dirty="0"/>
          </a:p>
        </p:txBody>
      </p:sp>
      <p:sp>
        <p:nvSpPr>
          <p:cNvPr id="20" name="Shape 18"/>
          <p:cNvSpPr/>
          <p:nvPr/>
        </p:nvSpPr>
        <p:spPr>
          <a:xfrm>
            <a:off x="6227064" y="3611880"/>
            <a:ext cx="5285232" cy="1517904"/>
          </a:xfrm>
          <a:prstGeom prst="roundRect">
            <a:avLst>
              <a:gd name="adj" fmla="val 7229"/>
            </a:avLst>
          </a:prstGeom>
          <a:solidFill>
            <a:srgbClr val="E3F6F2"/>
          </a:solidFill>
          <a:ln w="8890">
            <a:solidFill>
              <a:srgbClr val="D9E2E8"/>
            </a:solidFill>
            <a:prstDash val="solid"/>
          </a:ln>
        </p:spPr>
        <p:txBody>
          <a:bodyPr/>
          <a:p/>
        </p:txBody>
      </p:sp>
      <p:sp>
        <p:nvSpPr>
          <p:cNvPr id="21" name="Text 19"/>
          <p:cNvSpPr/>
          <p:nvPr/>
        </p:nvSpPr>
        <p:spPr>
          <a:xfrm>
            <a:off x="6446520" y="3831336"/>
            <a:ext cx="1426464" cy="621792"/>
          </a:xfrm>
          <a:prstGeom prst="rect">
            <a:avLst/>
          </a:prstGeom>
          <a:noFill/>
          <a:ln/>
        </p:spPr>
        <p:txBody>
          <a:bodyPr wrap="square" lIns="0" tIns="0" rIns="0" bIns="0" rtlCol="0" anchor="ctr">
            <a:normAutofit/>
          </a:bodyPr>
          <a:lstStyle/>
          <a:p>
            <a:pPr algn="l" indent="0" marL="0">
              <a:buNone/>
            </a:pPr>
            <a:r>
              <a:rPr lang="en-US" sz="4100" b="1" dirty="0">
                <a:solidFill>
                  <a:srgbClr val="12766C"/>
                </a:solidFill>
                <a:latin typeface="Aptos" pitchFamily="34" charset="0"/>
                <a:ea typeface="Aptos" pitchFamily="34" charset="-122"/>
                <a:cs typeface="Aptos" pitchFamily="34" charset="-120"/>
              </a:rPr>
              <a:t>295</a:t>
            </a:r>
            <a:endParaRPr lang="en-US" sz="4100" dirty="0"/>
          </a:p>
        </p:txBody>
      </p:sp>
      <p:sp>
        <p:nvSpPr>
          <p:cNvPr id="22" name="Text 20"/>
          <p:cNvSpPr/>
          <p:nvPr/>
        </p:nvSpPr>
        <p:spPr>
          <a:xfrm>
            <a:off x="7891272" y="3913632"/>
            <a:ext cx="3200400" cy="438912"/>
          </a:xfrm>
          <a:prstGeom prst="rect">
            <a:avLst/>
          </a:prstGeom>
          <a:noFill/>
          <a:ln/>
        </p:spPr>
        <p:txBody>
          <a:bodyPr wrap="square" lIns="0" tIns="0" rIns="0" bIns="0" rtlCol="0" anchor="ctr">
            <a:normAutofit/>
          </a:bodyPr>
          <a:lstStyle/>
          <a:p>
            <a:pPr algn="l" indent="0" marL="0">
              <a:buNone/>
            </a:pPr>
            <a:r>
              <a:rPr lang="en-US" sz="1700" b="1" dirty="0">
                <a:solidFill>
                  <a:srgbClr val="1C3044"/>
                </a:solidFill>
                <a:latin typeface="Aptos" pitchFamily="34" charset="0"/>
                <a:ea typeface="Aptos" pitchFamily="34" charset="-122"/>
                <a:cs typeface="Aptos" pitchFamily="34" charset="-120"/>
              </a:rPr>
              <a:t>fichas de producto</a:t>
            </a:r>
            <a:endParaRPr lang="en-US" sz="1700" dirty="0"/>
          </a:p>
        </p:txBody>
      </p:sp>
      <p:sp>
        <p:nvSpPr>
          <p:cNvPr id="23" name="Text 21"/>
          <p:cNvSpPr/>
          <p:nvPr/>
        </p:nvSpPr>
        <p:spPr>
          <a:xfrm>
            <a:off x="7891272" y="4480560"/>
            <a:ext cx="3200400" cy="265176"/>
          </a:xfrm>
          <a:prstGeom prst="rect">
            <a:avLst/>
          </a:prstGeom>
          <a:noFill/>
          <a:ln/>
        </p:spPr>
        <p:txBody>
          <a:bodyPr wrap="square" lIns="0" tIns="0" rIns="0" bIns="0" rtlCol="0" anchor="ctr">
            <a:normAutofit/>
          </a:bodyPr>
          <a:lstStyle/>
          <a:p>
            <a:pPr algn="l" indent="0" marL="0">
              <a:buNone/>
            </a:pPr>
            <a:r>
              <a:rPr lang="en-US" sz="1250" dirty="0">
                <a:solidFill>
                  <a:srgbClr val="5E7182"/>
                </a:solidFill>
                <a:latin typeface="Aptos" pitchFamily="34" charset="0"/>
                <a:ea typeface="Aptos" pitchFamily="34" charset="-122"/>
                <a:cs typeface="Aptos" pitchFamily="34" charset="-120"/>
              </a:rPr>
              <a:t>descripciones originales restauradas</a:t>
            </a:r>
            <a:endParaRPr lang="en-US" sz="1250" dirty="0"/>
          </a:p>
        </p:txBody>
      </p:sp>
      <p:sp>
        <p:nvSpPr>
          <p:cNvPr id="24" name="Text 22"/>
          <p:cNvSpPr/>
          <p:nvPr/>
        </p:nvSpPr>
        <p:spPr>
          <a:xfrm>
            <a:off x="740664" y="5559552"/>
            <a:ext cx="10744200" cy="438912"/>
          </a:xfrm>
          <a:prstGeom prst="rect">
            <a:avLst/>
          </a:prstGeom>
          <a:noFill/>
          <a:ln/>
        </p:spPr>
        <p:txBody>
          <a:bodyPr wrap="square" lIns="0" tIns="0" rIns="0" bIns="0" rtlCol="0" anchor="ctr">
            <a:normAutofit/>
          </a:bodyPr>
          <a:lstStyle/>
          <a:p>
            <a:pPr algn="l" indent="0" marL="0">
              <a:buNone/>
            </a:pPr>
            <a:r>
              <a:rPr lang="en-US" sz="1450" dirty="0">
                <a:solidFill>
                  <a:srgbClr val="1C3044"/>
                </a:solidFill>
                <a:latin typeface="Aptos" pitchFamily="34" charset="0"/>
                <a:ea typeface="Aptos" pitchFamily="34" charset="-122"/>
                <a:cs typeface="Aptos" pitchFamily="34" charset="-120"/>
              </a:rPr>
              <a:t>Investigación adicional ya existente: 40 registros revisados de 14 municipios; conservados según su tipo de evidencia.</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oundRect">
            <a:avLst/>
          </a:prstGeom>
          <a:solidFill>
            <a:srgbClr val="12766C"/>
          </a:solidFill>
          <a:ln w="8890">
            <a:solidFill>
              <a:srgbClr val="12766C"/>
            </a:solidFill>
            <a:prstDash val="solid"/>
          </a:ln>
        </p:spPr>
        <p:txBody>
          <a:bodyPr/>
          <a:p/>
        </p:txBody>
      </p:sp>
      <p:sp>
        <p:nvSpPr>
          <p:cNvPr id="3" name="Text 1"/>
          <p:cNvSpPr/>
          <p:nvPr/>
        </p:nvSpPr>
        <p:spPr>
          <a:xfrm>
            <a:off x="585216" y="347472"/>
            <a:ext cx="10789920" cy="219456"/>
          </a:xfrm>
          <a:prstGeom prst="rect">
            <a:avLst/>
          </a:prstGeom>
          <a:noFill/>
          <a:ln/>
        </p:spPr>
        <p:txBody>
          <a:bodyPr wrap="square" lIns="0" tIns="0" rIns="0" bIns="0" rtlCol="0" anchor="ctr">
            <a:normAutofit/>
          </a:bodyPr>
          <a:lstStyle/>
          <a:p>
            <a:pPr algn="l" indent="0" marL="0">
              <a:buNone/>
            </a:pPr>
            <a:r>
              <a:rPr lang="en-US" sz="900" b="1" spc="150" kern="0" dirty="0">
                <a:solidFill>
                  <a:srgbClr val="12766C"/>
                </a:solidFill>
                <a:latin typeface="Aptos" pitchFamily="34" charset="0"/>
                <a:ea typeface="Aptos" pitchFamily="34" charset="-122"/>
                <a:cs typeface="Aptos" pitchFamily="34" charset="-120"/>
              </a:rPr>
              <a:t>ARQUITECTURA Y TRAZABILIDAD</a:t>
            </a:r>
            <a:endParaRPr lang="en-US" sz="900" dirty="0"/>
          </a:p>
        </p:txBody>
      </p:sp>
      <p:sp>
        <p:nvSpPr>
          <p:cNvPr id="4" name="Text 2"/>
          <p:cNvSpPr/>
          <p:nvPr/>
        </p:nvSpPr>
        <p:spPr>
          <a:xfrm>
            <a:off x="585216" y="749808"/>
            <a:ext cx="11064240" cy="658368"/>
          </a:xfrm>
          <a:prstGeom prst="rect">
            <a:avLst/>
          </a:prstGeom>
          <a:noFill/>
          <a:ln/>
        </p:spPr>
        <p:txBody>
          <a:bodyPr wrap="square" lIns="0" tIns="0" rIns="0" bIns="0" rtlCol="0" anchor="ctr">
            <a:normAutofit/>
          </a:bodyPr>
          <a:lstStyle/>
          <a:p>
            <a:pPr algn="l" indent="0" marL="0">
              <a:buNone/>
            </a:pPr>
            <a:r>
              <a:rPr lang="en-US" sz="2900" b="1" dirty="0">
                <a:solidFill>
                  <a:srgbClr val="10233C"/>
                </a:solidFill>
                <a:latin typeface="Aptos" pitchFamily="34" charset="0"/>
                <a:ea typeface="Aptos" pitchFamily="34" charset="-122"/>
                <a:cs typeface="Aptos" pitchFamily="34" charset="-120"/>
              </a:rPr>
              <a:t>Una cadena integrada de decisiones</a:t>
            </a:r>
            <a:endParaRPr lang="en-US" sz="2900" dirty="0"/>
          </a:p>
        </p:txBody>
      </p:sp>
      <p:sp>
        <p:nvSpPr>
          <p:cNvPr id="5" name="Shape 3"/>
          <p:cNvSpPr/>
          <p:nvPr/>
        </p:nvSpPr>
        <p:spPr>
          <a:xfrm>
            <a:off x="585216" y="1508760"/>
            <a:ext cx="10991088" cy="0"/>
          </a:xfrm>
          <a:prstGeom prst="line">
            <a:avLst/>
          </a:prstGeom>
          <a:noFill/>
          <a:ln w="15875">
            <a:solidFill>
              <a:srgbClr val="D9E2E8"/>
            </a:solidFill>
            <a:prstDash val="solid"/>
          </a:ln>
        </p:spPr>
        <p:txBody>
          <a:bodyPr/>
          <a:p/>
        </p:txBody>
      </p:sp>
      <p:sp>
        <p:nvSpPr>
          <p:cNvPr id="6" name="Text 4"/>
          <p:cNvSpPr/>
          <p:nvPr/>
        </p:nvSpPr>
        <p:spPr>
          <a:xfrm>
            <a:off x="585216" y="6547104"/>
            <a:ext cx="9921240" cy="137160"/>
          </a:xfrm>
          <a:prstGeom prst="rect">
            <a:avLst/>
          </a:prstGeom>
          <a:noFill/>
          <a:ln/>
        </p:spPr>
        <p:txBody>
          <a:bodyPr wrap="square" lIns="0" tIns="0" rIns="0" bIns="0" rtlCol="0" anchor="ctr">
            <a:normAutofit/>
          </a:bodyPr>
          <a:lstStyle/>
          <a:p>
            <a:pPr algn="l" indent="0" marL="0">
              <a:buNone/>
            </a:pPr>
            <a:r>
              <a:rPr lang="en-US" sz="850" dirty="0">
                <a:solidFill>
                  <a:srgbClr val="5E7182"/>
                </a:solidFill>
                <a:latin typeface="Aptos" pitchFamily="34" charset="0"/>
                <a:ea typeface="Aptos" pitchFamily="34" charset="-122"/>
                <a:cs typeface="Aptos" pitchFamily="34" charset="-120"/>
              </a:rPr>
              <a:t>SQLite + scripts versionados + salidas S4–S8</a:t>
            </a:r>
            <a:endParaRPr lang="en-US" sz="850" dirty="0"/>
          </a:p>
        </p:txBody>
      </p:sp>
      <p:sp>
        <p:nvSpPr>
          <p:cNvPr id="7" name="Text 5"/>
          <p:cNvSpPr/>
          <p:nvPr/>
        </p:nvSpPr>
        <p:spPr>
          <a:xfrm>
            <a:off x="11018520" y="6519672"/>
            <a:ext cx="475488" cy="164592"/>
          </a:xfrm>
          <a:prstGeom prst="rect">
            <a:avLst/>
          </a:prstGeom>
          <a:noFill/>
          <a:ln/>
        </p:spPr>
        <p:txBody>
          <a:bodyPr wrap="square" lIns="0" tIns="0" rIns="0" bIns="0" rtlCol="0" anchor="ctr">
            <a:normAutofit/>
          </a:bodyPr>
          <a:lstStyle/>
          <a:p>
            <a:pPr algn="r" indent="0" marL="0">
              <a:buNone/>
            </a:pPr>
            <a:r>
              <a:rPr lang="en-US" sz="900" dirty="0">
                <a:solidFill>
                  <a:srgbClr val="5E7182"/>
                </a:solidFill>
                <a:latin typeface="Aptos" pitchFamily="34" charset="0"/>
                <a:ea typeface="Aptos" pitchFamily="34" charset="-122"/>
                <a:cs typeface="Aptos" pitchFamily="34" charset="-120"/>
              </a:rPr>
              <a:t>4</a:t>
            </a:r>
            <a:endParaRPr lang="en-US" sz="900" dirty="0"/>
          </a:p>
        </p:txBody>
      </p:sp>
      <p:sp>
        <p:nvSpPr>
          <p:cNvPr id="8" name="Shape 6"/>
          <p:cNvSpPr/>
          <p:nvPr/>
        </p:nvSpPr>
        <p:spPr>
          <a:xfrm>
            <a:off x="667512" y="1938528"/>
            <a:ext cx="3602736" cy="1417320"/>
          </a:xfrm>
          <a:prstGeom prst="roundRect">
            <a:avLst>
              <a:gd name="adj" fmla="val 7742"/>
            </a:avLst>
          </a:prstGeom>
          <a:solidFill>
            <a:srgbClr val="EDF2F6"/>
          </a:solidFill>
          <a:ln w="8890">
            <a:solidFill>
              <a:srgbClr val="D9E2E8"/>
            </a:solidFill>
            <a:prstDash val="solid"/>
          </a:ln>
        </p:spPr>
        <p:txBody>
          <a:bodyPr/>
          <a:p/>
        </p:txBody>
      </p:sp>
      <p:sp>
        <p:nvSpPr>
          <p:cNvPr id="9" name="Text 7"/>
          <p:cNvSpPr/>
          <p:nvPr/>
        </p:nvSpPr>
        <p:spPr>
          <a:xfrm>
            <a:off x="850392" y="2103120"/>
            <a:ext cx="3246120" cy="274320"/>
          </a:xfrm>
          <a:prstGeom prst="rect">
            <a:avLst/>
          </a:prstGeom>
          <a:noFill/>
          <a:ln/>
        </p:spPr>
        <p:txBody>
          <a:bodyPr wrap="square" lIns="0" tIns="0" rIns="0" bIns="0" rtlCol="0" anchor="ctr">
            <a:normAutofit/>
          </a:bodyPr>
          <a:lstStyle/>
          <a:p>
            <a:pPr algn="l" indent="0" marL="0">
              <a:buNone/>
            </a:pPr>
            <a:r>
              <a:rPr lang="en-US" sz="1650" b="1" dirty="0">
                <a:solidFill>
                  <a:srgbClr val="12766C"/>
                </a:solidFill>
                <a:latin typeface="Aptos" pitchFamily="34" charset="0"/>
                <a:ea typeface="Aptos" pitchFamily="34" charset="-122"/>
                <a:cs typeface="Aptos" pitchFamily="34" charset="-120"/>
              </a:rPr>
              <a:t>FUENTES</a:t>
            </a:r>
            <a:endParaRPr lang="en-US" sz="1650" dirty="0"/>
          </a:p>
        </p:txBody>
      </p:sp>
      <p:sp>
        <p:nvSpPr>
          <p:cNvPr id="10" name="Text 8"/>
          <p:cNvSpPr/>
          <p:nvPr/>
        </p:nvSpPr>
        <p:spPr>
          <a:xfrm>
            <a:off x="850392" y="2542032"/>
            <a:ext cx="3246120" cy="566928"/>
          </a:xfrm>
          <a:prstGeom prst="rect">
            <a:avLst/>
          </a:prstGeom>
          <a:noFill/>
          <a:ln/>
        </p:spPr>
        <p:txBody>
          <a:bodyPr wrap="square" lIns="0" tIns="0" rIns="0" bIns="0" rtlCol="0" anchor="ctr">
            <a:normAutofit/>
          </a:bodyPr>
          <a:lstStyle/>
          <a:p>
            <a:pPr algn="l" indent="0" marL="0">
              <a:buNone/>
            </a:pPr>
            <a:r>
              <a:rPr lang="en-US" sz="1500" dirty="0">
                <a:solidFill>
                  <a:srgbClr val="1C3044"/>
                </a:solidFill>
                <a:latin typeface="Aptos" pitchFamily="34" charset="0"/>
                <a:ea typeface="Aptos" pitchFamily="34" charset="-122"/>
                <a:cs typeface="Aptos" pitchFamily="34" charset="-120"/>
              </a:rPr>
              <a:t>Catálogo, DataTur, INAH, geografía</a:t>
            </a:r>
            <a:endParaRPr lang="en-US" sz="1500" dirty="0"/>
          </a:p>
        </p:txBody>
      </p:sp>
      <p:sp>
        <p:nvSpPr>
          <p:cNvPr id="11" name="Text 9"/>
          <p:cNvSpPr/>
          <p:nvPr/>
        </p:nvSpPr>
        <p:spPr>
          <a:xfrm>
            <a:off x="4206240" y="2441448"/>
            <a:ext cx="292608" cy="274320"/>
          </a:xfrm>
          <a:prstGeom prst="rect">
            <a:avLst/>
          </a:prstGeom>
          <a:noFill/>
          <a:ln/>
        </p:spPr>
        <p:txBody>
          <a:bodyPr wrap="square" lIns="0" tIns="0" rIns="0" bIns="0" rtlCol="0" anchor="ctr">
            <a:normAutofit/>
          </a:bodyPr>
          <a:lstStyle/>
          <a:p>
            <a:pPr algn="l" indent="0" marL="0">
              <a:buNone/>
            </a:pPr>
            <a:r>
              <a:rPr lang="en-US" sz="2200" b="1" dirty="0">
                <a:solidFill>
                  <a:srgbClr val="12766C"/>
                </a:solidFill>
                <a:latin typeface="Aptos" pitchFamily="34" charset="0"/>
                <a:ea typeface="Aptos" pitchFamily="34" charset="-122"/>
                <a:cs typeface="Aptos" pitchFamily="34" charset="-120"/>
              </a:rPr>
              <a:t>→</a:t>
            </a:r>
            <a:endParaRPr lang="en-US" sz="2200" dirty="0"/>
          </a:p>
        </p:txBody>
      </p:sp>
      <p:sp>
        <p:nvSpPr>
          <p:cNvPr id="12" name="Shape 10"/>
          <p:cNvSpPr/>
          <p:nvPr/>
        </p:nvSpPr>
        <p:spPr>
          <a:xfrm>
            <a:off x="4489704" y="1938528"/>
            <a:ext cx="3602736" cy="1417320"/>
          </a:xfrm>
          <a:prstGeom prst="roundRect">
            <a:avLst>
              <a:gd name="adj" fmla="val 7742"/>
            </a:avLst>
          </a:prstGeom>
          <a:solidFill>
            <a:srgbClr val="EDF2F6"/>
          </a:solidFill>
          <a:ln w="8890">
            <a:solidFill>
              <a:srgbClr val="D9E2E8"/>
            </a:solidFill>
            <a:prstDash val="solid"/>
          </a:ln>
        </p:spPr>
        <p:txBody>
          <a:bodyPr/>
          <a:p/>
        </p:txBody>
      </p:sp>
      <p:sp>
        <p:nvSpPr>
          <p:cNvPr id="13" name="Text 11"/>
          <p:cNvSpPr/>
          <p:nvPr/>
        </p:nvSpPr>
        <p:spPr>
          <a:xfrm>
            <a:off x="4672584" y="2103120"/>
            <a:ext cx="3246120" cy="274320"/>
          </a:xfrm>
          <a:prstGeom prst="rect">
            <a:avLst/>
          </a:prstGeom>
          <a:noFill/>
          <a:ln/>
        </p:spPr>
        <p:txBody>
          <a:bodyPr wrap="square" lIns="0" tIns="0" rIns="0" bIns="0" rtlCol="0" anchor="ctr">
            <a:normAutofit/>
          </a:bodyPr>
          <a:lstStyle/>
          <a:p>
            <a:pPr algn="l" indent="0" marL="0">
              <a:buNone/>
            </a:pPr>
            <a:r>
              <a:rPr lang="en-US" sz="1650" b="1" dirty="0">
                <a:solidFill>
                  <a:srgbClr val="12766C"/>
                </a:solidFill>
                <a:latin typeface="Aptos" pitchFamily="34" charset="0"/>
                <a:ea typeface="Aptos" pitchFamily="34" charset="-122"/>
                <a:cs typeface="Aptos" pitchFamily="34" charset="-120"/>
              </a:rPr>
              <a:t>BASE CANÓNICA</a:t>
            </a:r>
            <a:endParaRPr lang="en-US" sz="1650" dirty="0"/>
          </a:p>
        </p:txBody>
      </p:sp>
      <p:sp>
        <p:nvSpPr>
          <p:cNvPr id="14" name="Text 12"/>
          <p:cNvSpPr/>
          <p:nvPr/>
        </p:nvSpPr>
        <p:spPr>
          <a:xfrm>
            <a:off x="4672584" y="2542032"/>
            <a:ext cx="3246120" cy="566928"/>
          </a:xfrm>
          <a:prstGeom prst="rect">
            <a:avLst/>
          </a:prstGeom>
          <a:noFill/>
          <a:ln/>
        </p:spPr>
        <p:txBody>
          <a:bodyPr wrap="square" lIns="0" tIns="0" rIns="0" bIns="0" rtlCol="0" anchor="ctr">
            <a:normAutofit/>
          </a:bodyPr>
          <a:lstStyle/>
          <a:p>
            <a:pPr algn="l" indent="0" marL="0">
              <a:buNone/>
            </a:pPr>
            <a:r>
              <a:rPr lang="en-US" sz="1500" dirty="0">
                <a:solidFill>
                  <a:srgbClr val="1C3044"/>
                </a:solidFill>
                <a:latin typeface="Aptos" pitchFamily="34" charset="0"/>
                <a:ea typeface="Aptos" pitchFamily="34" charset="-122"/>
                <a:cs typeface="Aptos" pitchFamily="34" charset="-120"/>
              </a:rPr>
              <a:t>Texto original, IDs y revisión</a:t>
            </a:r>
            <a:endParaRPr lang="en-US" sz="1500" dirty="0"/>
          </a:p>
        </p:txBody>
      </p:sp>
      <p:sp>
        <p:nvSpPr>
          <p:cNvPr id="15" name="Text 13"/>
          <p:cNvSpPr/>
          <p:nvPr/>
        </p:nvSpPr>
        <p:spPr>
          <a:xfrm>
            <a:off x="8028432" y="2441448"/>
            <a:ext cx="292608" cy="274320"/>
          </a:xfrm>
          <a:prstGeom prst="rect">
            <a:avLst/>
          </a:prstGeom>
          <a:noFill/>
          <a:ln/>
        </p:spPr>
        <p:txBody>
          <a:bodyPr wrap="square" lIns="0" tIns="0" rIns="0" bIns="0" rtlCol="0" anchor="ctr">
            <a:normAutofit/>
          </a:bodyPr>
          <a:lstStyle/>
          <a:p>
            <a:pPr algn="l" indent="0" marL="0">
              <a:buNone/>
            </a:pPr>
            <a:r>
              <a:rPr lang="en-US" sz="2200" b="1" dirty="0">
                <a:solidFill>
                  <a:srgbClr val="12766C"/>
                </a:solidFill>
                <a:latin typeface="Aptos" pitchFamily="34" charset="0"/>
                <a:ea typeface="Aptos" pitchFamily="34" charset="-122"/>
                <a:cs typeface="Aptos" pitchFamily="34" charset="-120"/>
              </a:rPr>
              <a:t>→</a:t>
            </a:r>
            <a:endParaRPr lang="en-US" sz="2200" dirty="0"/>
          </a:p>
        </p:txBody>
      </p:sp>
      <p:sp>
        <p:nvSpPr>
          <p:cNvPr id="16" name="Shape 14"/>
          <p:cNvSpPr/>
          <p:nvPr/>
        </p:nvSpPr>
        <p:spPr>
          <a:xfrm>
            <a:off x="8311896" y="1938528"/>
            <a:ext cx="3602736" cy="1417320"/>
          </a:xfrm>
          <a:prstGeom prst="roundRect">
            <a:avLst>
              <a:gd name="adj" fmla="val 7742"/>
            </a:avLst>
          </a:prstGeom>
          <a:solidFill>
            <a:srgbClr val="EDF2F6"/>
          </a:solidFill>
          <a:ln w="8890">
            <a:solidFill>
              <a:srgbClr val="D9E2E8"/>
            </a:solidFill>
            <a:prstDash val="solid"/>
          </a:ln>
        </p:spPr>
        <p:txBody>
          <a:bodyPr/>
          <a:p/>
        </p:txBody>
      </p:sp>
      <p:sp>
        <p:nvSpPr>
          <p:cNvPr id="17" name="Text 15"/>
          <p:cNvSpPr/>
          <p:nvPr/>
        </p:nvSpPr>
        <p:spPr>
          <a:xfrm>
            <a:off x="8494776" y="2103120"/>
            <a:ext cx="3246120" cy="274320"/>
          </a:xfrm>
          <a:prstGeom prst="rect">
            <a:avLst/>
          </a:prstGeom>
          <a:noFill/>
          <a:ln/>
        </p:spPr>
        <p:txBody>
          <a:bodyPr wrap="square" lIns="0" tIns="0" rIns="0" bIns="0" rtlCol="0" anchor="ctr">
            <a:normAutofit/>
          </a:bodyPr>
          <a:lstStyle/>
          <a:p>
            <a:pPr algn="l" indent="0" marL="0">
              <a:buNone/>
            </a:pPr>
            <a:r>
              <a:rPr lang="en-US" sz="1650" b="1" dirty="0">
                <a:solidFill>
                  <a:srgbClr val="12766C"/>
                </a:solidFill>
                <a:latin typeface="Aptos" pitchFamily="34" charset="0"/>
                <a:ea typeface="Aptos" pitchFamily="34" charset="-122"/>
                <a:cs typeface="Aptos" pitchFamily="34" charset="-120"/>
              </a:rPr>
              <a:t>DESCUBRIMIENTO</a:t>
            </a:r>
            <a:endParaRPr lang="en-US" sz="1650" dirty="0"/>
          </a:p>
        </p:txBody>
      </p:sp>
      <p:sp>
        <p:nvSpPr>
          <p:cNvPr id="18" name="Text 16"/>
          <p:cNvSpPr/>
          <p:nvPr/>
        </p:nvSpPr>
        <p:spPr>
          <a:xfrm>
            <a:off x="8494776" y="2542032"/>
            <a:ext cx="3246120" cy="566928"/>
          </a:xfrm>
          <a:prstGeom prst="rect">
            <a:avLst/>
          </a:prstGeom>
          <a:noFill/>
          <a:ln/>
        </p:spPr>
        <p:txBody>
          <a:bodyPr wrap="square" lIns="0" tIns="0" rIns="0" bIns="0" rtlCol="0" anchor="ctr">
            <a:normAutofit/>
          </a:bodyPr>
          <a:lstStyle/>
          <a:p>
            <a:pPr algn="l" indent="0" marL="0">
              <a:buNone/>
            </a:pPr>
            <a:r>
              <a:rPr lang="en-US" sz="1500" dirty="0">
                <a:solidFill>
                  <a:srgbClr val="1C3044"/>
                </a:solidFill>
                <a:latin typeface="Aptos" pitchFamily="34" charset="0"/>
                <a:ea typeface="Aptos" pitchFamily="34" charset="-122"/>
                <a:cs typeface="Aptos" pitchFamily="34" charset="-120"/>
              </a:rPr>
              <a:t>Actividades documentadas y sesgos</a:t>
            </a:r>
            <a:endParaRPr lang="en-US" sz="1500" dirty="0"/>
          </a:p>
        </p:txBody>
      </p:sp>
      <p:sp>
        <p:nvSpPr>
          <p:cNvPr id="19" name="Shape 17"/>
          <p:cNvSpPr/>
          <p:nvPr/>
        </p:nvSpPr>
        <p:spPr>
          <a:xfrm>
            <a:off x="667512" y="3895344"/>
            <a:ext cx="3602736" cy="1417320"/>
          </a:xfrm>
          <a:prstGeom prst="roundRect">
            <a:avLst>
              <a:gd name="adj" fmla="val 7742"/>
            </a:avLst>
          </a:prstGeom>
          <a:solidFill>
            <a:srgbClr val="EDF2F6"/>
          </a:solidFill>
          <a:ln w="8890">
            <a:solidFill>
              <a:srgbClr val="D9E2E8"/>
            </a:solidFill>
            <a:prstDash val="solid"/>
          </a:ln>
        </p:spPr>
        <p:txBody>
          <a:bodyPr/>
          <a:p/>
        </p:txBody>
      </p:sp>
      <p:sp>
        <p:nvSpPr>
          <p:cNvPr id="20" name="Text 18"/>
          <p:cNvSpPr/>
          <p:nvPr/>
        </p:nvSpPr>
        <p:spPr>
          <a:xfrm>
            <a:off x="850392" y="4059936"/>
            <a:ext cx="3246120" cy="274320"/>
          </a:xfrm>
          <a:prstGeom prst="rect">
            <a:avLst/>
          </a:prstGeom>
          <a:noFill/>
          <a:ln/>
        </p:spPr>
        <p:txBody>
          <a:bodyPr wrap="square" lIns="0" tIns="0" rIns="0" bIns="0" rtlCol="0" anchor="ctr">
            <a:normAutofit/>
          </a:bodyPr>
          <a:lstStyle/>
          <a:p>
            <a:pPr algn="l" indent="0" marL="0">
              <a:buNone/>
            </a:pPr>
            <a:r>
              <a:rPr lang="en-US" sz="1650" b="1" dirty="0">
                <a:solidFill>
                  <a:srgbClr val="12766C"/>
                </a:solidFill>
                <a:latin typeface="Aptos" pitchFamily="34" charset="0"/>
                <a:ea typeface="Aptos" pitchFamily="34" charset="-122"/>
                <a:cs typeface="Aptos" pitchFamily="34" charset="-120"/>
              </a:rPr>
              <a:t>MODELOS</a:t>
            </a:r>
            <a:endParaRPr lang="en-US" sz="1650" dirty="0"/>
          </a:p>
        </p:txBody>
      </p:sp>
      <p:sp>
        <p:nvSpPr>
          <p:cNvPr id="21" name="Text 19"/>
          <p:cNvSpPr/>
          <p:nvPr/>
        </p:nvSpPr>
        <p:spPr>
          <a:xfrm>
            <a:off x="850392" y="4498848"/>
            <a:ext cx="3246120" cy="566928"/>
          </a:xfrm>
          <a:prstGeom prst="rect">
            <a:avLst/>
          </a:prstGeom>
          <a:noFill/>
          <a:ln/>
        </p:spPr>
        <p:txBody>
          <a:bodyPr wrap="square" lIns="0" tIns="0" rIns="0" bIns="0" rtlCol="0" anchor="ctr">
            <a:normAutofit/>
          </a:bodyPr>
          <a:lstStyle/>
          <a:p>
            <a:pPr algn="l" indent="0" marL="0">
              <a:buNone/>
            </a:pPr>
            <a:r>
              <a:rPr lang="en-US" sz="1500" dirty="0">
                <a:solidFill>
                  <a:srgbClr val="1C3044"/>
                </a:solidFill>
                <a:latin typeface="Aptos" pitchFamily="34" charset="0"/>
                <a:ea typeface="Aptos" pitchFamily="34" charset="-122"/>
                <a:cs typeface="Aptos" pitchFamily="34" charset="-120"/>
              </a:rPr>
              <a:t>Ocupación + incertidumbre</a:t>
            </a:r>
            <a:endParaRPr lang="en-US" sz="1500" dirty="0"/>
          </a:p>
        </p:txBody>
      </p:sp>
      <p:sp>
        <p:nvSpPr>
          <p:cNvPr id="22" name="Text 20"/>
          <p:cNvSpPr/>
          <p:nvPr/>
        </p:nvSpPr>
        <p:spPr>
          <a:xfrm>
            <a:off x="4206240" y="4398264"/>
            <a:ext cx="292608" cy="274320"/>
          </a:xfrm>
          <a:prstGeom prst="rect">
            <a:avLst/>
          </a:prstGeom>
          <a:noFill/>
          <a:ln/>
        </p:spPr>
        <p:txBody>
          <a:bodyPr wrap="square" lIns="0" tIns="0" rIns="0" bIns="0" rtlCol="0" anchor="ctr">
            <a:normAutofit/>
          </a:bodyPr>
          <a:lstStyle/>
          <a:p>
            <a:pPr algn="l" indent="0" marL="0">
              <a:buNone/>
            </a:pPr>
            <a:r>
              <a:rPr lang="en-US" sz="2200" b="1" dirty="0">
                <a:solidFill>
                  <a:srgbClr val="12766C"/>
                </a:solidFill>
                <a:latin typeface="Aptos" pitchFamily="34" charset="0"/>
                <a:ea typeface="Aptos" pitchFamily="34" charset="-122"/>
                <a:cs typeface="Aptos" pitchFamily="34" charset="-120"/>
              </a:rPr>
              <a:t>→</a:t>
            </a:r>
            <a:endParaRPr lang="en-US" sz="2200" dirty="0"/>
          </a:p>
        </p:txBody>
      </p:sp>
      <p:sp>
        <p:nvSpPr>
          <p:cNvPr id="23" name="Shape 21"/>
          <p:cNvSpPr/>
          <p:nvPr/>
        </p:nvSpPr>
        <p:spPr>
          <a:xfrm>
            <a:off x="4489704" y="3895344"/>
            <a:ext cx="3602736" cy="1417320"/>
          </a:xfrm>
          <a:prstGeom prst="roundRect">
            <a:avLst>
              <a:gd name="adj" fmla="val 7742"/>
            </a:avLst>
          </a:prstGeom>
          <a:solidFill>
            <a:srgbClr val="EDF2F6"/>
          </a:solidFill>
          <a:ln w="8890">
            <a:solidFill>
              <a:srgbClr val="D9E2E8"/>
            </a:solidFill>
            <a:prstDash val="solid"/>
          </a:ln>
        </p:spPr>
        <p:txBody>
          <a:bodyPr/>
          <a:p/>
        </p:txBody>
      </p:sp>
      <p:sp>
        <p:nvSpPr>
          <p:cNvPr id="24" name="Text 22"/>
          <p:cNvSpPr/>
          <p:nvPr/>
        </p:nvSpPr>
        <p:spPr>
          <a:xfrm>
            <a:off x="4672584" y="4059936"/>
            <a:ext cx="3246120" cy="274320"/>
          </a:xfrm>
          <a:prstGeom prst="rect">
            <a:avLst/>
          </a:prstGeom>
          <a:noFill/>
          <a:ln/>
        </p:spPr>
        <p:txBody>
          <a:bodyPr wrap="square" lIns="0" tIns="0" rIns="0" bIns="0" rtlCol="0" anchor="ctr">
            <a:normAutofit/>
          </a:bodyPr>
          <a:lstStyle/>
          <a:p>
            <a:pPr algn="l" indent="0" marL="0">
              <a:buNone/>
            </a:pPr>
            <a:r>
              <a:rPr lang="en-US" sz="1650" b="1" dirty="0">
                <a:solidFill>
                  <a:srgbClr val="12766C"/>
                </a:solidFill>
                <a:latin typeface="Aptos" pitchFamily="34" charset="0"/>
                <a:ea typeface="Aptos" pitchFamily="34" charset="-122"/>
                <a:cs typeface="Aptos" pitchFamily="34" charset="-120"/>
              </a:rPr>
              <a:t>OPTIMIZACIÓN</a:t>
            </a:r>
            <a:endParaRPr lang="en-US" sz="1650" dirty="0"/>
          </a:p>
        </p:txBody>
      </p:sp>
      <p:sp>
        <p:nvSpPr>
          <p:cNvPr id="25" name="Text 23"/>
          <p:cNvSpPr/>
          <p:nvPr/>
        </p:nvSpPr>
        <p:spPr>
          <a:xfrm>
            <a:off x="4672584" y="4498848"/>
            <a:ext cx="3246120" cy="566928"/>
          </a:xfrm>
          <a:prstGeom prst="rect">
            <a:avLst/>
          </a:prstGeom>
          <a:noFill/>
          <a:ln/>
        </p:spPr>
        <p:txBody>
          <a:bodyPr wrap="square" lIns="0" tIns="0" rIns="0" bIns="0" rtlCol="0" anchor="ctr">
            <a:normAutofit/>
          </a:bodyPr>
          <a:lstStyle/>
          <a:p>
            <a:pPr algn="l" indent="0" marL="0">
              <a:buNone/>
            </a:pPr>
            <a:r>
              <a:rPr lang="en-US" sz="1500" dirty="0">
                <a:solidFill>
                  <a:srgbClr val="1C3044"/>
                </a:solidFill>
                <a:latin typeface="Aptos" pitchFamily="34" charset="0"/>
                <a:ea typeface="Aptos" pitchFamily="34" charset="-122"/>
                <a:cs typeface="Aptos" pitchFamily="34" charset="-120"/>
              </a:rPr>
              <a:t>Cobertura bajo presupuesto</a:t>
            </a:r>
            <a:endParaRPr lang="en-US" sz="1500" dirty="0"/>
          </a:p>
        </p:txBody>
      </p:sp>
      <p:sp>
        <p:nvSpPr>
          <p:cNvPr id="26" name="Text 24"/>
          <p:cNvSpPr/>
          <p:nvPr/>
        </p:nvSpPr>
        <p:spPr>
          <a:xfrm>
            <a:off x="8028432" y="4398264"/>
            <a:ext cx="292608" cy="274320"/>
          </a:xfrm>
          <a:prstGeom prst="rect">
            <a:avLst/>
          </a:prstGeom>
          <a:noFill/>
          <a:ln/>
        </p:spPr>
        <p:txBody>
          <a:bodyPr wrap="square" lIns="0" tIns="0" rIns="0" bIns="0" rtlCol="0" anchor="ctr">
            <a:normAutofit/>
          </a:bodyPr>
          <a:lstStyle/>
          <a:p>
            <a:pPr algn="l" indent="0" marL="0">
              <a:buNone/>
            </a:pPr>
            <a:r>
              <a:rPr lang="en-US" sz="2200" b="1" dirty="0">
                <a:solidFill>
                  <a:srgbClr val="12766C"/>
                </a:solidFill>
                <a:latin typeface="Aptos" pitchFamily="34" charset="0"/>
                <a:ea typeface="Aptos" pitchFamily="34" charset="-122"/>
                <a:cs typeface="Aptos" pitchFamily="34" charset="-120"/>
              </a:rPr>
              <a:t>→</a:t>
            </a:r>
            <a:endParaRPr lang="en-US" sz="2200" dirty="0"/>
          </a:p>
        </p:txBody>
      </p:sp>
      <p:sp>
        <p:nvSpPr>
          <p:cNvPr id="27" name="Shape 25"/>
          <p:cNvSpPr/>
          <p:nvPr/>
        </p:nvSpPr>
        <p:spPr>
          <a:xfrm>
            <a:off x="8311896" y="3895344"/>
            <a:ext cx="3602736" cy="1417320"/>
          </a:xfrm>
          <a:prstGeom prst="roundRect">
            <a:avLst>
              <a:gd name="adj" fmla="val 7742"/>
            </a:avLst>
          </a:prstGeom>
          <a:solidFill>
            <a:srgbClr val="E3F6F2"/>
          </a:solidFill>
          <a:ln w="8890">
            <a:solidFill>
              <a:srgbClr val="D9E2E8"/>
            </a:solidFill>
            <a:prstDash val="solid"/>
          </a:ln>
        </p:spPr>
        <p:txBody>
          <a:bodyPr/>
          <a:p/>
        </p:txBody>
      </p:sp>
      <p:sp>
        <p:nvSpPr>
          <p:cNvPr id="28" name="Text 26"/>
          <p:cNvSpPr/>
          <p:nvPr/>
        </p:nvSpPr>
        <p:spPr>
          <a:xfrm>
            <a:off x="8494776" y="4059936"/>
            <a:ext cx="3246120" cy="274320"/>
          </a:xfrm>
          <a:prstGeom prst="rect">
            <a:avLst/>
          </a:prstGeom>
          <a:noFill/>
          <a:ln/>
        </p:spPr>
        <p:txBody>
          <a:bodyPr wrap="square" lIns="0" tIns="0" rIns="0" bIns="0" rtlCol="0" anchor="ctr">
            <a:normAutofit/>
          </a:bodyPr>
          <a:lstStyle/>
          <a:p>
            <a:pPr algn="l" indent="0" marL="0">
              <a:buNone/>
            </a:pPr>
            <a:r>
              <a:rPr lang="en-US" sz="1650" b="1" dirty="0">
                <a:solidFill>
                  <a:srgbClr val="12766C"/>
                </a:solidFill>
                <a:latin typeface="Aptos" pitchFamily="34" charset="0"/>
                <a:ea typeface="Aptos" pitchFamily="34" charset="-122"/>
                <a:cs typeface="Aptos" pitchFamily="34" charset="-120"/>
              </a:rPr>
              <a:t>CAMPAÑA</a:t>
            </a:r>
            <a:endParaRPr lang="en-US" sz="1650" dirty="0"/>
          </a:p>
        </p:txBody>
      </p:sp>
      <p:sp>
        <p:nvSpPr>
          <p:cNvPr id="29" name="Text 27"/>
          <p:cNvSpPr/>
          <p:nvPr/>
        </p:nvSpPr>
        <p:spPr>
          <a:xfrm>
            <a:off x="8494776" y="4498848"/>
            <a:ext cx="3246120" cy="566928"/>
          </a:xfrm>
          <a:prstGeom prst="rect">
            <a:avLst/>
          </a:prstGeom>
          <a:noFill/>
          <a:ln/>
        </p:spPr>
        <p:txBody>
          <a:bodyPr wrap="square" lIns="0" tIns="0" rIns="0" bIns="0" rtlCol="0" anchor="ctr">
            <a:normAutofit/>
          </a:bodyPr>
          <a:lstStyle/>
          <a:p>
            <a:pPr algn="l" indent="0" marL="0">
              <a:buNone/>
            </a:pPr>
            <a:r>
              <a:rPr lang="en-US" sz="1500" dirty="0">
                <a:solidFill>
                  <a:srgbClr val="1C3044"/>
                </a:solidFill>
                <a:latin typeface="Aptos" pitchFamily="34" charset="0"/>
                <a:ea typeface="Aptos" pitchFamily="34" charset="-122"/>
                <a:cs typeface="Aptos" pitchFamily="34" charset="-120"/>
              </a:rPr>
              <a:t>Mensajes, canales y KPIs</a:t>
            </a:r>
            <a:endParaRPr lang="en-US" sz="1500" dirty="0"/>
          </a:p>
        </p:txBody>
      </p:sp>
      <p:sp>
        <p:nvSpPr>
          <p:cNvPr id="30" name="Text 28"/>
          <p:cNvSpPr/>
          <p:nvPr/>
        </p:nvSpPr>
        <p:spPr>
          <a:xfrm>
            <a:off x="694944" y="6190488"/>
            <a:ext cx="10835640" cy="182880"/>
          </a:xfrm>
          <a:prstGeom prst="rect">
            <a:avLst/>
          </a:prstGeom>
          <a:noFill/>
          <a:ln/>
        </p:spPr>
        <p:txBody>
          <a:bodyPr wrap="square" lIns="0" tIns="0" rIns="0" bIns="0" rtlCol="0" anchor="ctr">
            <a:normAutofit/>
          </a:bodyPr>
          <a:lstStyle/>
          <a:p>
            <a:pPr algn="l" indent="0" marL="0">
              <a:buNone/>
            </a:pPr>
            <a:r>
              <a:rPr lang="en-US" sz="1150" dirty="0">
                <a:solidFill>
                  <a:srgbClr val="B64A44"/>
                </a:solidFill>
                <a:latin typeface="Aptos" pitchFamily="34" charset="0"/>
                <a:ea typeface="Aptos" pitchFamily="34" charset="-122"/>
                <a:cs typeface="Aptos" pitchFamily="34" charset="-120"/>
              </a:rPr>
              <a:t>Cada módulo aporta indicadores propios para decisiones de campaña.</a:t>
            </a:r>
            <a:endParaRPr lang="en-US" sz="1150"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DFB"/>
        </a:solidFill>
        <a:effectLst/>
      </p:bgPr>
    </p:bg>
    <p:spTree>
      <p:nvGrpSpPr>
        <p:cNvPr id="1" name=""/>
        <p:cNvGrpSpPr/>
        <p:nvPr/>
      </p:nvGrpSpPr>
      <p:grpSpPr/>
      <p:sp>
        <p:nvSpPr>
          <p:cNvPr id="2" name="TextBox 1"/>
          <p:cNvSpPr txBox="1"/>
          <p:nvPr/>
        </p:nvSpPr>
        <p:spPr>
          <a:xfrm>
            <a:off x="548640" y="329184"/>
            <a:ext cx="10058400" cy="274320"/>
          </a:xfrm>
          <a:prstGeom prst="rect">
            <a:avLst/>
          </a:prstGeom>
          <a:noFill/>
        </p:spPr>
        <p:txBody>
          <a:bodyPr wrap="square">
            <a:spAutoFit/>
          </a:bodyPr>
          <a:lstStyle/>
          <a:p>
            <a:r>
              <a:rPr sz="1100" b="1">
                <a:solidFill>
                  <a:srgbClr val="D57A2C"/>
                </a:solidFill>
                <a:latin typeface="Aptos"/>
              </a:rPr>
              <a:t>ALMACENAMIENTO · ENSAYO REPRODUCIBLE</a:t>
            </a:r>
          </a:p>
        </p:txBody>
      </p:sp>
      <p:sp>
        <p:nvSpPr>
          <p:cNvPr id="3" name="TextBox 2"/>
          <p:cNvSpPr txBox="1"/>
          <p:nvPr/>
        </p:nvSpPr>
        <p:spPr>
          <a:xfrm>
            <a:off x="548640" y="713232"/>
            <a:ext cx="10058400" cy="640080"/>
          </a:xfrm>
          <a:prstGeom prst="rect">
            <a:avLst/>
          </a:prstGeom>
          <a:noFill/>
        </p:spPr>
        <p:txBody>
          <a:bodyPr wrap="square">
            <a:spAutoFit/>
          </a:bodyPr>
          <a:lstStyle/>
          <a:p>
            <a:r>
              <a:rPr sz="2700" b="1">
                <a:solidFill>
                  <a:srgbClr val="11524C"/>
                </a:solidFill>
                <a:latin typeface="Aptos"/>
              </a:rPr>
              <a:t>Procesamiento e indexación a mayor escala</a:t>
            </a:r>
          </a:p>
        </p:txBody>
      </p:sp>
      <p:sp>
        <p:nvSpPr>
          <p:cNvPr id="4" name="TextBox 3"/>
          <p:cNvSpPr txBox="1"/>
          <p:nvPr/>
        </p:nvSpPr>
        <p:spPr>
          <a:xfrm>
            <a:off x="566928" y="1426464"/>
            <a:ext cx="9875520" cy="530352"/>
          </a:xfrm>
          <a:prstGeom prst="rect">
            <a:avLst/>
          </a:prstGeom>
          <a:noFill/>
        </p:spPr>
        <p:txBody>
          <a:bodyPr wrap="square">
            <a:spAutoFit/>
          </a:bodyPr>
          <a:lstStyle/>
          <a:p>
            <a:r>
              <a:rPr sz="1400" b="0">
                <a:solidFill>
                  <a:srgbClr val="5E7073"/>
                </a:solidFill>
                <a:latin typeface="Aptos"/>
              </a:rPr>
              <a:t>De 31 147 registros DataTur a un estrés de 1,99 millones de filas REPETIDAS.</a:t>
            </a:r>
          </a:p>
        </p:txBody>
      </p:sp>
      <p:sp>
        <p:nvSpPr>
          <p:cNvPr id="5" name="Rounded Rectangle 4"/>
          <p:cNvSpPr/>
          <p:nvPr/>
        </p:nvSpPr>
        <p:spPr>
          <a:xfrm>
            <a:off x="548640" y="2212848"/>
            <a:ext cx="3352800" cy="3017520"/>
          </a:xfrm>
          <a:prstGeom prst="roundRect">
            <a:avLst/>
          </a:prstGeom>
          <a:solidFill>
            <a:srgbClr val="EC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560320"/>
            <a:ext cx="3032760" cy="640080"/>
          </a:xfrm>
          <a:prstGeom prst="rect">
            <a:avLst/>
          </a:prstGeom>
          <a:noFill/>
        </p:spPr>
        <p:txBody>
          <a:bodyPr wrap="square">
            <a:spAutoFit/>
          </a:bodyPr>
          <a:lstStyle/>
          <a:p>
            <a:r>
              <a:rPr sz="2100" b="1">
                <a:solidFill>
                  <a:srgbClr val="11524C"/>
                </a:solidFill>
                <a:latin typeface="Aptos"/>
              </a:rPr>
              <a:t>31 147</a:t>
            </a:r>
          </a:p>
        </p:txBody>
      </p:sp>
      <p:sp>
        <p:nvSpPr>
          <p:cNvPr id="7" name="TextBox 6"/>
          <p:cNvSpPr txBox="1"/>
          <p:nvPr/>
        </p:nvSpPr>
        <p:spPr>
          <a:xfrm>
            <a:off x="749808" y="3337560"/>
            <a:ext cx="2987040" cy="1508760"/>
          </a:xfrm>
          <a:prstGeom prst="rect">
            <a:avLst/>
          </a:prstGeom>
          <a:noFill/>
        </p:spPr>
        <p:txBody>
          <a:bodyPr wrap="square">
            <a:spAutoFit/>
          </a:bodyPr>
          <a:lstStyle/>
          <a:p>
            <a:r>
              <a:rPr sz="1500" b="0">
                <a:solidFill>
                  <a:srgbClr val="1D2B30"/>
                </a:solidFill>
                <a:latin typeface="Aptos"/>
              </a:rPr>
              <a:t>Filas originales de la fuente DataTur.</a:t>
            </a:r>
          </a:p>
        </p:txBody>
      </p:sp>
      <p:sp>
        <p:nvSpPr>
          <p:cNvPr id="8" name="Rounded Rectangle 7"/>
          <p:cNvSpPr/>
          <p:nvPr/>
        </p:nvSpPr>
        <p:spPr>
          <a:xfrm>
            <a:off x="4023360" y="2212848"/>
            <a:ext cx="3352800" cy="3017520"/>
          </a:xfrm>
          <a:prstGeom prst="roundRect">
            <a:avLst/>
          </a:prstGeom>
          <a:solidFill>
            <a:srgbClr val="EC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24528" y="2560320"/>
            <a:ext cx="3032760" cy="640080"/>
          </a:xfrm>
          <a:prstGeom prst="rect">
            <a:avLst/>
          </a:prstGeom>
          <a:noFill/>
        </p:spPr>
        <p:txBody>
          <a:bodyPr wrap="square">
            <a:spAutoFit/>
          </a:bodyPr>
          <a:lstStyle/>
          <a:p>
            <a:r>
              <a:rPr sz="2100" b="1">
                <a:solidFill>
                  <a:srgbClr val="11524C"/>
                </a:solidFill>
                <a:latin typeface="Aptos"/>
              </a:rPr>
              <a:t>1 993 408</a:t>
            </a:r>
          </a:p>
        </p:txBody>
      </p:sp>
      <p:sp>
        <p:nvSpPr>
          <p:cNvPr id="10" name="TextBox 9"/>
          <p:cNvSpPr txBox="1"/>
          <p:nvPr/>
        </p:nvSpPr>
        <p:spPr>
          <a:xfrm>
            <a:off x="4224528" y="3337560"/>
            <a:ext cx="2987040" cy="1508760"/>
          </a:xfrm>
          <a:prstGeom prst="rect">
            <a:avLst/>
          </a:prstGeom>
          <a:noFill/>
        </p:spPr>
        <p:txBody>
          <a:bodyPr wrap="square">
            <a:spAutoFit/>
          </a:bodyPr>
          <a:lstStyle/>
          <a:p>
            <a:r>
              <a:rPr sz="1500" b="0">
                <a:solidFill>
                  <a:srgbClr val="1D2B30"/>
                </a:solidFill>
                <a:latin typeface="Aptos"/>
              </a:rPr>
              <a:t>Filas del ensayo de carga por replicación controlada.</a:t>
            </a:r>
          </a:p>
        </p:txBody>
      </p:sp>
      <p:sp>
        <p:nvSpPr>
          <p:cNvPr id="11" name="Rounded Rectangle 10"/>
          <p:cNvSpPr/>
          <p:nvPr/>
        </p:nvSpPr>
        <p:spPr>
          <a:xfrm>
            <a:off x="7498080" y="2212848"/>
            <a:ext cx="3352800" cy="3017520"/>
          </a:xfrm>
          <a:prstGeom prst="roundRect">
            <a:avLst/>
          </a:prstGeom>
          <a:solidFill>
            <a:srgbClr val="EC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99248" y="2560320"/>
            <a:ext cx="3032760" cy="640080"/>
          </a:xfrm>
          <a:prstGeom prst="rect">
            <a:avLst/>
          </a:prstGeom>
          <a:noFill/>
        </p:spPr>
        <p:txBody>
          <a:bodyPr wrap="square">
            <a:spAutoFit/>
          </a:bodyPr>
          <a:lstStyle/>
          <a:p>
            <a:r>
              <a:rPr sz="2100" b="1">
                <a:solidFill>
                  <a:srgbClr val="11524C"/>
                </a:solidFill>
                <a:latin typeface="Aptos"/>
              </a:rPr>
              <a:t>143 → 78 ms</a:t>
            </a:r>
          </a:p>
        </p:txBody>
      </p:sp>
      <p:sp>
        <p:nvSpPr>
          <p:cNvPr id="13" name="TextBox 12"/>
          <p:cNvSpPr txBox="1"/>
          <p:nvPr/>
        </p:nvSpPr>
        <p:spPr>
          <a:xfrm>
            <a:off x="7699248" y="3337560"/>
            <a:ext cx="2987040" cy="1508760"/>
          </a:xfrm>
          <a:prstGeom prst="rect">
            <a:avLst/>
          </a:prstGeom>
          <a:noFill/>
        </p:spPr>
        <p:txBody>
          <a:bodyPr wrap="square">
            <a:spAutoFit/>
          </a:bodyPr>
          <a:lstStyle/>
          <a:p>
            <a:r>
              <a:rPr sz="1500" b="0">
                <a:solidFill>
                  <a:srgbClr val="1D2B30"/>
                </a:solidFill>
                <a:latin typeface="Aptos"/>
              </a:rPr>
              <a:t>Consulta agregada sin índice y con índice en escala 64×. La carga duró 6,4 s.</a:t>
            </a:r>
          </a:p>
        </p:txBody>
      </p:sp>
      <p:sp>
        <p:nvSpPr>
          <p:cNvPr id="14" name="TextBox 13"/>
          <p:cNvSpPr txBox="1"/>
          <p:nvPr/>
        </p:nvSpPr>
        <p:spPr>
          <a:xfrm>
            <a:off x="621792" y="5696712"/>
            <a:ext cx="10149840" cy="731520"/>
          </a:xfrm>
          <a:prstGeom prst="rect">
            <a:avLst/>
          </a:prstGeom>
          <a:noFill/>
        </p:spPr>
        <p:txBody>
          <a:bodyPr wrap="square">
            <a:spAutoFit/>
          </a:bodyPr>
          <a:lstStyle/>
          <a:p>
            <a:r>
              <a:rPr sz="1100" b="0">
                <a:solidFill>
                  <a:srgbClr val="5E7073"/>
                </a:solidFill>
                <a:latin typeface="Aptos"/>
              </a:rPr>
              <a:t>Control de consistencia: conteos y agregaciones coincidentes · benchmark local SQLite.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oundRect">
            <a:avLst/>
          </a:prstGeom>
          <a:solidFill>
            <a:srgbClr val="12766C"/>
          </a:solidFill>
          <a:ln w="8890">
            <a:solidFill>
              <a:srgbClr val="12766C"/>
            </a:solidFill>
            <a:prstDash val="solid"/>
          </a:ln>
        </p:spPr>
        <p:txBody>
          <a:bodyPr/>
          <a:p/>
        </p:txBody>
      </p:sp>
      <p:sp>
        <p:nvSpPr>
          <p:cNvPr id="3" name="Text 1"/>
          <p:cNvSpPr/>
          <p:nvPr/>
        </p:nvSpPr>
        <p:spPr>
          <a:xfrm>
            <a:off x="585216" y="347472"/>
            <a:ext cx="10789920" cy="219456"/>
          </a:xfrm>
          <a:prstGeom prst="rect">
            <a:avLst/>
          </a:prstGeom>
          <a:noFill/>
          <a:ln/>
        </p:spPr>
        <p:txBody>
          <a:bodyPr wrap="square" lIns="0" tIns="0" rIns="0" bIns="0" rtlCol="0" anchor="ctr">
            <a:normAutofit/>
          </a:bodyPr>
          <a:lstStyle/>
          <a:p>
            <a:pPr algn="l" indent="0" marL="0">
              <a:buNone/>
            </a:pPr>
            <a:r>
              <a:rPr lang="en-US" sz="900" b="1" spc="150" kern="0" dirty="0">
                <a:solidFill>
                  <a:srgbClr val="12766C"/>
                </a:solidFill>
                <a:latin typeface="Aptos" pitchFamily="34" charset="0"/>
                <a:ea typeface="Aptos" pitchFamily="34" charset="-122"/>
                <a:cs typeface="Aptos" pitchFamily="34" charset="-120"/>
              </a:rPr>
              <a:t>DESCUBRIMIENTO DE ACTIVIDADES</a:t>
            </a:r>
            <a:endParaRPr lang="en-US" sz="900" dirty="0"/>
          </a:p>
        </p:txBody>
      </p:sp>
      <p:sp>
        <p:nvSpPr>
          <p:cNvPr id="4" name="Text 2"/>
          <p:cNvSpPr/>
          <p:nvPr/>
        </p:nvSpPr>
        <p:spPr>
          <a:xfrm>
            <a:off x="585216" y="749808"/>
            <a:ext cx="11064240" cy="658368"/>
          </a:xfrm>
          <a:prstGeom prst="rect">
            <a:avLst/>
          </a:prstGeom>
          <a:noFill/>
          <a:ln/>
        </p:spPr>
        <p:txBody>
          <a:bodyPr wrap="square" lIns="0" tIns="0" rIns="0" bIns="0" rtlCol="0" anchor="ctr">
            <a:normAutofit/>
          </a:bodyPr>
          <a:lstStyle/>
          <a:p>
            <a:pPr algn="l" indent="0" marL="0">
              <a:buNone/>
            </a:pPr>
            <a:r>
              <a:rPr lang="en-US" sz="2900" b="1" dirty="0">
                <a:solidFill>
                  <a:srgbClr val="10233C"/>
                </a:solidFill>
                <a:latin typeface="Aptos" pitchFamily="34" charset="0"/>
                <a:ea typeface="Aptos" pitchFamily="34" charset="-122"/>
                <a:cs typeface="Aptos" pitchFamily="34" charset="-120"/>
              </a:rPr>
              <a:t>Minería de experiencias: coincidencias verificables</a:t>
            </a:r>
            <a:endParaRPr lang="en-US" sz="2900" dirty="0"/>
          </a:p>
        </p:txBody>
      </p:sp>
      <p:sp>
        <p:nvSpPr>
          <p:cNvPr id="5" name="Shape 3"/>
          <p:cNvSpPr/>
          <p:nvPr/>
        </p:nvSpPr>
        <p:spPr>
          <a:xfrm>
            <a:off x="585216" y="1508760"/>
            <a:ext cx="10991088" cy="0"/>
          </a:xfrm>
          <a:prstGeom prst="line">
            <a:avLst/>
          </a:prstGeom>
          <a:noFill/>
          <a:ln w="15875">
            <a:solidFill>
              <a:srgbClr val="D9E2E8"/>
            </a:solidFill>
            <a:prstDash val="solid"/>
          </a:ln>
        </p:spPr>
        <p:txBody>
          <a:bodyPr/>
          <a:p/>
        </p:txBody>
      </p:sp>
      <p:sp>
        <p:nvSpPr>
          <p:cNvPr id="6" name="Text 4"/>
          <p:cNvSpPr/>
          <p:nvPr/>
        </p:nvSpPr>
        <p:spPr>
          <a:xfrm>
            <a:off x="585216" y="6547104"/>
            <a:ext cx="9921240" cy="137160"/>
          </a:xfrm>
          <a:prstGeom prst="rect">
            <a:avLst/>
          </a:prstGeom>
          <a:noFill/>
          <a:ln/>
        </p:spPr>
        <p:txBody>
          <a:bodyPr wrap="square" lIns="0" tIns="0" rIns="0" bIns="0" rtlCol="0" anchor="ctr">
            <a:normAutofit/>
          </a:bodyPr>
          <a:lstStyle/>
          <a:p>
            <a:pPr algn="l" indent="0" marL="0">
              <a:buNone/>
            </a:pPr>
            <a:r>
              <a:rPr lang="en-US" sz="850" dirty="0">
                <a:solidFill>
                  <a:srgbClr val="5E7182"/>
                </a:solidFill>
                <a:latin typeface="Aptos" pitchFamily="34" charset="0"/>
                <a:ea typeface="Aptos" pitchFamily="34" charset="-122"/>
                <a:cs typeface="Aptos" pitchFamily="34" charset="-120"/>
              </a:rPr>
              <a:t>Elaboración propia · SECTUR Veracruz (2025–2026)</a:t>
            </a:r>
            <a:endParaRPr lang="en-US" sz="850" dirty="0"/>
          </a:p>
        </p:txBody>
      </p:sp>
      <p:sp>
        <p:nvSpPr>
          <p:cNvPr id="7" name="Text 5"/>
          <p:cNvSpPr/>
          <p:nvPr/>
        </p:nvSpPr>
        <p:spPr>
          <a:xfrm>
            <a:off x="11018520" y="6519672"/>
            <a:ext cx="475488" cy="164592"/>
          </a:xfrm>
          <a:prstGeom prst="rect">
            <a:avLst/>
          </a:prstGeom>
          <a:noFill/>
          <a:ln/>
        </p:spPr>
        <p:txBody>
          <a:bodyPr wrap="square" lIns="0" tIns="0" rIns="0" bIns="0" rtlCol="0" anchor="ctr">
            <a:normAutofit/>
          </a:bodyPr>
          <a:lstStyle/>
          <a:p>
            <a:pPr algn="r" indent="0" marL="0">
              <a:buNone/>
            </a:pPr>
            <a:r>
              <a:rPr lang="en-US" sz="900" dirty="0">
                <a:solidFill>
                  <a:srgbClr val="5E7182"/>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85800" y="1865376"/>
            <a:ext cx="5321808" cy="2880360"/>
          </a:xfrm>
          <a:prstGeom prst="roundRect">
            <a:avLst>
              <a:gd name="adj" fmla="val 3810"/>
            </a:avLst>
          </a:prstGeom>
          <a:solidFill>
            <a:srgbClr val="EDF2F6"/>
          </a:solidFill>
          <a:ln w="8890">
            <a:solidFill>
              <a:srgbClr val="D9E2E8"/>
            </a:solidFill>
            <a:prstDash val="solid"/>
          </a:ln>
        </p:spPr>
        <p:txBody>
          <a:bodyPr/>
          <a:p/>
        </p:txBody>
      </p:sp>
      <p:sp>
        <p:nvSpPr>
          <p:cNvPr id="9" name="Text 7"/>
          <p:cNvSpPr/>
          <p:nvPr/>
        </p:nvSpPr>
        <p:spPr>
          <a:xfrm>
            <a:off x="987552" y="2139696"/>
            <a:ext cx="4645152" cy="347472"/>
          </a:xfrm>
          <a:prstGeom prst="rect">
            <a:avLst/>
          </a:prstGeom>
          <a:noFill/>
          <a:ln/>
        </p:spPr>
        <p:txBody>
          <a:bodyPr wrap="square" lIns="0" tIns="0" rIns="0" bIns="0" rtlCol="0" anchor="ctr">
            <a:normAutofit/>
          </a:bodyPr>
          <a:lstStyle/>
          <a:p>
            <a:pPr algn="l" indent="0" marL="0">
              <a:buNone/>
            </a:pPr>
            <a:r>
              <a:rPr lang="en-US" sz="1900" b="1" dirty="0">
                <a:solidFill>
                  <a:srgbClr val="1C3044"/>
                </a:solidFill>
                <a:latin typeface="Aptos" pitchFamily="34" charset="0"/>
                <a:ea typeface="Aptos" pitchFamily="34" charset="-122"/>
                <a:cs typeface="Aptos" pitchFamily="34" charset="-120"/>
              </a:rPr>
              <a:t>Consulta de interés</a:t>
            </a:r>
            <a:endParaRPr lang="en-US" sz="1900" dirty="0"/>
          </a:p>
        </p:txBody>
      </p:sp>
      <p:sp>
        <p:nvSpPr>
          <p:cNvPr id="10" name="Text 8"/>
          <p:cNvSpPr/>
          <p:nvPr/>
        </p:nvSpPr>
        <p:spPr>
          <a:xfrm>
            <a:off x="987552" y="2798064"/>
            <a:ext cx="4544568" cy="475488"/>
          </a:xfrm>
          <a:prstGeom prst="rect">
            <a:avLst/>
          </a:prstGeom>
          <a:noFill/>
          <a:ln/>
        </p:spPr>
        <p:txBody>
          <a:bodyPr wrap="square" lIns="0" tIns="0" rIns="0" bIns="0" rtlCol="0" anchor="ctr">
            <a:normAutofit/>
          </a:bodyPr>
          <a:lstStyle/>
          <a:p>
            <a:pPr algn="l" indent="0" marL="0">
              <a:buNone/>
            </a:pPr>
            <a:r>
              <a:rPr lang="en-US" sz="2300" dirty="0">
                <a:solidFill>
                  <a:srgbClr val="10233C"/>
                </a:solidFill>
                <a:latin typeface="Aptos" pitchFamily="34" charset="0"/>
                <a:ea typeface="Aptos" pitchFamily="34" charset="-122"/>
                <a:cs typeface="Aptos" pitchFamily="34" charset="-120"/>
              </a:rPr>
              <a:t>Kayak + observación de aves</a:t>
            </a:r>
            <a:endParaRPr lang="en-US" sz="2300" dirty="0"/>
          </a:p>
        </p:txBody>
      </p:sp>
      <p:sp>
        <p:nvSpPr>
          <p:cNvPr id="11" name="Shape 9"/>
          <p:cNvSpPr/>
          <p:nvPr/>
        </p:nvSpPr>
        <p:spPr>
          <a:xfrm>
            <a:off x="987552" y="3730752"/>
            <a:ext cx="2039112" cy="393192"/>
          </a:xfrm>
          <a:prstGeom prst="roundRect">
            <a:avLst>
              <a:gd name="adj" fmla="val 27907"/>
            </a:avLst>
          </a:prstGeom>
          <a:solidFill>
            <a:srgbClr val="E3F6F2"/>
          </a:solidFill>
          <a:ln w="8890">
            <a:solidFill>
              <a:srgbClr val="E3F6F2"/>
            </a:solidFill>
            <a:prstDash val="solid"/>
          </a:ln>
        </p:spPr>
        <p:txBody>
          <a:bodyPr/>
          <a:p/>
        </p:txBody>
      </p:sp>
      <p:sp>
        <p:nvSpPr>
          <p:cNvPr id="12" name="Text 10"/>
          <p:cNvSpPr/>
          <p:nvPr/>
        </p:nvSpPr>
        <p:spPr>
          <a:xfrm>
            <a:off x="1078992" y="3803904"/>
            <a:ext cx="1856232" cy="228600"/>
          </a:xfrm>
          <a:prstGeom prst="rect">
            <a:avLst/>
          </a:prstGeom>
          <a:noFill/>
          <a:ln/>
        </p:spPr>
        <p:txBody>
          <a:bodyPr wrap="square" lIns="0" tIns="0" rIns="0" bIns="0" rtlCol="0" anchor="ctr">
            <a:normAutofit/>
          </a:bodyPr>
          <a:lstStyle/>
          <a:p>
            <a:pPr algn="ctr" indent="0" marL="0">
              <a:buNone/>
            </a:pPr>
            <a:r>
              <a:rPr lang="en-US" sz="1200" b="1" dirty="0">
                <a:solidFill>
                  <a:srgbClr val="12766C"/>
                </a:solidFill>
                <a:latin typeface="Aptos" pitchFamily="34" charset="0"/>
                <a:ea typeface="Aptos" pitchFamily="34" charset="-122"/>
                <a:cs typeface="Aptos" pitchFamily="34" charset="-120"/>
              </a:rPr>
              <a:t>Catemaco</a:t>
            </a:r>
            <a:endParaRPr lang="en-US" sz="1200" dirty="0"/>
          </a:p>
        </p:txBody>
      </p:sp>
      <p:sp>
        <p:nvSpPr>
          <p:cNvPr id="13" name="Shape 11"/>
          <p:cNvSpPr/>
          <p:nvPr/>
        </p:nvSpPr>
        <p:spPr>
          <a:xfrm>
            <a:off x="3200400" y="3730752"/>
            <a:ext cx="2459736" cy="393192"/>
          </a:xfrm>
          <a:prstGeom prst="roundRect">
            <a:avLst>
              <a:gd name="adj" fmla="val 27907"/>
            </a:avLst>
          </a:prstGeom>
          <a:solidFill>
            <a:srgbClr val="E3F6F2"/>
          </a:solidFill>
          <a:ln w="8890">
            <a:solidFill>
              <a:srgbClr val="E3F6F2"/>
            </a:solidFill>
            <a:prstDash val="solid"/>
          </a:ln>
        </p:spPr>
        <p:txBody>
          <a:bodyPr/>
          <a:p/>
        </p:txBody>
      </p:sp>
      <p:sp>
        <p:nvSpPr>
          <p:cNvPr id="14" name="Text 12"/>
          <p:cNvSpPr/>
          <p:nvPr/>
        </p:nvSpPr>
        <p:spPr>
          <a:xfrm>
            <a:off x="3291840" y="3803904"/>
            <a:ext cx="2276856" cy="228600"/>
          </a:xfrm>
          <a:prstGeom prst="rect">
            <a:avLst/>
          </a:prstGeom>
          <a:noFill/>
          <a:ln/>
        </p:spPr>
        <p:txBody>
          <a:bodyPr wrap="square" lIns="0" tIns="0" rIns="0" bIns="0" rtlCol="0" anchor="ctr">
            <a:normAutofit/>
          </a:bodyPr>
          <a:lstStyle/>
          <a:p>
            <a:pPr algn="ctr" indent="0" marL="0">
              <a:buNone/>
            </a:pPr>
            <a:r>
              <a:rPr lang="en-US" sz="1200" b="1" dirty="0">
                <a:solidFill>
                  <a:srgbClr val="12766C"/>
                </a:solidFill>
                <a:latin typeface="Aptos" pitchFamily="34" charset="0"/>
                <a:ea typeface="Aptos" pitchFamily="34" charset="-122"/>
                <a:cs typeface="Aptos" pitchFamily="34" charset="-120"/>
              </a:rPr>
              <a:t>San Andrés Tuxtla</a:t>
            </a:r>
            <a:endParaRPr lang="en-US" sz="1200" dirty="0"/>
          </a:p>
        </p:txBody>
      </p:sp>
      <p:sp>
        <p:nvSpPr>
          <p:cNvPr id="15" name="Shape 13"/>
          <p:cNvSpPr/>
          <p:nvPr/>
        </p:nvSpPr>
        <p:spPr>
          <a:xfrm>
            <a:off x="6245352" y="1865376"/>
            <a:ext cx="5184648" cy="2880360"/>
          </a:xfrm>
          <a:prstGeom prst="roundRect">
            <a:avLst>
              <a:gd name="adj" fmla="val 3810"/>
            </a:avLst>
          </a:prstGeom>
          <a:solidFill>
            <a:srgbClr val="E3F6F2"/>
          </a:solidFill>
          <a:ln w="8890">
            <a:solidFill>
              <a:srgbClr val="D9E2E8"/>
            </a:solidFill>
            <a:prstDash val="solid"/>
          </a:ln>
        </p:spPr>
        <p:txBody>
          <a:bodyPr/>
          <a:p/>
        </p:txBody>
      </p:sp>
      <p:sp>
        <p:nvSpPr>
          <p:cNvPr id="16" name="Text 14"/>
          <p:cNvSpPr/>
          <p:nvPr/>
        </p:nvSpPr>
        <p:spPr>
          <a:xfrm>
            <a:off x="6537960" y="2157984"/>
            <a:ext cx="4480560" cy="320040"/>
          </a:xfrm>
          <a:prstGeom prst="rect">
            <a:avLst/>
          </a:prstGeom>
          <a:noFill/>
          <a:ln/>
        </p:spPr>
        <p:txBody>
          <a:bodyPr wrap="square" lIns="0" tIns="0" rIns="0" bIns="0" rtlCol="0" anchor="ctr">
            <a:normAutofit/>
          </a:bodyPr>
          <a:lstStyle/>
          <a:p>
            <a:pPr algn="l" indent="0" marL="0">
              <a:buNone/>
            </a:pPr>
            <a:r>
              <a:rPr lang="en-US" sz="1900" b="1" dirty="0">
                <a:solidFill>
                  <a:srgbClr val="12766C"/>
                </a:solidFill>
                <a:latin typeface="Aptos" pitchFamily="34" charset="0"/>
                <a:ea typeface="Aptos" pitchFamily="34" charset="-122"/>
                <a:cs typeface="Aptos" pitchFamily="34" charset="-120"/>
              </a:rPr>
              <a:t>Criterios de aceptación</a:t>
            </a:r>
            <a:endParaRPr lang="en-US" sz="1900" dirty="0"/>
          </a:p>
        </p:txBody>
      </p:sp>
      <p:sp>
        <p:nvSpPr>
          <p:cNvPr id="17" name="Shape 15"/>
          <p:cNvSpPr/>
          <p:nvPr/>
        </p:nvSpPr>
        <p:spPr>
          <a:xfrm>
            <a:off x="6556248" y="2916936"/>
            <a:ext cx="86868" cy="86868"/>
          </a:xfrm>
          <a:prstGeom prst="ellipse">
            <a:avLst/>
          </a:prstGeom>
          <a:solidFill>
            <a:srgbClr val="12766C"/>
          </a:solidFill>
          <a:ln w="12700">
            <a:solidFill>
              <a:srgbClr val="12766C"/>
            </a:solidFill>
            <a:prstDash val="solid"/>
          </a:ln>
        </p:spPr>
        <p:txBody>
          <a:bodyPr/>
          <a:p/>
        </p:txBody>
      </p:sp>
      <p:sp>
        <p:nvSpPr>
          <p:cNvPr id="18" name="Text 16"/>
          <p:cNvSpPr/>
          <p:nvPr/>
        </p:nvSpPr>
        <p:spPr>
          <a:xfrm>
            <a:off x="6748272" y="2770632"/>
            <a:ext cx="4389120" cy="429768"/>
          </a:xfrm>
          <a:prstGeom prst="rect">
            <a:avLst/>
          </a:prstGeom>
          <a:noFill/>
          <a:ln/>
        </p:spPr>
        <p:txBody>
          <a:bodyPr wrap="square" lIns="0" tIns="0" rIns="0" bIns="0" rtlCol="0" anchor="ctr">
            <a:normAutofit/>
          </a:bodyPr>
          <a:lstStyle/>
          <a:p>
            <a:pPr algn="l" indent="0" marL="0">
              <a:buNone/>
            </a:pPr>
            <a:r>
              <a:rPr lang="en-US" sz="1470" dirty="0">
                <a:solidFill>
                  <a:srgbClr val="1C3044"/>
                </a:solidFill>
                <a:latin typeface="Aptos" pitchFamily="34" charset="0"/>
                <a:ea typeface="Aptos" pitchFamily="34" charset="-122"/>
                <a:cs typeface="Aptos" pitchFamily="34" charset="-120"/>
              </a:rPr>
              <a:t>Par actividad–municipio documentado.</a:t>
            </a:r>
            <a:endParaRPr lang="en-US" sz="1470" dirty="0"/>
          </a:p>
        </p:txBody>
      </p:sp>
      <p:sp>
        <p:nvSpPr>
          <p:cNvPr id="19" name="Shape 17"/>
          <p:cNvSpPr/>
          <p:nvPr/>
        </p:nvSpPr>
        <p:spPr>
          <a:xfrm>
            <a:off x="6556248" y="3364992"/>
            <a:ext cx="86868" cy="86868"/>
          </a:xfrm>
          <a:prstGeom prst="ellipse">
            <a:avLst/>
          </a:prstGeom>
          <a:solidFill>
            <a:srgbClr val="12766C"/>
          </a:solidFill>
          <a:ln w="12700">
            <a:solidFill>
              <a:srgbClr val="12766C"/>
            </a:solidFill>
            <a:prstDash val="solid"/>
          </a:ln>
        </p:spPr>
        <p:txBody>
          <a:bodyPr/>
          <a:p/>
        </p:txBody>
      </p:sp>
      <p:sp>
        <p:nvSpPr>
          <p:cNvPr id="20" name="Text 18"/>
          <p:cNvSpPr/>
          <p:nvPr/>
        </p:nvSpPr>
        <p:spPr>
          <a:xfrm>
            <a:off x="6748272" y="3218688"/>
            <a:ext cx="4389120" cy="429768"/>
          </a:xfrm>
          <a:prstGeom prst="rect">
            <a:avLst/>
          </a:prstGeom>
          <a:noFill/>
          <a:ln/>
        </p:spPr>
        <p:txBody>
          <a:bodyPr wrap="square" lIns="0" tIns="0" rIns="0" bIns="0" rtlCol="0" anchor="ctr">
            <a:normAutofit/>
          </a:bodyPr>
          <a:lstStyle/>
          <a:p>
            <a:pPr algn="l" indent="0" marL="0">
              <a:buNone/>
            </a:pPr>
            <a:r>
              <a:rPr lang="en-US" sz="1470" dirty="0">
                <a:solidFill>
                  <a:srgbClr val="1C3044"/>
                </a:solidFill>
                <a:latin typeface="Aptos" pitchFamily="34" charset="0"/>
                <a:ea typeface="Aptos" pitchFamily="34" charset="-122"/>
                <a:cs typeface="Aptos" pitchFamily="34" charset="-120"/>
              </a:rPr>
              <a:t>Procedencia y pasajes conservados.</a:t>
            </a:r>
            <a:endParaRPr lang="en-US" sz="1470" dirty="0"/>
          </a:p>
        </p:txBody>
      </p:sp>
      <p:sp>
        <p:nvSpPr>
          <p:cNvPr id="21" name="Shape 19"/>
          <p:cNvSpPr/>
          <p:nvPr/>
        </p:nvSpPr>
        <p:spPr>
          <a:xfrm>
            <a:off x="6556248" y="3813048"/>
            <a:ext cx="86868" cy="86868"/>
          </a:xfrm>
          <a:prstGeom prst="ellipse">
            <a:avLst/>
          </a:prstGeom>
          <a:solidFill>
            <a:srgbClr val="12766C"/>
          </a:solidFill>
          <a:ln w="12700">
            <a:solidFill>
              <a:srgbClr val="12766C"/>
            </a:solidFill>
            <a:prstDash val="solid"/>
          </a:ln>
        </p:spPr>
        <p:txBody>
          <a:bodyPr/>
          <a:p/>
        </p:txBody>
      </p:sp>
      <p:sp>
        <p:nvSpPr>
          <p:cNvPr id="22" name="Text 20"/>
          <p:cNvSpPr/>
          <p:nvPr/>
        </p:nvSpPr>
        <p:spPr>
          <a:xfrm>
            <a:off x="6748272" y="3666744"/>
            <a:ext cx="4389120" cy="429768"/>
          </a:xfrm>
          <a:prstGeom prst="rect">
            <a:avLst/>
          </a:prstGeom>
          <a:noFill/>
          <a:ln/>
        </p:spPr>
        <p:txBody>
          <a:bodyPr wrap="square" lIns="0" tIns="0" rIns="0" bIns="0" rtlCol="0" anchor="ctr">
            <a:normAutofit/>
          </a:bodyPr>
          <a:lstStyle/>
          <a:p>
            <a:pPr algn="l" indent="0" marL="0">
              <a:buNone/>
            </a:pPr>
            <a:r>
              <a:rPr lang="en-US" sz="1470" dirty="0">
                <a:solidFill>
                  <a:srgbClr val="1C3044"/>
                </a:solidFill>
                <a:latin typeface="Aptos" pitchFamily="34" charset="0"/>
                <a:ea typeface="Aptos" pitchFamily="34" charset="-122"/>
                <a:cs typeface="Aptos" pitchFamily="34" charset="-120"/>
              </a:rPr>
              <a:t>Segmentación de contenidos por interés declarado.</a:t>
            </a:r>
            <a:endParaRPr lang="en-US" sz="1470" dirty="0"/>
          </a:p>
        </p:txBody>
      </p:sp>
      <p:sp>
        <p:nvSpPr>
          <p:cNvPr id="23" name="Shape 21"/>
          <p:cNvSpPr/>
          <p:nvPr/>
        </p:nvSpPr>
        <p:spPr>
          <a:xfrm>
            <a:off x="6556248" y="4261104"/>
            <a:ext cx="86868" cy="86868"/>
          </a:xfrm>
          <a:prstGeom prst="ellipse">
            <a:avLst/>
          </a:prstGeom>
          <a:solidFill>
            <a:srgbClr val="12766C"/>
          </a:solidFill>
          <a:ln w="12700">
            <a:solidFill>
              <a:srgbClr val="12766C"/>
            </a:solidFill>
            <a:prstDash val="solid"/>
          </a:ln>
        </p:spPr>
        <p:txBody>
          <a:bodyPr/>
          <a:p/>
        </p:txBody>
      </p:sp>
      <p:sp>
        <p:nvSpPr>
          <p:cNvPr id="24" name="Text 22"/>
          <p:cNvSpPr/>
          <p:nvPr/>
        </p:nvSpPr>
        <p:spPr>
          <a:xfrm>
            <a:off x="6748272" y="4114800"/>
            <a:ext cx="4389120" cy="429768"/>
          </a:xfrm>
          <a:prstGeom prst="rect">
            <a:avLst/>
          </a:prstGeom>
          <a:noFill/>
          <a:ln/>
        </p:spPr>
        <p:txBody>
          <a:bodyPr wrap="square" lIns="0" tIns="0" rIns="0" bIns="0" rtlCol="0" anchor="ctr">
            <a:normAutofit/>
          </a:bodyPr>
          <a:lstStyle/>
          <a:p>
            <a:pPr algn="l" indent="0" marL="0">
              <a:buNone/>
            </a:pPr>
            <a:r>
              <a:rPr lang="en-US" sz="1470" dirty="0">
                <a:solidFill>
                  <a:srgbClr val="1C3044"/>
                </a:solidFill>
                <a:latin typeface="Aptos" pitchFamily="34" charset="0"/>
                <a:ea typeface="Aptos" pitchFamily="34" charset="-122"/>
                <a:cs typeface="Aptos" pitchFamily="34" charset="-120"/>
              </a:rPr>
              <a:t>Conservar estados de evidencia documentada.</a:t>
            </a:r>
            <a:endParaRPr lang="en-US" sz="1470" dirty="0"/>
          </a:p>
        </p:txBody>
      </p:sp>
      <p:sp>
        <p:nvSpPr>
          <p:cNvPr id="25" name="Text 23"/>
          <p:cNvSpPr/>
          <p:nvPr/>
        </p:nvSpPr>
        <p:spPr>
          <a:xfrm>
            <a:off x="722376" y="5330952"/>
            <a:ext cx="10625328" cy="694944"/>
          </a:xfrm>
          <a:prstGeom prst="rect">
            <a:avLst/>
          </a:prstGeom>
          <a:noFill/>
          <a:ln/>
        </p:spPr>
        <p:txBody>
          <a:bodyPr wrap="square" lIns="0" tIns="0" rIns="0" bIns="0" rtlCol="0" anchor="ctr">
            <a:normAutofit/>
          </a:bodyPr>
          <a:lstStyle/>
          <a:p>
            <a:pPr algn="l" indent="0" marL="0">
              <a:buNone/>
            </a:pPr>
            <a:r>
              <a:rPr lang="en-US" sz="1700" b="1" dirty="0">
                <a:solidFill>
                  <a:srgbClr val="10233C"/>
                </a:solidFill>
                <a:latin typeface="Aptos" pitchFamily="34" charset="0"/>
                <a:ea typeface="Aptos" pitchFamily="34" charset="-122"/>
                <a:cs typeface="Aptos" pitchFamily="34" charset="-120"/>
              </a:rPr>
              <a:t>La exploración por actividades específicas guía la creatividad y la consulta territorial.</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oundRect">
            <a:avLst/>
          </a:prstGeom>
          <a:solidFill>
            <a:srgbClr val="12766C"/>
          </a:solidFill>
          <a:ln w="8890">
            <a:solidFill>
              <a:srgbClr val="12766C"/>
            </a:solidFill>
            <a:prstDash val="solid"/>
          </a:ln>
        </p:spPr>
        <p:txBody>
          <a:bodyPr/>
          <a:p/>
        </p:txBody>
      </p:sp>
      <p:sp>
        <p:nvSpPr>
          <p:cNvPr id="3" name="Text 1"/>
          <p:cNvSpPr/>
          <p:nvPr/>
        </p:nvSpPr>
        <p:spPr>
          <a:xfrm>
            <a:off x="585216" y="347472"/>
            <a:ext cx="10789920" cy="219456"/>
          </a:xfrm>
          <a:prstGeom prst="rect">
            <a:avLst/>
          </a:prstGeom>
          <a:noFill/>
          <a:ln/>
        </p:spPr>
        <p:txBody>
          <a:bodyPr wrap="square" lIns="0" tIns="0" rIns="0" bIns="0" rtlCol="0" anchor="ctr">
            <a:normAutofit/>
          </a:bodyPr>
          <a:lstStyle/>
          <a:p>
            <a:pPr algn="l" indent="0" marL="0">
              <a:buNone/>
            </a:pPr>
            <a:r>
              <a:rPr lang="en-US" sz="900" b="1" spc="150" kern="0" dirty="0">
                <a:solidFill>
                  <a:srgbClr val="12766C"/>
                </a:solidFill>
                <a:latin typeface="Aptos" pitchFamily="34" charset="0"/>
                <a:ea typeface="Aptos" pitchFamily="34" charset="-122"/>
                <a:cs typeface="Aptos" pitchFamily="34" charset="-120"/>
              </a:rPr>
              <a:t>52 PREDICCIONES EMPAREJADAS</a:t>
            </a:r>
            <a:endParaRPr lang="en-US" sz="900" dirty="0"/>
          </a:p>
        </p:txBody>
      </p:sp>
      <p:sp>
        <p:nvSpPr>
          <p:cNvPr id="4" name="Text 2"/>
          <p:cNvSpPr/>
          <p:nvPr/>
        </p:nvSpPr>
        <p:spPr>
          <a:xfrm>
            <a:off x="585216" y="749808"/>
            <a:ext cx="11064240" cy="658368"/>
          </a:xfrm>
          <a:prstGeom prst="rect">
            <a:avLst/>
          </a:prstGeom>
          <a:noFill/>
          <a:ln/>
        </p:spPr>
        <p:txBody>
          <a:bodyPr wrap="square" lIns="0" tIns="0" rIns="0" bIns="0" rtlCol="0" anchor="ctr">
            <a:normAutofit/>
          </a:bodyPr>
          <a:lstStyle/>
          <a:p>
            <a:pPr algn="l" indent="0" marL="0">
              <a:buNone/>
            </a:pPr>
            <a:r>
              <a:rPr lang="en-US" sz="2900" b="1" dirty="0">
                <a:solidFill>
                  <a:srgbClr val="10233C"/>
                </a:solidFill>
                <a:latin typeface="Aptos" pitchFamily="34" charset="0"/>
                <a:ea typeface="Aptos" pitchFamily="34" charset="-122"/>
                <a:cs typeface="Aptos" pitchFamily="34" charset="-120"/>
              </a:rPr>
              <a:t>Aprendizaje automático: precisión comparada</a:t>
            </a:r>
            <a:endParaRPr lang="en-US" sz="2900" dirty="0"/>
          </a:p>
        </p:txBody>
      </p:sp>
      <p:sp>
        <p:nvSpPr>
          <p:cNvPr id="5" name="Shape 3"/>
          <p:cNvSpPr/>
          <p:nvPr/>
        </p:nvSpPr>
        <p:spPr>
          <a:xfrm>
            <a:off x="585216" y="1508760"/>
            <a:ext cx="10991088" cy="0"/>
          </a:xfrm>
          <a:prstGeom prst="line">
            <a:avLst/>
          </a:prstGeom>
          <a:noFill/>
          <a:ln w="15875">
            <a:solidFill>
              <a:srgbClr val="D9E2E8"/>
            </a:solidFill>
            <a:prstDash val="solid"/>
          </a:ln>
        </p:spPr>
        <p:txBody>
          <a:bodyPr/>
          <a:p/>
        </p:txBody>
      </p:sp>
      <p:sp>
        <p:nvSpPr>
          <p:cNvPr id="6" name="Text 4"/>
          <p:cNvSpPr/>
          <p:nvPr/>
        </p:nvSpPr>
        <p:spPr>
          <a:xfrm>
            <a:off x="585216" y="6547104"/>
            <a:ext cx="9921240" cy="137160"/>
          </a:xfrm>
          <a:prstGeom prst="rect">
            <a:avLst/>
          </a:prstGeom>
          <a:noFill/>
          <a:ln/>
        </p:spPr>
        <p:txBody>
          <a:bodyPr wrap="square" lIns="0" tIns="0" rIns="0" bIns="0" rtlCol="0" anchor="ctr">
            <a:normAutofit/>
          </a:bodyPr>
          <a:lstStyle/>
          <a:p>
            <a:pPr algn="l" indent="0" marL="0">
              <a:buNone/>
            </a:pPr>
            <a:r>
              <a:rPr lang="en-US" sz="850" dirty="0">
                <a:solidFill>
                  <a:srgbClr val="5E7182"/>
                </a:solidFill>
                <a:latin typeface="Aptos" pitchFamily="34" charset="0"/>
                <a:ea typeface="Aptos" pitchFamily="34" charset="-122"/>
                <a:cs typeface="Aptos" pitchFamily="34" charset="-120"/>
              </a:rPr>
              <a:t>Elaboración propia · DataTur (SECTUR, s. f.)</a:t>
            </a:r>
            <a:endParaRPr lang="en-US" sz="850" dirty="0"/>
          </a:p>
        </p:txBody>
      </p:sp>
      <p:sp>
        <p:nvSpPr>
          <p:cNvPr id="7" name="Text 5"/>
          <p:cNvSpPr/>
          <p:nvPr/>
        </p:nvSpPr>
        <p:spPr>
          <a:xfrm>
            <a:off x="11018520" y="6519672"/>
            <a:ext cx="475488" cy="164592"/>
          </a:xfrm>
          <a:prstGeom prst="rect">
            <a:avLst/>
          </a:prstGeom>
          <a:noFill/>
          <a:ln/>
        </p:spPr>
        <p:txBody>
          <a:bodyPr wrap="square" lIns="0" tIns="0" rIns="0" bIns="0" rtlCol="0" anchor="ctr">
            <a:normAutofit/>
          </a:bodyPr>
          <a:lstStyle/>
          <a:p>
            <a:pPr algn="r" indent="0" marL="0">
              <a:buNone/>
            </a:pPr>
            <a:r>
              <a:rPr lang="en-US" sz="900" dirty="0">
                <a:solidFill>
                  <a:srgbClr val="5E7182"/>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749808" y="2011680"/>
            <a:ext cx="2743200" cy="274320"/>
          </a:xfrm>
          <a:prstGeom prst="rect">
            <a:avLst/>
          </a:prstGeom>
          <a:noFill/>
          <a:ln/>
        </p:spPr>
        <p:txBody>
          <a:bodyPr wrap="square" lIns="0" tIns="0" rIns="0" bIns="0" rtlCol="0" anchor="ctr">
            <a:normAutofit/>
          </a:bodyPr>
          <a:lstStyle/>
          <a:p>
            <a:pPr algn="l" indent="0" marL="0">
              <a:buNone/>
            </a:pPr>
            <a:r>
              <a:rPr lang="en-US" sz="1650" dirty="0">
                <a:solidFill>
                  <a:srgbClr val="1C3044"/>
                </a:solidFill>
                <a:latin typeface="Aptos" pitchFamily="34" charset="0"/>
                <a:ea typeface="Aptos" pitchFamily="34" charset="-122"/>
                <a:cs typeface="Aptos" pitchFamily="34" charset="-120"/>
              </a:rPr>
              <a:t>Bosque ajustado</a:t>
            </a:r>
            <a:endParaRPr lang="en-US" sz="1650" dirty="0"/>
          </a:p>
        </p:txBody>
      </p:sp>
      <p:sp>
        <p:nvSpPr>
          <p:cNvPr id="9" name="Shape 7"/>
          <p:cNvSpPr/>
          <p:nvPr/>
        </p:nvSpPr>
        <p:spPr>
          <a:xfrm>
            <a:off x="3566160" y="2011680"/>
            <a:ext cx="7388352" cy="356616"/>
          </a:xfrm>
          <a:prstGeom prst="roundRect">
            <a:avLst>
              <a:gd name="adj" fmla="val 15385"/>
            </a:avLst>
          </a:prstGeom>
          <a:solidFill>
            <a:srgbClr val="EDF2F6"/>
          </a:solidFill>
          <a:ln w="8890">
            <a:solidFill>
              <a:srgbClr val="EDF2F6"/>
            </a:solidFill>
            <a:prstDash val="solid"/>
          </a:ln>
        </p:spPr>
        <p:txBody>
          <a:bodyPr/>
          <a:p/>
        </p:txBody>
      </p:sp>
      <p:sp>
        <p:nvSpPr>
          <p:cNvPr id="10" name="Shape 8"/>
          <p:cNvSpPr/>
          <p:nvPr/>
        </p:nvSpPr>
        <p:spPr>
          <a:xfrm>
            <a:off x="3566160" y="2011680"/>
            <a:ext cx="5903821" cy="356616"/>
          </a:xfrm>
          <a:prstGeom prst="roundRect">
            <a:avLst>
              <a:gd name="adj" fmla="val 15385"/>
            </a:avLst>
          </a:prstGeom>
          <a:solidFill>
            <a:srgbClr val="12766C"/>
          </a:solidFill>
          <a:ln w="8890">
            <a:solidFill>
              <a:srgbClr val="12766C"/>
            </a:solidFill>
            <a:prstDash val="solid"/>
          </a:ln>
        </p:spPr>
        <p:txBody>
          <a:bodyPr/>
          <a:p/>
        </p:txBody>
      </p:sp>
      <p:sp>
        <p:nvSpPr>
          <p:cNvPr id="11" name="Text 9"/>
          <p:cNvSpPr/>
          <p:nvPr/>
        </p:nvSpPr>
        <p:spPr>
          <a:xfrm>
            <a:off x="10972800" y="2048256"/>
            <a:ext cx="685800" cy="201168"/>
          </a:xfrm>
          <a:prstGeom prst="rect">
            <a:avLst/>
          </a:prstGeom>
          <a:noFill/>
          <a:ln/>
        </p:spPr>
        <p:txBody>
          <a:bodyPr wrap="square" lIns="0" tIns="0" rIns="0" bIns="0" rtlCol="0" anchor="ctr">
            <a:normAutofit/>
          </a:bodyPr>
          <a:lstStyle/>
          <a:p>
            <a:pPr algn="l" indent="0" marL="0">
              <a:buNone/>
            </a:pPr>
            <a:r>
              <a:rPr lang="en-US" sz="1400" b="1" dirty="0">
                <a:solidFill>
                  <a:srgbClr val="10233C"/>
                </a:solidFill>
                <a:latin typeface="Aptos" pitchFamily="34" charset="0"/>
                <a:ea typeface="Aptos" pitchFamily="34" charset="-122"/>
                <a:cs typeface="Aptos" pitchFamily="34" charset="-120"/>
              </a:rPr>
              <a:t>5.59 pp</a:t>
            </a:r>
            <a:endParaRPr lang="en-US" sz="1400" dirty="0"/>
          </a:p>
        </p:txBody>
      </p:sp>
      <p:sp>
        <p:nvSpPr>
          <p:cNvPr id="12" name="Text 10"/>
          <p:cNvSpPr/>
          <p:nvPr/>
        </p:nvSpPr>
        <p:spPr>
          <a:xfrm>
            <a:off x="749808" y="2825496"/>
            <a:ext cx="2743200" cy="274320"/>
          </a:xfrm>
          <a:prstGeom prst="rect">
            <a:avLst/>
          </a:prstGeom>
          <a:noFill/>
          <a:ln/>
        </p:spPr>
        <p:txBody>
          <a:bodyPr wrap="square" lIns="0" tIns="0" rIns="0" bIns="0" rtlCol="0" anchor="ctr">
            <a:normAutofit/>
          </a:bodyPr>
          <a:lstStyle/>
          <a:p>
            <a:pPr algn="l" indent="0" marL="0">
              <a:buNone/>
            </a:pPr>
            <a:r>
              <a:rPr lang="en-US" sz="1650" dirty="0">
                <a:solidFill>
                  <a:srgbClr val="1C3044"/>
                </a:solidFill>
                <a:latin typeface="Aptos" pitchFamily="34" charset="0"/>
                <a:ea typeface="Aptos" pitchFamily="34" charset="-122"/>
                <a:cs typeface="Aptos" pitchFamily="34" charset="-120"/>
              </a:rPr>
              <a:t>Promedio de 3 meses</a:t>
            </a:r>
            <a:endParaRPr lang="en-US" sz="1650" dirty="0"/>
          </a:p>
        </p:txBody>
      </p:sp>
      <p:sp>
        <p:nvSpPr>
          <p:cNvPr id="13" name="Shape 11"/>
          <p:cNvSpPr/>
          <p:nvPr/>
        </p:nvSpPr>
        <p:spPr>
          <a:xfrm>
            <a:off x="3566160" y="2825496"/>
            <a:ext cx="7388352" cy="356616"/>
          </a:xfrm>
          <a:prstGeom prst="roundRect">
            <a:avLst>
              <a:gd name="adj" fmla="val 15385"/>
            </a:avLst>
          </a:prstGeom>
          <a:solidFill>
            <a:srgbClr val="EDF2F6"/>
          </a:solidFill>
          <a:ln w="8890">
            <a:solidFill>
              <a:srgbClr val="EDF2F6"/>
            </a:solidFill>
            <a:prstDash val="solid"/>
          </a:ln>
        </p:spPr>
        <p:txBody>
          <a:bodyPr/>
          <a:p/>
        </p:txBody>
      </p:sp>
      <p:sp>
        <p:nvSpPr>
          <p:cNvPr id="14" name="Shape 12"/>
          <p:cNvSpPr/>
          <p:nvPr/>
        </p:nvSpPr>
        <p:spPr>
          <a:xfrm>
            <a:off x="3566160" y="2825496"/>
            <a:ext cx="5978760" cy="356616"/>
          </a:xfrm>
          <a:prstGeom prst="roundRect">
            <a:avLst>
              <a:gd name="adj" fmla="val 15385"/>
            </a:avLst>
          </a:prstGeom>
          <a:solidFill>
            <a:srgbClr val="78A7B1"/>
          </a:solidFill>
          <a:ln w="8890">
            <a:solidFill>
              <a:srgbClr val="78A7B1"/>
            </a:solidFill>
            <a:prstDash val="solid"/>
          </a:ln>
        </p:spPr>
        <p:txBody>
          <a:bodyPr/>
          <a:p/>
        </p:txBody>
      </p:sp>
      <p:sp>
        <p:nvSpPr>
          <p:cNvPr id="15" name="Text 13"/>
          <p:cNvSpPr/>
          <p:nvPr/>
        </p:nvSpPr>
        <p:spPr>
          <a:xfrm>
            <a:off x="10972800" y="2862072"/>
            <a:ext cx="685800" cy="201168"/>
          </a:xfrm>
          <a:prstGeom prst="rect">
            <a:avLst/>
          </a:prstGeom>
          <a:noFill/>
          <a:ln/>
        </p:spPr>
        <p:txBody>
          <a:bodyPr wrap="square" lIns="0" tIns="0" rIns="0" bIns="0" rtlCol="0" anchor="ctr">
            <a:normAutofit/>
          </a:bodyPr>
          <a:lstStyle/>
          <a:p>
            <a:pPr algn="l" indent="0" marL="0">
              <a:buNone/>
            </a:pPr>
            <a:r>
              <a:rPr lang="en-US" sz="1400" b="1" dirty="0">
                <a:solidFill>
                  <a:srgbClr val="10233C"/>
                </a:solidFill>
                <a:latin typeface="Aptos" pitchFamily="34" charset="0"/>
                <a:ea typeface="Aptos" pitchFamily="34" charset="-122"/>
                <a:cs typeface="Aptos" pitchFamily="34" charset="-120"/>
              </a:rPr>
              <a:t>5.66 pp</a:t>
            </a:r>
            <a:endParaRPr lang="en-US" sz="1400" dirty="0"/>
          </a:p>
        </p:txBody>
      </p:sp>
      <p:sp>
        <p:nvSpPr>
          <p:cNvPr id="16" name="Text 14"/>
          <p:cNvSpPr/>
          <p:nvPr/>
        </p:nvSpPr>
        <p:spPr>
          <a:xfrm>
            <a:off x="749808" y="3639312"/>
            <a:ext cx="2743200" cy="274320"/>
          </a:xfrm>
          <a:prstGeom prst="rect">
            <a:avLst/>
          </a:prstGeom>
          <a:noFill/>
          <a:ln/>
        </p:spPr>
        <p:txBody>
          <a:bodyPr wrap="square" lIns="0" tIns="0" rIns="0" bIns="0" rtlCol="0" anchor="ctr">
            <a:normAutofit/>
          </a:bodyPr>
          <a:lstStyle/>
          <a:p>
            <a:pPr algn="l" indent="0" marL="0">
              <a:buNone/>
            </a:pPr>
            <a:r>
              <a:rPr lang="en-US" sz="1650" dirty="0">
                <a:solidFill>
                  <a:srgbClr val="1C3044"/>
                </a:solidFill>
                <a:latin typeface="Aptos" pitchFamily="34" charset="0"/>
                <a:ea typeface="Aptos" pitchFamily="34" charset="-122"/>
                <a:cs typeface="Aptos" pitchFamily="34" charset="-120"/>
              </a:rPr>
              <a:t>Estacional ingenuo</a:t>
            </a:r>
            <a:endParaRPr lang="en-US" sz="1650" dirty="0"/>
          </a:p>
        </p:txBody>
      </p:sp>
      <p:sp>
        <p:nvSpPr>
          <p:cNvPr id="17" name="Shape 15"/>
          <p:cNvSpPr/>
          <p:nvPr/>
        </p:nvSpPr>
        <p:spPr>
          <a:xfrm>
            <a:off x="3566160" y="3639312"/>
            <a:ext cx="7388352" cy="356616"/>
          </a:xfrm>
          <a:prstGeom prst="roundRect">
            <a:avLst>
              <a:gd name="adj" fmla="val 15385"/>
            </a:avLst>
          </a:prstGeom>
          <a:solidFill>
            <a:srgbClr val="EDF2F6"/>
          </a:solidFill>
          <a:ln w="8890">
            <a:solidFill>
              <a:srgbClr val="EDF2F6"/>
            </a:solidFill>
            <a:prstDash val="solid"/>
          </a:ln>
        </p:spPr>
        <p:txBody>
          <a:bodyPr/>
          <a:p/>
        </p:txBody>
      </p:sp>
      <p:sp>
        <p:nvSpPr>
          <p:cNvPr id="18" name="Shape 16"/>
          <p:cNvSpPr/>
          <p:nvPr/>
        </p:nvSpPr>
        <p:spPr>
          <a:xfrm>
            <a:off x="3566160" y="3639312"/>
            <a:ext cx="6134549" cy="356616"/>
          </a:xfrm>
          <a:prstGeom prst="roundRect">
            <a:avLst>
              <a:gd name="adj" fmla="val 15385"/>
            </a:avLst>
          </a:prstGeom>
          <a:solidFill>
            <a:srgbClr val="78A7B1"/>
          </a:solidFill>
          <a:ln w="8890">
            <a:solidFill>
              <a:srgbClr val="78A7B1"/>
            </a:solidFill>
            <a:prstDash val="solid"/>
          </a:ln>
        </p:spPr>
        <p:txBody>
          <a:bodyPr/>
          <a:p/>
        </p:txBody>
      </p:sp>
      <p:sp>
        <p:nvSpPr>
          <p:cNvPr id="19" name="Text 17"/>
          <p:cNvSpPr/>
          <p:nvPr/>
        </p:nvSpPr>
        <p:spPr>
          <a:xfrm>
            <a:off x="10972800" y="3675888"/>
            <a:ext cx="685800" cy="201168"/>
          </a:xfrm>
          <a:prstGeom prst="rect">
            <a:avLst/>
          </a:prstGeom>
          <a:noFill/>
          <a:ln/>
        </p:spPr>
        <p:txBody>
          <a:bodyPr wrap="square" lIns="0" tIns="0" rIns="0" bIns="0" rtlCol="0" anchor="ctr">
            <a:normAutofit/>
          </a:bodyPr>
          <a:lstStyle/>
          <a:p>
            <a:pPr algn="l" indent="0" marL="0">
              <a:buNone/>
            </a:pPr>
            <a:r>
              <a:rPr lang="en-US" sz="1400" b="1" dirty="0">
                <a:solidFill>
                  <a:srgbClr val="10233C"/>
                </a:solidFill>
                <a:latin typeface="Aptos" pitchFamily="34" charset="0"/>
                <a:ea typeface="Aptos" pitchFamily="34" charset="-122"/>
                <a:cs typeface="Aptos" pitchFamily="34" charset="-120"/>
              </a:rPr>
              <a:t>5.81 pp</a:t>
            </a:r>
            <a:endParaRPr lang="en-US" sz="1400" dirty="0"/>
          </a:p>
        </p:txBody>
      </p:sp>
      <p:sp>
        <p:nvSpPr>
          <p:cNvPr id="20" name="Text 18"/>
          <p:cNvSpPr/>
          <p:nvPr/>
        </p:nvSpPr>
        <p:spPr>
          <a:xfrm>
            <a:off x="749808" y="4453128"/>
            <a:ext cx="2743200" cy="274320"/>
          </a:xfrm>
          <a:prstGeom prst="rect">
            <a:avLst/>
          </a:prstGeom>
          <a:noFill/>
          <a:ln/>
        </p:spPr>
        <p:txBody>
          <a:bodyPr wrap="square" lIns="0" tIns="0" rIns="0" bIns="0" rtlCol="0" anchor="ctr">
            <a:normAutofit/>
          </a:bodyPr>
          <a:lstStyle/>
          <a:p>
            <a:pPr algn="l" indent="0" marL="0">
              <a:buNone/>
            </a:pPr>
            <a:r>
              <a:rPr lang="en-US" sz="1650" dirty="0">
                <a:solidFill>
                  <a:srgbClr val="1C3044"/>
                </a:solidFill>
                <a:latin typeface="Aptos" pitchFamily="34" charset="0"/>
                <a:ea typeface="Aptos" pitchFamily="34" charset="-122"/>
                <a:cs typeface="Aptos" pitchFamily="34" charset="-120"/>
              </a:rPr>
              <a:t>Mes anterior</a:t>
            </a:r>
            <a:endParaRPr lang="en-US" sz="1650" dirty="0"/>
          </a:p>
        </p:txBody>
      </p:sp>
      <p:sp>
        <p:nvSpPr>
          <p:cNvPr id="21" name="Shape 19"/>
          <p:cNvSpPr/>
          <p:nvPr/>
        </p:nvSpPr>
        <p:spPr>
          <a:xfrm>
            <a:off x="3566160" y="4453128"/>
            <a:ext cx="7388352" cy="356616"/>
          </a:xfrm>
          <a:prstGeom prst="roundRect">
            <a:avLst>
              <a:gd name="adj" fmla="val 15385"/>
            </a:avLst>
          </a:prstGeom>
          <a:solidFill>
            <a:srgbClr val="EDF2F6"/>
          </a:solidFill>
          <a:ln w="8890">
            <a:solidFill>
              <a:srgbClr val="EDF2F6"/>
            </a:solidFill>
            <a:prstDash val="solid"/>
          </a:ln>
        </p:spPr>
        <p:txBody>
          <a:bodyPr/>
          <a:p/>
        </p:txBody>
      </p:sp>
      <p:sp>
        <p:nvSpPr>
          <p:cNvPr id="22" name="Shape 20"/>
          <p:cNvSpPr/>
          <p:nvPr/>
        </p:nvSpPr>
        <p:spPr>
          <a:xfrm>
            <a:off x="3566160" y="4453128"/>
            <a:ext cx="6862512" cy="356616"/>
          </a:xfrm>
          <a:prstGeom prst="roundRect">
            <a:avLst>
              <a:gd name="adj" fmla="val 15385"/>
            </a:avLst>
          </a:prstGeom>
          <a:solidFill>
            <a:srgbClr val="78A7B1"/>
          </a:solidFill>
          <a:ln w="8890">
            <a:solidFill>
              <a:srgbClr val="78A7B1"/>
            </a:solidFill>
            <a:prstDash val="solid"/>
          </a:ln>
        </p:spPr>
        <p:txBody>
          <a:bodyPr/>
          <a:p/>
        </p:txBody>
      </p:sp>
      <p:sp>
        <p:nvSpPr>
          <p:cNvPr id="23" name="Text 21"/>
          <p:cNvSpPr/>
          <p:nvPr/>
        </p:nvSpPr>
        <p:spPr>
          <a:xfrm>
            <a:off x="10972800" y="4489704"/>
            <a:ext cx="685800" cy="201168"/>
          </a:xfrm>
          <a:prstGeom prst="rect">
            <a:avLst/>
          </a:prstGeom>
          <a:noFill/>
          <a:ln/>
        </p:spPr>
        <p:txBody>
          <a:bodyPr wrap="square" lIns="0" tIns="0" rIns="0" bIns="0" rtlCol="0" anchor="ctr">
            <a:normAutofit/>
          </a:bodyPr>
          <a:lstStyle/>
          <a:p>
            <a:pPr algn="l" indent="0" marL="0">
              <a:buNone/>
            </a:pPr>
            <a:r>
              <a:rPr lang="en-US" sz="1400" b="1" dirty="0">
                <a:solidFill>
                  <a:srgbClr val="10233C"/>
                </a:solidFill>
                <a:latin typeface="Aptos" pitchFamily="34" charset="0"/>
                <a:ea typeface="Aptos" pitchFamily="34" charset="-122"/>
                <a:cs typeface="Aptos" pitchFamily="34" charset="-120"/>
              </a:rPr>
              <a:t>6.50 pp</a:t>
            </a:r>
            <a:endParaRPr lang="en-US" sz="1400" dirty="0"/>
          </a:p>
        </p:txBody>
      </p:sp>
      <p:sp>
        <p:nvSpPr>
          <p:cNvPr id="24" name="Shape 22"/>
          <p:cNvSpPr/>
          <p:nvPr/>
        </p:nvSpPr>
        <p:spPr>
          <a:xfrm>
            <a:off x="694944" y="5687568"/>
            <a:ext cx="10744200" cy="530352"/>
          </a:xfrm>
          <a:prstGeom prst="roundRect">
            <a:avLst>
              <a:gd name="adj" fmla="val 20690"/>
            </a:avLst>
          </a:prstGeom>
          <a:solidFill>
            <a:srgbClr val="F7F3E9"/>
          </a:solidFill>
          <a:ln w="8890">
            <a:solidFill>
              <a:srgbClr val="D9E2E8"/>
            </a:solidFill>
            <a:prstDash val="solid"/>
          </a:ln>
        </p:spPr>
        <p:txBody>
          <a:bodyPr/>
          <a:p/>
        </p:txBody>
      </p:sp>
      <p:sp>
        <p:nvSpPr>
          <p:cNvPr id="25" name="Text 23"/>
          <p:cNvSpPr/>
          <p:nvPr/>
        </p:nvSpPr>
        <p:spPr>
          <a:xfrm>
            <a:off x="877824" y="5815584"/>
            <a:ext cx="10332720" cy="219456"/>
          </a:xfrm>
          <a:prstGeom prst="rect">
            <a:avLst/>
          </a:prstGeom>
          <a:noFill/>
          <a:ln/>
        </p:spPr>
        <p:txBody>
          <a:bodyPr wrap="square" lIns="0" tIns="0" rIns="0" bIns="0" rtlCol="0" anchor="ctr">
            <a:normAutofit/>
          </a:bodyPr>
          <a:lstStyle/>
          <a:p>
            <a:pPr algn="l" indent="0" marL="0">
              <a:buNone/>
            </a:pPr>
            <a:r>
              <a:rPr lang="en-US" sz="1500" dirty="0">
                <a:solidFill>
                  <a:srgbClr val="1C3044"/>
                </a:solidFill>
                <a:latin typeface="Aptos" pitchFamily="34" charset="0"/>
                <a:ea typeface="Aptos" pitchFamily="34" charset="-122"/>
                <a:cs typeface="Aptos" pitchFamily="34" charset="-120"/>
              </a:rPr>
              <a:t>La media de 3 meses proporciona un referente competitivo para evaluar modelos complejos.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oundRect">
            <a:avLst/>
          </a:prstGeom>
          <a:solidFill>
            <a:srgbClr val="12766C"/>
          </a:solidFill>
          <a:ln w="8890">
            <a:solidFill>
              <a:srgbClr val="12766C"/>
            </a:solidFill>
            <a:prstDash val="solid"/>
          </a:ln>
        </p:spPr>
        <p:txBody>
          <a:bodyPr/>
          <a:p/>
        </p:txBody>
      </p:sp>
      <p:sp>
        <p:nvSpPr>
          <p:cNvPr id="3" name="Text 1"/>
          <p:cNvSpPr/>
          <p:nvPr/>
        </p:nvSpPr>
        <p:spPr>
          <a:xfrm>
            <a:off x="585216" y="347472"/>
            <a:ext cx="10789920" cy="219456"/>
          </a:xfrm>
          <a:prstGeom prst="rect">
            <a:avLst/>
          </a:prstGeom>
          <a:noFill/>
          <a:ln/>
        </p:spPr>
        <p:txBody>
          <a:bodyPr wrap="square" lIns="0" tIns="0" rIns="0" bIns="0" rtlCol="0" anchor="ctr">
            <a:normAutofit/>
          </a:bodyPr>
          <a:lstStyle/>
          <a:p>
            <a:pPr algn="l" indent="0" marL="0">
              <a:buNone/>
            </a:pPr>
            <a:r>
              <a:rPr lang="en-US" sz="900" b="1" spc="150" kern="0" dirty="0">
                <a:solidFill>
                  <a:srgbClr val="12766C"/>
                </a:solidFill>
                <a:latin typeface="Aptos" pitchFamily="34" charset="0"/>
                <a:ea typeface="Aptos" pitchFamily="34" charset="-122"/>
                <a:cs typeface="Aptos" pitchFamily="34" charset="-120"/>
              </a:rPr>
              <a:t>MODELOS ESTOCÁSTICOS</a:t>
            </a:r>
            <a:endParaRPr lang="en-US" sz="900" dirty="0"/>
          </a:p>
        </p:txBody>
      </p:sp>
      <p:sp>
        <p:nvSpPr>
          <p:cNvPr id="4" name="Text 2"/>
          <p:cNvSpPr/>
          <p:nvPr/>
        </p:nvSpPr>
        <p:spPr>
          <a:xfrm>
            <a:off x="585216" y="749808"/>
            <a:ext cx="11064240" cy="658368"/>
          </a:xfrm>
          <a:prstGeom prst="rect">
            <a:avLst/>
          </a:prstGeom>
          <a:noFill/>
          <a:ln/>
        </p:spPr>
        <p:txBody>
          <a:bodyPr wrap="square" lIns="0" tIns="0" rIns="0" bIns="0" rtlCol="0" anchor="ctr">
            <a:normAutofit/>
          </a:bodyPr>
          <a:lstStyle/>
          <a:p>
            <a:pPr algn="l" indent="0" marL="0">
              <a:buNone/>
            </a:pPr>
            <a:r>
              <a:rPr lang="en-US" sz="2900" b="1" dirty="0">
                <a:solidFill>
                  <a:srgbClr val="10233C"/>
                </a:solidFill>
                <a:latin typeface="Aptos" pitchFamily="34" charset="0"/>
                <a:ea typeface="Aptos" pitchFamily="34" charset="-122"/>
                <a:cs typeface="Aptos" pitchFamily="34" charset="-120"/>
              </a:rPr>
              <a:t>Incertidumbre: cobertura, amplitud y transición</a:t>
            </a:r>
            <a:endParaRPr lang="en-US" sz="2900" dirty="0"/>
          </a:p>
        </p:txBody>
      </p:sp>
      <p:sp>
        <p:nvSpPr>
          <p:cNvPr id="5" name="Shape 3"/>
          <p:cNvSpPr/>
          <p:nvPr/>
        </p:nvSpPr>
        <p:spPr>
          <a:xfrm>
            <a:off x="585216" y="1508760"/>
            <a:ext cx="10991088" cy="0"/>
          </a:xfrm>
          <a:prstGeom prst="line">
            <a:avLst/>
          </a:prstGeom>
          <a:noFill/>
          <a:ln w="15875">
            <a:solidFill>
              <a:srgbClr val="D9E2E8"/>
            </a:solidFill>
            <a:prstDash val="solid"/>
          </a:ln>
        </p:spPr>
        <p:txBody>
          <a:bodyPr/>
          <a:p/>
        </p:txBody>
      </p:sp>
      <p:sp>
        <p:nvSpPr>
          <p:cNvPr id="6" name="Text 4"/>
          <p:cNvSpPr/>
          <p:nvPr/>
        </p:nvSpPr>
        <p:spPr>
          <a:xfrm>
            <a:off x="585216" y="6547104"/>
            <a:ext cx="9921240" cy="137160"/>
          </a:xfrm>
          <a:prstGeom prst="rect">
            <a:avLst/>
          </a:prstGeom>
          <a:noFill/>
          <a:ln/>
        </p:spPr>
        <p:txBody>
          <a:bodyPr wrap="square" lIns="0" tIns="0" rIns="0" bIns="0" rtlCol="0" anchor="ctr">
            <a:normAutofit/>
          </a:bodyPr>
          <a:lstStyle/>
          <a:p>
            <a:pPr algn="l" indent="0" marL="0">
              <a:buNone/>
            </a:pPr>
            <a:r>
              <a:rPr lang="en-US" sz="850" dirty="0">
                <a:solidFill>
                  <a:srgbClr val="5E7182"/>
                </a:solidFill>
                <a:latin typeface="Aptos" pitchFamily="34" charset="0"/>
                <a:ea typeface="Aptos" pitchFamily="34" charset="-122"/>
                <a:cs typeface="Aptos" pitchFamily="34" charset="-120"/>
              </a:rPr>
              <a:t>Elaboración propia · Series DataTur (SECTUR, s. f.)</a:t>
            </a:r>
            <a:endParaRPr lang="en-US" sz="850" dirty="0"/>
          </a:p>
        </p:txBody>
      </p:sp>
      <p:sp>
        <p:nvSpPr>
          <p:cNvPr id="7" name="Text 5"/>
          <p:cNvSpPr/>
          <p:nvPr/>
        </p:nvSpPr>
        <p:spPr>
          <a:xfrm>
            <a:off x="11018520" y="6519672"/>
            <a:ext cx="475488" cy="164592"/>
          </a:xfrm>
          <a:prstGeom prst="rect">
            <a:avLst/>
          </a:prstGeom>
          <a:noFill/>
          <a:ln/>
        </p:spPr>
        <p:txBody>
          <a:bodyPr wrap="square" lIns="0" tIns="0" rIns="0" bIns="0" rtlCol="0" anchor="ctr">
            <a:normAutofit/>
          </a:bodyPr>
          <a:lstStyle/>
          <a:p>
            <a:pPr algn="r" indent="0" marL="0">
              <a:buNone/>
            </a:pPr>
            <a:r>
              <a:rPr lang="en-US" sz="900" dirty="0">
                <a:solidFill>
                  <a:srgbClr val="5E7182"/>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868680" y="1901952"/>
            <a:ext cx="3337560" cy="292608"/>
          </a:xfrm>
          <a:prstGeom prst="rect">
            <a:avLst/>
          </a:prstGeom>
          <a:noFill/>
          <a:ln/>
        </p:spPr>
        <p:txBody>
          <a:bodyPr wrap="square" lIns="0" tIns="0" rIns="0" bIns="0" rtlCol="0" anchor="ctr">
            <a:normAutofit/>
          </a:bodyPr>
          <a:lstStyle/>
          <a:p>
            <a:pPr algn="l" indent="0" marL="0">
              <a:buNone/>
            </a:pPr>
            <a:r>
              <a:rPr lang="en-US" sz="1200" b="1" dirty="0">
                <a:solidFill>
                  <a:srgbClr val="5E7182"/>
                </a:solidFill>
                <a:latin typeface="Aptos" pitchFamily="34" charset="0"/>
                <a:ea typeface="Aptos" pitchFamily="34" charset="-122"/>
                <a:cs typeface="Aptos" pitchFamily="34" charset="-120"/>
              </a:rPr>
              <a:t>CENTRO</a:t>
            </a:r>
            <a:endParaRPr lang="en-US" sz="1200" dirty="0"/>
          </a:p>
        </p:txBody>
      </p:sp>
      <p:sp>
        <p:nvSpPr>
          <p:cNvPr id="9" name="Text 7"/>
          <p:cNvSpPr/>
          <p:nvPr/>
        </p:nvSpPr>
        <p:spPr>
          <a:xfrm>
            <a:off x="4379976" y="1901952"/>
            <a:ext cx="3310128" cy="292608"/>
          </a:xfrm>
          <a:prstGeom prst="rect">
            <a:avLst/>
          </a:prstGeom>
          <a:noFill/>
          <a:ln/>
        </p:spPr>
        <p:txBody>
          <a:bodyPr wrap="square" lIns="0" tIns="0" rIns="0" bIns="0" rtlCol="0" anchor="ctr">
            <a:normAutofit/>
          </a:bodyPr>
          <a:lstStyle/>
          <a:p>
            <a:pPr algn="l" indent="0" marL="0">
              <a:buNone/>
            </a:pPr>
            <a:r>
              <a:rPr lang="en-US" sz="1200" b="1" dirty="0">
                <a:solidFill>
                  <a:srgbClr val="5E7182"/>
                </a:solidFill>
                <a:latin typeface="Aptos" pitchFamily="34" charset="0"/>
                <a:ea typeface="Aptos" pitchFamily="34" charset="-122"/>
                <a:cs typeface="Aptos" pitchFamily="34" charset="-120"/>
              </a:rPr>
              <a:t>COBERTURA FIJA → MÓVIL</a:t>
            </a:r>
            <a:endParaRPr lang="en-US" sz="1200" dirty="0"/>
          </a:p>
        </p:txBody>
      </p:sp>
      <p:sp>
        <p:nvSpPr>
          <p:cNvPr id="10" name="Text 8"/>
          <p:cNvSpPr/>
          <p:nvPr/>
        </p:nvSpPr>
        <p:spPr>
          <a:xfrm>
            <a:off x="8412480" y="1901952"/>
            <a:ext cx="2743200" cy="292608"/>
          </a:xfrm>
          <a:prstGeom prst="rect">
            <a:avLst/>
          </a:prstGeom>
          <a:noFill/>
          <a:ln/>
        </p:spPr>
        <p:txBody>
          <a:bodyPr wrap="square" lIns="0" tIns="0" rIns="0" bIns="0" rtlCol="0" anchor="ctr">
            <a:normAutofit/>
          </a:bodyPr>
          <a:lstStyle/>
          <a:p>
            <a:pPr algn="l" indent="0" marL="0">
              <a:buNone/>
            </a:pPr>
            <a:r>
              <a:rPr lang="en-US" sz="1200" b="1" dirty="0">
                <a:solidFill>
                  <a:srgbClr val="5E7182"/>
                </a:solidFill>
                <a:latin typeface="Aptos" pitchFamily="34" charset="0"/>
                <a:ea typeface="Aptos" pitchFamily="34" charset="-122"/>
                <a:cs typeface="Aptos" pitchFamily="34" charset="-120"/>
              </a:rPr>
              <a:t>ANCHO PROMEDIO</a:t>
            </a:r>
            <a:endParaRPr lang="en-US" sz="1200" dirty="0"/>
          </a:p>
        </p:txBody>
      </p:sp>
      <p:sp>
        <p:nvSpPr>
          <p:cNvPr id="11" name="Shape 9"/>
          <p:cNvSpPr/>
          <p:nvPr/>
        </p:nvSpPr>
        <p:spPr>
          <a:xfrm>
            <a:off x="731520" y="2322576"/>
            <a:ext cx="10753344" cy="640080"/>
          </a:xfrm>
          <a:prstGeom prst="roundRect">
            <a:avLst>
              <a:gd name="adj" fmla="val 17143"/>
            </a:avLst>
          </a:prstGeom>
          <a:solidFill>
            <a:srgbClr val="EDF2F6"/>
          </a:solidFill>
          <a:ln w="8890">
            <a:solidFill>
              <a:srgbClr val="D9E2E8"/>
            </a:solidFill>
            <a:prstDash val="solid"/>
          </a:ln>
        </p:spPr>
        <p:txBody>
          <a:bodyPr/>
          <a:p/>
        </p:txBody>
      </p:sp>
      <p:sp>
        <p:nvSpPr>
          <p:cNvPr id="12" name="Text 10"/>
          <p:cNvSpPr/>
          <p:nvPr/>
        </p:nvSpPr>
        <p:spPr>
          <a:xfrm>
            <a:off x="877824" y="2487168"/>
            <a:ext cx="3364992" cy="246888"/>
          </a:xfrm>
          <a:prstGeom prst="rect">
            <a:avLst/>
          </a:prstGeom>
          <a:noFill/>
          <a:ln/>
        </p:spPr>
        <p:txBody>
          <a:bodyPr wrap="square" lIns="0" tIns="0" rIns="0" bIns="0" rtlCol="0" anchor="ctr">
            <a:normAutofit/>
          </a:bodyPr>
          <a:lstStyle/>
          <a:p>
            <a:pPr algn="l" indent="0" marL="0">
              <a:buNone/>
            </a:pPr>
            <a:r>
              <a:rPr lang="en-US" sz="1600" dirty="0">
                <a:solidFill>
                  <a:srgbClr val="1C3044"/>
                </a:solidFill>
                <a:latin typeface="Aptos" pitchFamily="34" charset="0"/>
                <a:ea typeface="Aptos" pitchFamily="34" charset="-122"/>
                <a:cs typeface="Aptos" pitchFamily="34" charset="-120"/>
              </a:rPr>
              <a:t>Coatzacoalcos</a:t>
            </a:r>
            <a:endParaRPr lang="en-US" sz="1600" dirty="0"/>
          </a:p>
        </p:txBody>
      </p:sp>
      <p:sp>
        <p:nvSpPr>
          <p:cNvPr id="13" name="Text 11"/>
          <p:cNvSpPr/>
          <p:nvPr/>
        </p:nvSpPr>
        <p:spPr>
          <a:xfrm>
            <a:off x="4407408" y="2487168"/>
            <a:ext cx="3310128" cy="246888"/>
          </a:xfrm>
          <a:prstGeom prst="rect">
            <a:avLst/>
          </a:prstGeom>
          <a:noFill/>
          <a:ln/>
        </p:spPr>
        <p:txBody>
          <a:bodyPr wrap="square" lIns="0" tIns="0" rIns="0" bIns="0" rtlCol="0" anchor="ctr">
            <a:normAutofit/>
          </a:bodyPr>
          <a:lstStyle/>
          <a:p>
            <a:pPr algn="l" indent="0" marL="0">
              <a:buNone/>
            </a:pPr>
            <a:r>
              <a:rPr lang="en-US" sz="1700" b="1" dirty="0">
                <a:solidFill>
                  <a:srgbClr val="12766C"/>
                </a:solidFill>
                <a:latin typeface="Aptos" pitchFamily="34" charset="0"/>
                <a:ea typeface="Aptos" pitchFamily="34" charset="-122"/>
                <a:cs typeface="Aptos" pitchFamily="34" charset="-120"/>
              </a:rPr>
              <a:t>68% → 89%</a:t>
            </a:r>
            <a:endParaRPr lang="en-US" sz="1700" dirty="0"/>
          </a:p>
        </p:txBody>
      </p:sp>
      <p:sp>
        <p:nvSpPr>
          <p:cNvPr id="14" name="Text 12"/>
          <p:cNvSpPr/>
          <p:nvPr/>
        </p:nvSpPr>
        <p:spPr>
          <a:xfrm>
            <a:off x="8375904" y="2487168"/>
            <a:ext cx="2926080" cy="246888"/>
          </a:xfrm>
          <a:prstGeom prst="rect">
            <a:avLst/>
          </a:prstGeom>
          <a:noFill/>
          <a:ln/>
        </p:spPr>
        <p:txBody>
          <a:bodyPr wrap="square" lIns="0" tIns="0" rIns="0" bIns="0" rtlCol="0" anchor="ctr">
            <a:normAutofit/>
          </a:bodyPr>
          <a:lstStyle/>
          <a:p>
            <a:pPr algn="l" indent="0" marL="0">
              <a:buNone/>
            </a:pPr>
            <a:r>
              <a:rPr lang="en-US" sz="1600" dirty="0">
                <a:solidFill>
                  <a:srgbClr val="1C3044"/>
                </a:solidFill>
                <a:latin typeface="Aptos" pitchFamily="34" charset="0"/>
                <a:ea typeface="Aptos" pitchFamily="34" charset="-122"/>
                <a:cs typeface="Aptos" pitchFamily="34" charset="-120"/>
              </a:rPr>
              <a:t>10.2 → 15.7 pp</a:t>
            </a:r>
            <a:endParaRPr lang="en-US" sz="1600" dirty="0"/>
          </a:p>
        </p:txBody>
      </p:sp>
      <p:sp>
        <p:nvSpPr>
          <p:cNvPr id="15" name="Shape 13"/>
          <p:cNvSpPr/>
          <p:nvPr/>
        </p:nvSpPr>
        <p:spPr>
          <a:xfrm>
            <a:off x="731520" y="3072384"/>
            <a:ext cx="10753344" cy="640080"/>
          </a:xfrm>
          <a:prstGeom prst="roundRect">
            <a:avLst>
              <a:gd name="adj" fmla="val 17143"/>
            </a:avLst>
          </a:prstGeom>
          <a:solidFill>
            <a:srgbClr val="FFFFFF"/>
          </a:solidFill>
          <a:ln w="8890">
            <a:solidFill>
              <a:srgbClr val="D9E2E8"/>
            </a:solidFill>
            <a:prstDash val="solid"/>
          </a:ln>
        </p:spPr>
        <p:txBody>
          <a:bodyPr/>
          <a:p/>
        </p:txBody>
      </p:sp>
      <p:sp>
        <p:nvSpPr>
          <p:cNvPr id="16" name="Text 14"/>
          <p:cNvSpPr/>
          <p:nvPr/>
        </p:nvSpPr>
        <p:spPr>
          <a:xfrm>
            <a:off x="877824" y="3236976"/>
            <a:ext cx="3364992" cy="246888"/>
          </a:xfrm>
          <a:prstGeom prst="rect">
            <a:avLst/>
          </a:prstGeom>
          <a:noFill/>
          <a:ln/>
        </p:spPr>
        <p:txBody>
          <a:bodyPr wrap="square" lIns="0" tIns="0" rIns="0" bIns="0" rtlCol="0" anchor="ctr">
            <a:normAutofit/>
          </a:bodyPr>
          <a:lstStyle/>
          <a:p>
            <a:pPr algn="l" indent="0" marL="0">
              <a:buNone/>
            </a:pPr>
            <a:r>
              <a:rPr lang="en-US" sz="1600" dirty="0">
                <a:solidFill>
                  <a:srgbClr val="1C3044"/>
                </a:solidFill>
                <a:latin typeface="Aptos" pitchFamily="34" charset="0"/>
                <a:ea typeface="Aptos" pitchFamily="34" charset="-122"/>
                <a:cs typeface="Aptos" pitchFamily="34" charset="-120"/>
              </a:rPr>
              <a:t>Veracruz–Boca del Río</a:t>
            </a:r>
            <a:endParaRPr lang="en-US" sz="1600" dirty="0"/>
          </a:p>
        </p:txBody>
      </p:sp>
      <p:sp>
        <p:nvSpPr>
          <p:cNvPr id="17" name="Text 15"/>
          <p:cNvSpPr/>
          <p:nvPr/>
        </p:nvSpPr>
        <p:spPr>
          <a:xfrm>
            <a:off x="4407408" y="3236976"/>
            <a:ext cx="3310128" cy="246888"/>
          </a:xfrm>
          <a:prstGeom prst="rect">
            <a:avLst/>
          </a:prstGeom>
          <a:noFill/>
          <a:ln/>
        </p:spPr>
        <p:txBody>
          <a:bodyPr wrap="square" lIns="0" tIns="0" rIns="0" bIns="0" rtlCol="0" anchor="ctr">
            <a:normAutofit/>
          </a:bodyPr>
          <a:lstStyle/>
          <a:p>
            <a:pPr algn="l" indent="0" marL="0">
              <a:buNone/>
            </a:pPr>
            <a:r>
              <a:rPr lang="en-US" sz="1700" b="1" dirty="0">
                <a:solidFill>
                  <a:srgbClr val="12766C"/>
                </a:solidFill>
                <a:latin typeface="Aptos" pitchFamily="34" charset="0"/>
                <a:ea typeface="Aptos" pitchFamily="34" charset="-122"/>
                <a:cs typeface="Aptos" pitchFamily="34" charset="-120"/>
              </a:rPr>
              <a:t>93% → 93%</a:t>
            </a:r>
            <a:endParaRPr lang="en-US" sz="1700" dirty="0"/>
          </a:p>
        </p:txBody>
      </p:sp>
      <p:sp>
        <p:nvSpPr>
          <p:cNvPr id="18" name="Text 16"/>
          <p:cNvSpPr/>
          <p:nvPr/>
        </p:nvSpPr>
        <p:spPr>
          <a:xfrm>
            <a:off x="8375904" y="3236976"/>
            <a:ext cx="2926080" cy="246888"/>
          </a:xfrm>
          <a:prstGeom prst="rect">
            <a:avLst/>
          </a:prstGeom>
          <a:noFill/>
          <a:ln/>
        </p:spPr>
        <p:txBody>
          <a:bodyPr wrap="square" lIns="0" tIns="0" rIns="0" bIns="0" rtlCol="0" anchor="ctr">
            <a:normAutofit/>
          </a:bodyPr>
          <a:lstStyle/>
          <a:p>
            <a:pPr algn="l" indent="0" marL="0">
              <a:buNone/>
            </a:pPr>
            <a:r>
              <a:rPr lang="en-US" sz="1600" dirty="0">
                <a:solidFill>
                  <a:srgbClr val="1C3044"/>
                </a:solidFill>
                <a:latin typeface="Aptos" pitchFamily="34" charset="0"/>
                <a:ea typeface="Aptos" pitchFamily="34" charset="-122"/>
                <a:cs typeface="Aptos" pitchFamily="34" charset="-120"/>
              </a:rPr>
              <a:t>24.4 → 26.7 pp</a:t>
            </a:r>
            <a:endParaRPr lang="en-US" sz="1600" dirty="0"/>
          </a:p>
        </p:txBody>
      </p:sp>
      <p:sp>
        <p:nvSpPr>
          <p:cNvPr id="19" name="Shape 17"/>
          <p:cNvSpPr/>
          <p:nvPr/>
        </p:nvSpPr>
        <p:spPr>
          <a:xfrm>
            <a:off x="731520" y="3822192"/>
            <a:ext cx="10753344" cy="640080"/>
          </a:xfrm>
          <a:prstGeom prst="roundRect">
            <a:avLst>
              <a:gd name="adj" fmla="val 17143"/>
            </a:avLst>
          </a:prstGeom>
          <a:solidFill>
            <a:srgbClr val="EDF2F6"/>
          </a:solidFill>
          <a:ln w="8890">
            <a:solidFill>
              <a:srgbClr val="D9E2E8"/>
            </a:solidFill>
            <a:prstDash val="solid"/>
          </a:ln>
        </p:spPr>
        <p:txBody>
          <a:bodyPr/>
          <a:p/>
        </p:txBody>
      </p:sp>
      <p:sp>
        <p:nvSpPr>
          <p:cNvPr id="20" name="Text 18"/>
          <p:cNvSpPr/>
          <p:nvPr/>
        </p:nvSpPr>
        <p:spPr>
          <a:xfrm>
            <a:off x="877824" y="3986784"/>
            <a:ext cx="3364992" cy="246888"/>
          </a:xfrm>
          <a:prstGeom prst="rect">
            <a:avLst/>
          </a:prstGeom>
          <a:noFill/>
          <a:ln/>
        </p:spPr>
        <p:txBody>
          <a:bodyPr wrap="square" lIns="0" tIns="0" rIns="0" bIns="0" rtlCol="0" anchor="ctr">
            <a:normAutofit/>
          </a:bodyPr>
          <a:lstStyle/>
          <a:p>
            <a:pPr algn="l" indent="0" marL="0">
              <a:buNone/>
            </a:pPr>
            <a:r>
              <a:rPr lang="en-US" sz="1600" dirty="0">
                <a:solidFill>
                  <a:srgbClr val="1C3044"/>
                </a:solidFill>
                <a:latin typeface="Aptos" pitchFamily="34" charset="0"/>
                <a:ea typeface="Aptos" pitchFamily="34" charset="-122"/>
                <a:cs typeface="Aptos" pitchFamily="34" charset="-120"/>
              </a:rPr>
              <a:t>Xalapa</a:t>
            </a:r>
            <a:endParaRPr lang="en-US" sz="1600" dirty="0"/>
          </a:p>
        </p:txBody>
      </p:sp>
      <p:sp>
        <p:nvSpPr>
          <p:cNvPr id="21" name="Text 19"/>
          <p:cNvSpPr/>
          <p:nvPr/>
        </p:nvSpPr>
        <p:spPr>
          <a:xfrm>
            <a:off x="4407408" y="3986784"/>
            <a:ext cx="3310128" cy="246888"/>
          </a:xfrm>
          <a:prstGeom prst="rect">
            <a:avLst/>
          </a:prstGeom>
          <a:noFill/>
          <a:ln/>
        </p:spPr>
        <p:txBody>
          <a:bodyPr wrap="square" lIns="0" tIns="0" rIns="0" bIns="0" rtlCol="0" anchor="ctr">
            <a:normAutofit/>
          </a:bodyPr>
          <a:lstStyle/>
          <a:p>
            <a:pPr algn="l" indent="0" marL="0">
              <a:buNone/>
            </a:pPr>
            <a:r>
              <a:rPr lang="en-US" sz="1700" b="1" dirty="0">
                <a:solidFill>
                  <a:srgbClr val="12766C"/>
                </a:solidFill>
                <a:latin typeface="Aptos" pitchFamily="34" charset="0"/>
                <a:ea typeface="Aptos" pitchFamily="34" charset="-122"/>
                <a:cs typeface="Aptos" pitchFamily="34" charset="-120"/>
              </a:rPr>
              <a:t>89% → 84%</a:t>
            </a:r>
            <a:endParaRPr lang="en-US" sz="1700" dirty="0"/>
          </a:p>
        </p:txBody>
      </p:sp>
      <p:sp>
        <p:nvSpPr>
          <p:cNvPr id="22" name="Text 20"/>
          <p:cNvSpPr/>
          <p:nvPr/>
        </p:nvSpPr>
        <p:spPr>
          <a:xfrm>
            <a:off x="8375904" y="3986784"/>
            <a:ext cx="2926080" cy="246888"/>
          </a:xfrm>
          <a:prstGeom prst="rect">
            <a:avLst/>
          </a:prstGeom>
          <a:noFill/>
          <a:ln/>
        </p:spPr>
        <p:txBody>
          <a:bodyPr wrap="square" lIns="0" tIns="0" rIns="0" bIns="0" rtlCol="0" anchor="ctr">
            <a:normAutofit/>
          </a:bodyPr>
          <a:lstStyle/>
          <a:p>
            <a:pPr algn="l" indent="0" marL="0">
              <a:buNone/>
            </a:pPr>
            <a:r>
              <a:rPr lang="en-US" sz="1600" dirty="0">
                <a:solidFill>
                  <a:srgbClr val="1C3044"/>
                </a:solidFill>
                <a:latin typeface="Aptos" pitchFamily="34" charset="0"/>
                <a:ea typeface="Aptos" pitchFamily="34" charset="-122"/>
                <a:cs typeface="Aptos" pitchFamily="34" charset="-120"/>
              </a:rPr>
              <a:t>21.1 → 45.2 pp</a:t>
            </a:r>
            <a:endParaRPr lang="en-US" sz="1600" dirty="0"/>
          </a:p>
        </p:txBody>
      </p:sp>
      <p:sp>
        <p:nvSpPr>
          <p:cNvPr id="23" name="Shape 21"/>
          <p:cNvSpPr/>
          <p:nvPr/>
        </p:nvSpPr>
        <p:spPr>
          <a:xfrm>
            <a:off x="713232" y="4983480"/>
            <a:ext cx="10789920" cy="804672"/>
          </a:xfrm>
          <a:prstGeom prst="roundRect">
            <a:avLst>
              <a:gd name="adj" fmla="val 13636"/>
            </a:avLst>
          </a:prstGeom>
          <a:solidFill>
            <a:srgbClr val="F7F3E9"/>
          </a:solidFill>
          <a:ln w="8890">
            <a:solidFill>
              <a:srgbClr val="D9E2E8"/>
            </a:solidFill>
            <a:prstDash val="solid"/>
          </a:ln>
        </p:spPr>
        <p:txBody>
          <a:bodyPr/>
          <a:p/>
        </p:txBody>
      </p:sp>
      <p:sp>
        <p:nvSpPr>
          <p:cNvPr id="24" name="Text 22"/>
          <p:cNvSpPr/>
          <p:nvPr/>
        </p:nvSpPr>
        <p:spPr>
          <a:xfrm>
            <a:off x="923544" y="5166360"/>
            <a:ext cx="10149840" cy="274320"/>
          </a:xfrm>
          <a:prstGeom prst="rect">
            <a:avLst/>
          </a:prstGeom>
          <a:noFill/>
          <a:ln/>
        </p:spPr>
        <p:txBody>
          <a:bodyPr wrap="square" lIns="0" tIns="0" rIns="0" bIns="0" rtlCol="0" anchor="ctr">
            <a:normAutofit/>
          </a:bodyPr>
          <a:lstStyle/>
          <a:p>
            <a:pPr algn="l" indent="0" marL="0">
              <a:buNone/>
            </a:pPr>
            <a:r>
              <a:rPr lang="en-US" sz="2100" b="1" dirty="0">
                <a:solidFill>
                  <a:srgbClr val="10233C"/>
                </a:solidFill>
                <a:latin typeface="Aptos" pitchFamily="34" charset="0"/>
                <a:ea typeface="Aptos" pitchFamily="34" charset="-122"/>
                <a:cs typeface="Aptos" pitchFamily="34" charset="-120"/>
              </a:rPr>
              <a:t>Markov: 8/20 aciertos = 40%; igual que persistencia.</a:t>
            </a:r>
            <a:endParaRPr lang="en-US" sz="2100" dirty="0"/>
          </a:p>
        </p:txBody>
      </p:sp>
      <p:sp>
        <p:nvSpPr>
          <p:cNvPr id="25" name="Text 23"/>
          <p:cNvSpPr/>
          <p:nvPr/>
        </p:nvSpPr>
        <p:spPr>
          <a:xfrm>
            <a:off x="749808" y="6007608"/>
            <a:ext cx="10744200" cy="201168"/>
          </a:xfrm>
          <a:prstGeom prst="rect">
            <a:avLst/>
          </a:prstGeom>
          <a:noFill/>
          <a:ln/>
        </p:spPr>
        <p:txBody>
          <a:bodyPr wrap="square" lIns="0" tIns="0" rIns="0" bIns="0" rtlCol="0" anchor="ctr">
            <a:normAutofit/>
          </a:bodyPr>
          <a:lstStyle/>
          <a:p>
            <a:pPr algn="l" indent="0" marL="0">
              <a:buNone/>
            </a:pPr>
            <a:r>
              <a:rPr lang="en-US" sz="1200" dirty="0">
                <a:solidFill>
                  <a:srgbClr val="B64A44"/>
                </a:solidFill>
                <a:latin typeface="Aptos" pitchFamily="34" charset="0"/>
                <a:ea typeface="Aptos" pitchFamily="34" charset="-122"/>
                <a:cs typeface="Aptos" pitchFamily="34" charset="-120"/>
              </a:rPr>
              <a:t>Cobertura y amplitud se evalúan de manera conjunta para interpretar la incertidumbre.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oundRect">
            <a:avLst/>
          </a:prstGeom>
          <a:solidFill>
            <a:srgbClr val="12766C"/>
          </a:solidFill>
          <a:ln w="8890">
            <a:solidFill>
              <a:srgbClr val="12766C"/>
            </a:solidFill>
            <a:prstDash val="solid"/>
          </a:ln>
        </p:spPr>
        <p:txBody>
          <a:bodyPr/>
          <a:p/>
        </p:txBody>
      </p:sp>
      <p:sp>
        <p:nvSpPr>
          <p:cNvPr id="3" name="Text 1"/>
          <p:cNvSpPr/>
          <p:nvPr/>
        </p:nvSpPr>
        <p:spPr>
          <a:xfrm>
            <a:off x="585216" y="347472"/>
            <a:ext cx="10789920" cy="219456"/>
          </a:xfrm>
          <a:prstGeom prst="rect">
            <a:avLst/>
          </a:prstGeom>
          <a:noFill/>
          <a:ln/>
        </p:spPr>
        <p:txBody>
          <a:bodyPr wrap="square" lIns="0" tIns="0" rIns="0" bIns="0" rtlCol="0" anchor="ctr">
            <a:normAutofit/>
          </a:bodyPr>
          <a:lstStyle/>
          <a:p>
            <a:pPr algn="l" indent="0" marL="0">
              <a:buNone/>
            </a:pPr>
            <a:r>
              <a:rPr lang="en-US" sz="900" b="1" spc="150" kern="0" dirty="0">
                <a:solidFill>
                  <a:srgbClr val="12766C"/>
                </a:solidFill>
                <a:latin typeface="Aptos" pitchFamily="34" charset="0"/>
                <a:ea typeface="Aptos" pitchFamily="34" charset="-122"/>
                <a:cs typeface="Aptos" pitchFamily="34" charset="-120"/>
              </a:rPr>
              <a:t>ASIGNACIÓN BAJO RESTRICCIONES</a:t>
            </a:r>
            <a:endParaRPr lang="en-US" sz="900" dirty="0"/>
          </a:p>
        </p:txBody>
      </p:sp>
      <p:sp>
        <p:nvSpPr>
          <p:cNvPr id="4" name="Text 2"/>
          <p:cNvSpPr/>
          <p:nvPr/>
        </p:nvSpPr>
        <p:spPr>
          <a:xfrm>
            <a:off x="585216" y="749808"/>
            <a:ext cx="11064240" cy="658368"/>
          </a:xfrm>
          <a:prstGeom prst="rect">
            <a:avLst/>
          </a:prstGeom>
          <a:noFill/>
          <a:ln/>
        </p:spPr>
        <p:txBody>
          <a:bodyPr wrap="square" lIns="0" tIns="0" rIns="0" bIns="0" rtlCol="0" anchor="ctr">
            <a:normAutofit/>
          </a:bodyPr>
          <a:lstStyle/>
          <a:p>
            <a:pPr algn="l" indent="0" marL="0">
              <a:buNone/>
            </a:pPr>
            <a:r>
              <a:rPr lang="en-US" sz="2900" b="1" dirty="0">
                <a:solidFill>
                  <a:srgbClr val="10233C"/>
                </a:solidFill>
                <a:latin typeface="Aptos" pitchFamily="34" charset="0"/>
                <a:ea typeface="Aptos" pitchFamily="34" charset="-122"/>
                <a:cs typeface="Aptos" pitchFamily="34" charset="-120"/>
              </a:rPr>
              <a:t>Investigación de Operaciones: máxima cobertura</a:t>
            </a:r>
            <a:endParaRPr lang="en-US" sz="2900" dirty="0"/>
          </a:p>
        </p:txBody>
      </p:sp>
      <p:sp>
        <p:nvSpPr>
          <p:cNvPr id="5" name="Shape 3"/>
          <p:cNvSpPr/>
          <p:nvPr/>
        </p:nvSpPr>
        <p:spPr>
          <a:xfrm>
            <a:off x="585216" y="1508760"/>
            <a:ext cx="10991088" cy="0"/>
          </a:xfrm>
          <a:prstGeom prst="line">
            <a:avLst/>
          </a:prstGeom>
          <a:noFill/>
          <a:ln w="15875">
            <a:solidFill>
              <a:srgbClr val="D9E2E8"/>
            </a:solidFill>
            <a:prstDash val="solid"/>
          </a:ln>
        </p:spPr>
        <p:txBody>
          <a:bodyPr/>
          <a:p/>
        </p:txBody>
      </p:sp>
      <p:sp>
        <p:nvSpPr>
          <p:cNvPr id="6" name="Text 4"/>
          <p:cNvSpPr/>
          <p:nvPr/>
        </p:nvSpPr>
        <p:spPr>
          <a:xfrm>
            <a:off x="585216" y="6547104"/>
            <a:ext cx="9921240" cy="137160"/>
          </a:xfrm>
          <a:prstGeom prst="rect">
            <a:avLst/>
          </a:prstGeom>
          <a:noFill/>
          <a:ln/>
        </p:spPr>
        <p:txBody>
          <a:bodyPr wrap="square" lIns="0" tIns="0" rIns="0" bIns="0" rtlCol="0" anchor="ctr">
            <a:normAutofit/>
          </a:bodyPr>
          <a:lstStyle/>
          <a:p>
            <a:pPr algn="l" indent="0" marL="0">
              <a:buNone/>
            </a:pPr>
            <a:r>
              <a:rPr lang="en-US" sz="850" dirty="0">
                <a:solidFill>
                  <a:srgbClr val="5E7182"/>
                </a:solidFill>
                <a:latin typeface="Aptos" pitchFamily="34" charset="0"/>
                <a:ea typeface="Aptos" pitchFamily="34" charset="-122"/>
                <a:cs typeface="Aptos" pitchFamily="34" charset="-120"/>
              </a:rPr>
              <a:t>Elaboración propia · Matriz municipio–actividad documentada</a:t>
            </a:r>
            <a:endParaRPr lang="en-US" sz="850" dirty="0"/>
          </a:p>
        </p:txBody>
      </p:sp>
      <p:sp>
        <p:nvSpPr>
          <p:cNvPr id="7" name="Text 5"/>
          <p:cNvSpPr/>
          <p:nvPr/>
        </p:nvSpPr>
        <p:spPr>
          <a:xfrm>
            <a:off x="11018520" y="6519672"/>
            <a:ext cx="475488" cy="164592"/>
          </a:xfrm>
          <a:prstGeom prst="rect">
            <a:avLst/>
          </a:prstGeom>
          <a:noFill/>
          <a:ln/>
        </p:spPr>
        <p:txBody>
          <a:bodyPr wrap="square" lIns="0" tIns="0" rIns="0" bIns="0" rtlCol="0" anchor="ctr">
            <a:normAutofit/>
          </a:bodyPr>
          <a:lstStyle/>
          <a:p>
            <a:pPr algn="r" indent="0" marL="0">
              <a:buNone/>
            </a:pPr>
            <a:r>
              <a:rPr lang="en-US" sz="900" dirty="0">
                <a:solidFill>
                  <a:srgbClr val="5E7182"/>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76656" y="1911096"/>
            <a:ext cx="4645152" cy="3630168"/>
          </a:xfrm>
          <a:prstGeom prst="roundRect">
            <a:avLst>
              <a:gd name="adj" fmla="val 3023"/>
            </a:avLst>
          </a:prstGeom>
          <a:solidFill>
            <a:srgbClr val="10233C"/>
          </a:solidFill>
          <a:ln w="8890">
            <a:solidFill>
              <a:srgbClr val="D9E2E8"/>
            </a:solidFill>
            <a:prstDash val="solid"/>
          </a:ln>
        </p:spPr>
        <p:txBody>
          <a:bodyPr/>
          <a:p/>
        </p:txBody>
      </p:sp>
      <p:sp>
        <p:nvSpPr>
          <p:cNvPr id="9" name="Text 7"/>
          <p:cNvSpPr/>
          <p:nvPr/>
        </p:nvSpPr>
        <p:spPr>
          <a:xfrm>
            <a:off x="987552" y="2267712"/>
            <a:ext cx="4023360" cy="384048"/>
          </a:xfrm>
          <a:prstGeom prst="rect">
            <a:avLst/>
          </a:prstGeom>
          <a:noFill/>
          <a:ln/>
        </p:spPr>
        <p:txBody>
          <a:bodyPr wrap="square" lIns="0" tIns="0" rIns="0" bIns="0" rtlCol="0" anchor="ctr">
            <a:normAutofit/>
          </a:bodyPr>
          <a:lstStyle/>
          <a:p>
            <a:pPr algn="l" indent="0" marL="0">
              <a:buNone/>
            </a:pPr>
            <a:r>
              <a:rPr lang="en-US" sz="1800" b="1" dirty="0">
                <a:solidFill>
                  <a:srgbClr val="B7DFD9"/>
                </a:solidFill>
                <a:latin typeface="Aptos" pitchFamily="34" charset="0"/>
                <a:ea typeface="Aptos" pitchFamily="34" charset="-122"/>
                <a:cs typeface="Aptos" pitchFamily="34" charset="-120"/>
              </a:rPr>
              <a:t>MAXIMIZAR</a:t>
            </a:r>
            <a:endParaRPr lang="en-US" sz="1800" dirty="0"/>
          </a:p>
        </p:txBody>
      </p:sp>
      <p:sp>
        <p:nvSpPr>
          <p:cNvPr id="10" name="Text 8"/>
          <p:cNvSpPr/>
          <p:nvPr/>
        </p:nvSpPr>
        <p:spPr>
          <a:xfrm>
            <a:off x="969264" y="2770632"/>
            <a:ext cx="3931920" cy="1033272"/>
          </a:xfrm>
          <a:prstGeom prst="rect">
            <a:avLst/>
          </a:prstGeom>
          <a:noFill/>
          <a:ln/>
        </p:spPr>
        <p:txBody>
          <a:bodyPr wrap="square" lIns="0" tIns="0" rIns="0" bIns="0" rtlCol="0" anchor="ctr">
            <a:normAutofit/>
          </a:bodyPr>
          <a:lstStyle/>
          <a:p>
            <a:pPr algn="l" indent="0" marL="0">
              <a:buNone/>
            </a:pPr>
            <a:r>
              <a:rPr lang="en-US" sz="7300" b="1" dirty="0">
                <a:solidFill>
                  <a:srgbClr val="FFFFFF"/>
                </a:solidFill>
                <a:latin typeface="Aptos" pitchFamily="34" charset="0"/>
                <a:ea typeface="Aptos" pitchFamily="34" charset="-122"/>
                <a:cs typeface="Aptos" pitchFamily="34" charset="-120"/>
              </a:rPr>
              <a:t>47</a:t>
            </a:r>
            <a:endParaRPr lang="en-US" sz="7300" dirty="0"/>
          </a:p>
        </p:txBody>
      </p:sp>
      <p:sp>
        <p:nvSpPr>
          <p:cNvPr id="11" name="Text 9"/>
          <p:cNvSpPr/>
          <p:nvPr/>
        </p:nvSpPr>
        <p:spPr>
          <a:xfrm>
            <a:off x="987552" y="4023360"/>
            <a:ext cx="3877056" cy="621792"/>
          </a:xfrm>
          <a:prstGeom prst="rect">
            <a:avLst/>
          </a:prstGeom>
          <a:noFill/>
          <a:ln/>
        </p:spPr>
        <p:txBody>
          <a:bodyPr wrap="square" lIns="0" tIns="0" rIns="0" bIns="0" rtlCol="0" anchor="ctr">
            <a:normAutofit/>
          </a:bodyPr>
          <a:lstStyle/>
          <a:p>
            <a:pPr algn="l" indent="0" marL="0">
              <a:buNone/>
            </a:pPr>
            <a:r>
              <a:rPr lang="en-US" sz="2100" dirty="0">
                <a:solidFill>
                  <a:srgbClr val="FFFFFF"/>
                </a:solidFill>
                <a:latin typeface="Aptos" pitchFamily="34" charset="0"/>
                <a:ea typeface="Aptos" pitchFamily="34" charset="-122"/>
                <a:cs typeface="Aptos" pitchFamily="34" charset="-120"/>
              </a:rPr>
              <a:t>tipos de actividad cubiertos</a:t>
            </a:r>
            <a:endParaRPr lang="en-US" sz="2100" dirty="0"/>
          </a:p>
        </p:txBody>
      </p:sp>
      <p:sp>
        <p:nvSpPr>
          <p:cNvPr id="12" name="Text 10"/>
          <p:cNvSpPr/>
          <p:nvPr/>
        </p:nvSpPr>
        <p:spPr>
          <a:xfrm>
            <a:off x="996696" y="4946904"/>
            <a:ext cx="4032504" cy="301752"/>
          </a:xfrm>
          <a:prstGeom prst="rect">
            <a:avLst/>
          </a:prstGeom>
          <a:noFill/>
          <a:ln/>
        </p:spPr>
        <p:txBody>
          <a:bodyPr wrap="square" lIns="0" tIns="0" rIns="0" bIns="0" rtlCol="0" anchor="ctr">
            <a:normAutofit/>
          </a:bodyPr>
          <a:lstStyle/>
          <a:p>
            <a:pPr algn="l" indent="0" marL="0">
              <a:buNone/>
            </a:pPr>
            <a:r>
              <a:rPr lang="en-US" sz="1300" dirty="0">
                <a:solidFill>
                  <a:srgbClr val="D6E9E8"/>
                </a:solidFill>
                <a:latin typeface="Aptos" pitchFamily="34" charset="0"/>
                <a:ea typeface="Aptos" pitchFamily="34" charset="-122"/>
                <a:cs typeface="Aptos" pitchFamily="34" charset="-120"/>
              </a:rPr>
              <a:t>6 ubicaciones × $5,000 supuestos = $30,000</a:t>
            </a:r>
            <a:endParaRPr lang="en-US" sz="1300" dirty="0"/>
          </a:p>
        </p:txBody>
      </p:sp>
      <p:sp>
        <p:nvSpPr>
          <p:cNvPr id="13" name="Shape 11"/>
          <p:cNvSpPr/>
          <p:nvPr/>
        </p:nvSpPr>
        <p:spPr>
          <a:xfrm>
            <a:off x="5577840" y="1911096"/>
            <a:ext cx="5907024" cy="3630168"/>
          </a:xfrm>
          <a:prstGeom prst="roundRect">
            <a:avLst>
              <a:gd name="adj" fmla="val 3023"/>
            </a:avLst>
          </a:prstGeom>
          <a:solidFill>
            <a:srgbClr val="E3F6F2"/>
          </a:solidFill>
          <a:ln w="8890">
            <a:solidFill>
              <a:srgbClr val="D9E2E8"/>
            </a:solidFill>
            <a:prstDash val="solid"/>
          </a:ln>
        </p:spPr>
        <p:txBody>
          <a:bodyPr/>
          <a:p/>
        </p:txBody>
      </p:sp>
      <p:sp>
        <p:nvSpPr>
          <p:cNvPr id="14" name="Text 12"/>
          <p:cNvSpPr/>
          <p:nvPr/>
        </p:nvSpPr>
        <p:spPr>
          <a:xfrm>
            <a:off x="5879592" y="2221992"/>
            <a:ext cx="5358384" cy="310896"/>
          </a:xfrm>
          <a:prstGeom prst="rect">
            <a:avLst/>
          </a:prstGeom>
          <a:noFill/>
          <a:ln/>
        </p:spPr>
        <p:txBody>
          <a:bodyPr wrap="square" lIns="0" tIns="0" rIns="0" bIns="0" rtlCol="0" anchor="ctr">
            <a:normAutofit/>
          </a:bodyPr>
          <a:lstStyle/>
          <a:p>
            <a:pPr algn="l" indent="0" marL="0">
              <a:buNone/>
            </a:pPr>
            <a:r>
              <a:rPr lang="en-US" sz="1900" b="1" dirty="0">
                <a:solidFill>
                  <a:srgbClr val="12766C"/>
                </a:solidFill>
                <a:latin typeface="Aptos" pitchFamily="34" charset="0"/>
                <a:ea typeface="Aptos" pitchFamily="34" charset="-122"/>
                <a:cs typeface="Aptos" pitchFamily="34" charset="-120"/>
              </a:rPr>
              <a:t>Municipios seleccionados</a:t>
            </a:r>
            <a:endParaRPr lang="en-US" sz="1900" dirty="0"/>
          </a:p>
        </p:txBody>
      </p:sp>
      <p:sp>
        <p:nvSpPr>
          <p:cNvPr id="15" name="Shape 13"/>
          <p:cNvSpPr/>
          <p:nvPr/>
        </p:nvSpPr>
        <p:spPr>
          <a:xfrm>
            <a:off x="5907024" y="2816352"/>
            <a:ext cx="86868" cy="86868"/>
          </a:xfrm>
          <a:prstGeom prst="ellipse">
            <a:avLst/>
          </a:prstGeom>
          <a:solidFill>
            <a:srgbClr val="12766C"/>
          </a:solidFill>
          <a:ln w="12700">
            <a:solidFill>
              <a:srgbClr val="12766C"/>
            </a:solidFill>
            <a:prstDash val="solid"/>
          </a:ln>
        </p:spPr>
        <p:txBody>
          <a:bodyPr/>
          <a:p/>
        </p:txBody>
      </p:sp>
      <p:sp>
        <p:nvSpPr>
          <p:cNvPr id="16" name="Text 14"/>
          <p:cNvSpPr/>
          <p:nvPr/>
        </p:nvSpPr>
        <p:spPr>
          <a:xfrm>
            <a:off x="6099048" y="2670048"/>
            <a:ext cx="5074920" cy="411480"/>
          </a:xfrm>
          <a:prstGeom prst="rect">
            <a:avLst/>
          </a:prstGeom>
          <a:noFill/>
          <a:ln/>
        </p:spPr>
        <p:txBody>
          <a:bodyPr wrap="square" lIns="0" tIns="0" rIns="0" bIns="0" rtlCol="0" anchor="ctr">
            <a:normAutofit/>
          </a:bodyPr>
          <a:lstStyle/>
          <a:p>
            <a:pPr algn="l" indent="0" marL="0">
              <a:buNone/>
            </a:pPr>
            <a:r>
              <a:rPr lang="en-US" sz="1700" dirty="0">
                <a:solidFill>
                  <a:srgbClr val="1C3044"/>
                </a:solidFill>
                <a:latin typeface="Aptos" pitchFamily="34" charset="0"/>
                <a:ea typeface="Aptos" pitchFamily="34" charset="-122"/>
                <a:cs typeface="Aptos" pitchFamily="34" charset="-120"/>
              </a:rPr>
              <a:t>Atlahuilco</a:t>
            </a:r>
            <a:endParaRPr lang="en-US" sz="1700" dirty="0"/>
          </a:p>
        </p:txBody>
      </p:sp>
      <p:sp>
        <p:nvSpPr>
          <p:cNvPr id="17" name="Shape 15"/>
          <p:cNvSpPr/>
          <p:nvPr/>
        </p:nvSpPr>
        <p:spPr>
          <a:xfrm>
            <a:off x="5907024" y="3246120"/>
            <a:ext cx="86868" cy="86868"/>
          </a:xfrm>
          <a:prstGeom prst="ellipse">
            <a:avLst/>
          </a:prstGeom>
          <a:solidFill>
            <a:srgbClr val="12766C"/>
          </a:solidFill>
          <a:ln w="12700">
            <a:solidFill>
              <a:srgbClr val="12766C"/>
            </a:solidFill>
            <a:prstDash val="solid"/>
          </a:ln>
        </p:spPr>
        <p:txBody>
          <a:bodyPr/>
          <a:p/>
        </p:txBody>
      </p:sp>
      <p:sp>
        <p:nvSpPr>
          <p:cNvPr id="18" name="Text 16"/>
          <p:cNvSpPr/>
          <p:nvPr/>
        </p:nvSpPr>
        <p:spPr>
          <a:xfrm>
            <a:off x="6099048" y="3099816"/>
            <a:ext cx="5074920" cy="411480"/>
          </a:xfrm>
          <a:prstGeom prst="rect">
            <a:avLst/>
          </a:prstGeom>
          <a:noFill/>
          <a:ln/>
        </p:spPr>
        <p:txBody>
          <a:bodyPr wrap="square" lIns="0" tIns="0" rIns="0" bIns="0" rtlCol="0" anchor="ctr">
            <a:normAutofit/>
          </a:bodyPr>
          <a:lstStyle/>
          <a:p>
            <a:pPr algn="l" indent="0" marL="0">
              <a:buNone/>
            </a:pPr>
            <a:r>
              <a:rPr lang="en-US" sz="1700" dirty="0">
                <a:solidFill>
                  <a:srgbClr val="1C3044"/>
                </a:solidFill>
                <a:latin typeface="Aptos" pitchFamily="34" charset="0"/>
                <a:ea typeface="Aptos" pitchFamily="34" charset="-122"/>
                <a:cs typeface="Aptos" pitchFamily="34" charset="-120"/>
              </a:rPr>
              <a:t>Catemaco</a:t>
            </a:r>
            <a:endParaRPr lang="en-US" sz="1700" dirty="0"/>
          </a:p>
        </p:txBody>
      </p:sp>
      <p:sp>
        <p:nvSpPr>
          <p:cNvPr id="19" name="Shape 17"/>
          <p:cNvSpPr/>
          <p:nvPr/>
        </p:nvSpPr>
        <p:spPr>
          <a:xfrm>
            <a:off x="5907024" y="3675888"/>
            <a:ext cx="86868" cy="86868"/>
          </a:xfrm>
          <a:prstGeom prst="ellipse">
            <a:avLst/>
          </a:prstGeom>
          <a:solidFill>
            <a:srgbClr val="12766C"/>
          </a:solidFill>
          <a:ln w="12700">
            <a:solidFill>
              <a:srgbClr val="12766C"/>
            </a:solidFill>
            <a:prstDash val="solid"/>
          </a:ln>
        </p:spPr>
        <p:txBody>
          <a:bodyPr/>
          <a:p/>
        </p:txBody>
      </p:sp>
      <p:sp>
        <p:nvSpPr>
          <p:cNvPr id="20" name="Text 18"/>
          <p:cNvSpPr/>
          <p:nvPr/>
        </p:nvSpPr>
        <p:spPr>
          <a:xfrm>
            <a:off x="6099048" y="3529584"/>
            <a:ext cx="5074920" cy="411480"/>
          </a:xfrm>
          <a:prstGeom prst="rect">
            <a:avLst/>
          </a:prstGeom>
          <a:noFill/>
          <a:ln/>
        </p:spPr>
        <p:txBody>
          <a:bodyPr wrap="square" lIns="0" tIns="0" rIns="0" bIns="0" rtlCol="0" anchor="ctr">
            <a:normAutofit/>
          </a:bodyPr>
          <a:lstStyle/>
          <a:p>
            <a:pPr algn="l" indent="0" marL="0">
              <a:buNone/>
            </a:pPr>
            <a:r>
              <a:rPr lang="en-US" sz="1700" dirty="0">
                <a:solidFill>
                  <a:srgbClr val="1C3044"/>
                </a:solidFill>
                <a:latin typeface="Aptos" pitchFamily="34" charset="0"/>
                <a:ea typeface="Aptos" pitchFamily="34" charset="-122"/>
                <a:cs typeface="Aptos" pitchFamily="34" charset="-120"/>
              </a:rPr>
              <a:t>Coatepec</a:t>
            </a:r>
            <a:endParaRPr lang="en-US" sz="1700" dirty="0"/>
          </a:p>
        </p:txBody>
      </p:sp>
      <p:sp>
        <p:nvSpPr>
          <p:cNvPr id="21" name="Shape 19"/>
          <p:cNvSpPr/>
          <p:nvPr/>
        </p:nvSpPr>
        <p:spPr>
          <a:xfrm>
            <a:off x="5907024" y="4105656"/>
            <a:ext cx="86868" cy="86868"/>
          </a:xfrm>
          <a:prstGeom prst="ellipse">
            <a:avLst/>
          </a:prstGeom>
          <a:solidFill>
            <a:srgbClr val="12766C"/>
          </a:solidFill>
          <a:ln w="12700">
            <a:solidFill>
              <a:srgbClr val="12766C"/>
            </a:solidFill>
            <a:prstDash val="solid"/>
          </a:ln>
        </p:spPr>
        <p:txBody>
          <a:bodyPr/>
          <a:p/>
        </p:txBody>
      </p:sp>
      <p:sp>
        <p:nvSpPr>
          <p:cNvPr id="22" name="Text 20"/>
          <p:cNvSpPr/>
          <p:nvPr/>
        </p:nvSpPr>
        <p:spPr>
          <a:xfrm>
            <a:off x="6099048" y="3959352"/>
            <a:ext cx="5074920" cy="411480"/>
          </a:xfrm>
          <a:prstGeom prst="rect">
            <a:avLst/>
          </a:prstGeom>
          <a:noFill/>
          <a:ln/>
        </p:spPr>
        <p:txBody>
          <a:bodyPr wrap="square" lIns="0" tIns="0" rIns="0" bIns="0" rtlCol="0" anchor="ctr">
            <a:normAutofit/>
          </a:bodyPr>
          <a:lstStyle/>
          <a:p>
            <a:pPr algn="l" indent="0" marL="0">
              <a:buNone/>
            </a:pPr>
            <a:r>
              <a:rPr lang="en-US" sz="1700" dirty="0">
                <a:solidFill>
                  <a:srgbClr val="1C3044"/>
                </a:solidFill>
                <a:latin typeface="Aptos" pitchFamily="34" charset="0"/>
                <a:ea typeface="Aptos" pitchFamily="34" charset="-122"/>
                <a:cs typeface="Aptos" pitchFamily="34" charset="-120"/>
              </a:rPr>
              <a:t>Fortín</a:t>
            </a:r>
            <a:endParaRPr lang="en-US" sz="1700" dirty="0"/>
          </a:p>
        </p:txBody>
      </p:sp>
      <p:sp>
        <p:nvSpPr>
          <p:cNvPr id="23" name="Shape 21"/>
          <p:cNvSpPr/>
          <p:nvPr/>
        </p:nvSpPr>
        <p:spPr>
          <a:xfrm>
            <a:off x="5907024" y="4535424"/>
            <a:ext cx="86868" cy="86868"/>
          </a:xfrm>
          <a:prstGeom prst="ellipse">
            <a:avLst/>
          </a:prstGeom>
          <a:solidFill>
            <a:srgbClr val="12766C"/>
          </a:solidFill>
          <a:ln w="12700">
            <a:solidFill>
              <a:srgbClr val="12766C"/>
            </a:solidFill>
            <a:prstDash val="solid"/>
          </a:ln>
        </p:spPr>
        <p:txBody>
          <a:bodyPr/>
          <a:p/>
        </p:txBody>
      </p:sp>
      <p:sp>
        <p:nvSpPr>
          <p:cNvPr id="24" name="Text 22"/>
          <p:cNvSpPr/>
          <p:nvPr/>
        </p:nvSpPr>
        <p:spPr>
          <a:xfrm>
            <a:off x="6099048" y="4389120"/>
            <a:ext cx="5074920" cy="411480"/>
          </a:xfrm>
          <a:prstGeom prst="rect">
            <a:avLst/>
          </a:prstGeom>
          <a:noFill/>
          <a:ln/>
        </p:spPr>
        <p:txBody>
          <a:bodyPr wrap="square" lIns="0" tIns="0" rIns="0" bIns="0" rtlCol="0" anchor="ctr">
            <a:normAutofit/>
          </a:bodyPr>
          <a:lstStyle/>
          <a:p>
            <a:pPr algn="l" indent="0" marL="0">
              <a:buNone/>
            </a:pPr>
            <a:r>
              <a:rPr lang="en-US" sz="1700" dirty="0">
                <a:solidFill>
                  <a:srgbClr val="1C3044"/>
                </a:solidFill>
                <a:latin typeface="Aptos" pitchFamily="34" charset="0"/>
                <a:ea typeface="Aptos" pitchFamily="34" charset="-122"/>
                <a:cs typeface="Aptos" pitchFamily="34" charset="-120"/>
              </a:rPr>
              <a:t>Papantla</a:t>
            </a:r>
            <a:endParaRPr lang="en-US" sz="1700" dirty="0"/>
          </a:p>
        </p:txBody>
      </p:sp>
      <p:sp>
        <p:nvSpPr>
          <p:cNvPr id="25" name="Shape 23"/>
          <p:cNvSpPr/>
          <p:nvPr/>
        </p:nvSpPr>
        <p:spPr>
          <a:xfrm>
            <a:off x="5907024" y="4965192"/>
            <a:ext cx="86868" cy="86868"/>
          </a:xfrm>
          <a:prstGeom prst="ellipse">
            <a:avLst/>
          </a:prstGeom>
          <a:solidFill>
            <a:srgbClr val="12766C"/>
          </a:solidFill>
          <a:ln w="12700">
            <a:solidFill>
              <a:srgbClr val="12766C"/>
            </a:solidFill>
            <a:prstDash val="solid"/>
          </a:ln>
        </p:spPr>
        <p:txBody>
          <a:bodyPr/>
          <a:p/>
        </p:txBody>
      </p:sp>
      <p:sp>
        <p:nvSpPr>
          <p:cNvPr id="26" name="Text 24"/>
          <p:cNvSpPr/>
          <p:nvPr/>
        </p:nvSpPr>
        <p:spPr>
          <a:xfrm>
            <a:off x="6099048" y="4818888"/>
            <a:ext cx="5074920" cy="411480"/>
          </a:xfrm>
          <a:prstGeom prst="rect">
            <a:avLst/>
          </a:prstGeom>
          <a:noFill/>
          <a:ln/>
        </p:spPr>
        <p:txBody>
          <a:bodyPr wrap="square" lIns="0" tIns="0" rIns="0" bIns="0" rtlCol="0" anchor="ctr">
            <a:normAutofit/>
          </a:bodyPr>
          <a:lstStyle/>
          <a:p>
            <a:pPr algn="l" indent="0" marL="0">
              <a:buNone/>
            </a:pPr>
            <a:r>
              <a:rPr lang="en-US" sz="1700" dirty="0">
                <a:solidFill>
                  <a:srgbClr val="1C3044"/>
                </a:solidFill>
                <a:latin typeface="Aptos" pitchFamily="34" charset="0"/>
                <a:ea typeface="Aptos" pitchFamily="34" charset="-122"/>
                <a:cs typeface="Aptos" pitchFamily="34" charset="-120"/>
              </a:rPr>
              <a:t>San Andrés Tuxtla</a:t>
            </a:r>
            <a:endParaRPr lang="en-US" sz="1700" dirty="0"/>
          </a:p>
        </p:txBody>
      </p:sp>
      <p:sp>
        <p:nvSpPr>
          <p:cNvPr id="27" name="Text 25"/>
          <p:cNvSpPr/>
          <p:nvPr/>
        </p:nvSpPr>
        <p:spPr>
          <a:xfrm>
            <a:off x="749808" y="5879592"/>
            <a:ext cx="10707624" cy="384048"/>
          </a:xfrm>
          <a:prstGeom prst="rect">
            <a:avLst/>
          </a:prstGeom>
          <a:noFill/>
          <a:ln/>
        </p:spPr>
        <p:txBody>
          <a:bodyPr wrap="square" lIns="0" tIns="0" rIns="0" bIns="0" rtlCol="0" anchor="ctr">
            <a:normAutofit/>
          </a:bodyPr>
          <a:lstStyle/>
          <a:p>
            <a:pPr algn="l" indent="0" marL="0">
              <a:buNone/>
            </a:pPr>
            <a:r>
              <a:rPr lang="en-US" sz="1400" b="1" dirty="0">
                <a:solidFill>
                  <a:srgbClr val="10233C"/>
                </a:solidFill>
                <a:latin typeface="Aptos" pitchFamily="34" charset="0"/>
                <a:ea typeface="Aptos" pitchFamily="34" charset="-122"/>
                <a:cs typeface="Aptos" pitchFamily="34" charset="-120"/>
              </a:rPr>
              <a:t>Solución estable ante un filtro adicional de respaldo documental.</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oundRect">
            <a:avLst/>
          </a:prstGeom>
          <a:solidFill>
            <a:srgbClr val="12766C"/>
          </a:solidFill>
          <a:ln w="8890">
            <a:solidFill>
              <a:srgbClr val="12766C"/>
            </a:solidFill>
            <a:prstDash val="solid"/>
          </a:ln>
        </p:spPr>
        <p:txBody>
          <a:bodyPr/>
          <a:p/>
        </p:txBody>
      </p:sp>
      <p:sp>
        <p:nvSpPr>
          <p:cNvPr id="3" name="Text 1"/>
          <p:cNvSpPr/>
          <p:nvPr/>
        </p:nvSpPr>
        <p:spPr>
          <a:xfrm>
            <a:off x="585216" y="347472"/>
            <a:ext cx="10789920" cy="219456"/>
          </a:xfrm>
          <a:prstGeom prst="rect">
            <a:avLst/>
          </a:prstGeom>
          <a:noFill/>
          <a:ln/>
        </p:spPr>
        <p:txBody>
          <a:bodyPr wrap="square" lIns="0" tIns="0" rIns="0" bIns="0" rtlCol="0" anchor="ctr">
            <a:normAutofit/>
          </a:bodyPr>
          <a:lstStyle/>
          <a:p>
            <a:pPr algn="l" indent="0" marL="0">
              <a:buNone/>
            </a:pPr>
            <a:r>
              <a:rPr lang="en-US" sz="900" b="1" spc="150" kern="0" dirty="0">
                <a:solidFill>
                  <a:srgbClr val="12766C"/>
                </a:solidFill>
                <a:latin typeface="Aptos" pitchFamily="34" charset="0"/>
                <a:ea typeface="Aptos" pitchFamily="34" charset="-122"/>
                <a:cs typeface="Aptos" pitchFamily="34" charset="-120"/>
              </a:rPr>
              <a:t>INVESTIGACIÓN DE PÚBLICOS · EVIDENCIA PUBLICADA</a:t>
            </a:r>
            <a:endParaRPr lang="en-US" sz="900" dirty="0"/>
          </a:p>
        </p:txBody>
      </p:sp>
      <p:sp>
        <p:nvSpPr>
          <p:cNvPr id="4" name="Text 2"/>
          <p:cNvSpPr/>
          <p:nvPr/>
        </p:nvSpPr>
        <p:spPr>
          <a:xfrm>
            <a:off x="585216" y="749808"/>
            <a:ext cx="11064240" cy="658368"/>
          </a:xfrm>
          <a:prstGeom prst="rect">
            <a:avLst/>
          </a:prstGeom>
          <a:noFill/>
          <a:ln/>
        </p:spPr>
        <p:txBody>
          <a:bodyPr wrap="square" lIns="0" tIns="0" rIns="0" bIns="0" rtlCol="0" anchor="ctr">
            <a:normAutofit/>
          </a:bodyPr>
          <a:lstStyle/>
          <a:p>
            <a:pPr algn="l" indent="0" marL="0">
              <a:buNone/>
            </a:pPr>
            <a:r>
              <a:rPr lang="en-US" sz="2900" b="1" dirty="0">
                <a:solidFill>
                  <a:srgbClr val="10233C"/>
                </a:solidFill>
                <a:latin typeface="Aptos" pitchFamily="34" charset="0"/>
                <a:ea typeface="Aptos" pitchFamily="34" charset="-122"/>
                <a:cs typeface="Aptos" pitchFamily="34" charset="-120"/>
              </a:rPr>
              <a:t>¿Qué sabemos de visitantes y comunicación?</a:t>
            </a:r>
            <a:endParaRPr lang="en-US" sz="2900" dirty="0"/>
          </a:p>
        </p:txBody>
      </p:sp>
      <p:sp>
        <p:nvSpPr>
          <p:cNvPr id="5" name="Shape 3"/>
          <p:cNvSpPr/>
          <p:nvPr/>
        </p:nvSpPr>
        <p:spPr>
          <a:xfrm>
            <a:off x="585216" y="1508760"/>
            <a:ext cx="10991088" cy="0"/>
          </a:xfrm>
          <a:prstGeom prst="line">
            <a:avLst/>
          </a:prstGeom>
          <a:noFill/>
          <a:ln w="15875">
            <a:solidFill>
              <a:srgbClr val="D9E2E8"/>
            </a:solidFill>
            <a:prstDash val="solid"/>
          </a:ln>
        </p:spPr>
        <p:txBody>
          <a:bodyPr/>
          <a:p/>
        </p:txBody>
      </p:sp>
      <p:sp>
        <p:nvSpPr>
          <p:cNvPr id="6" name="Text 4"/>
          <p:cNvSpPr/>
          <p:nvPr/>
        </p:nvSpPr>
        <p:spPr>
          <a:xfrm>
            <a:off x="585216" y="6547104"/>
            <a:ext cx="9921240" cy="137160"/>
          </a:xfrm>
          <a:prstGeom prst="rect">
            <a:avLst/>
          </a:prstGeom>
          <a:noFill/>
          <a:ln/>
        </p:spPr>
        <p:txBody>
          <a:bodyPr wrap="square" lIns="0" tIns="0" rIns="0" bIns="0" rtlCol="0" anchor="ctr">
            <a:normAutofit/>
          </a:bodyPr>
          <a:lstStyle/>
          <a:p>
            <a:pPr algn="l" indent="0" marL="0">
              <a:buNone/>
            </a:pPr>
            <a:r>
              <a:rPr lang="en-US" sz="850" dirty="0">
                <a:solidFill>
                  <a:srgbClr val="5E7182"/>
                </a:solidFill>
                <a:latin typeface="Aptos" pitchFamily="34" charset="0"/>
                <a:ea typeface="Aptos" pitchFamily="34" charset="-122"/>
                <a:cs typeface="Aptos" pitchFamily="34" charset="-120"/>
              </a:rPr>
              <a:t>OUMV/UV, encuesta del Centro Histórico 2025; SECTUR Veracruz, Cumbre Tajín 2024</a:t>
            </a:r>
            <a:endParaRPr lang="en-US" sz="850" dirty="0"/>
          </a:p>
        </p:txBody>
      </p:sp>
      <p:sp>
        <p:nvSpPr>
          <p:cNvPr id="7" name="Text 5"/>
          <p:cNvSpPr/>
          <p:nvPr/>
        </p:nvSpPr>
        <p:spPr>
          <a:xfrm>
            <a:off x="11018520" y="6519672"/>
            <a:ext cx="475488" cy="164592"/>
          </a:xfrm>
          <a:prstGeom prst="rect">
            <a:avLst/>
          </a:prstGeom>
          <a:noFill/>
          <a:ln/>
        </p:spPr>
        <p:txBody>
          <a:bodyPr wrap="square" lIns="0" tIns="0" rIns="0" bIns="0" rtlCol="0" anchor="ctr">
            <a:normAutofit/>
          </a:bodyPr>
          <a:lstStyle/>
          <a:p>
            <a:pPr algn="r" indent="0" marL="0">
              <a:buNone/>
            </a:pPr>
            <a:r>
              <a:rPr lang="en-US" sz="900" dirty="0">
                <a:solidFill>
                  <a:srgbClr val="5E7182"/>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76656" y="1883664"/>
            <a:ext cx="5248656" cy="3840480"/>
          </a:xfrm>
          <a:prstGeom prst="roundRect">
            <a:avLst>
              <a:gd name="adj" fmla="val 2857"/>
            </a:avLst>
          </a:prstGeom>
          <a:solidFill>
            <a:srgbClr val="F7F3E9"/>
          </a:solidFill>
          <a:ln w="8890">
            <a:solidFill>
              <a:srgbClr val="D9E2E8"/>
            </a:solidFill>
            <a:prstDash val="solid"/>
          </a:ln>
        </p:spPr>
        <p:txBody>
          <a:bodyPr/>
          <a:p/>
        </p:txBody>
      </p:sp>
      <p:sp>
        <p:nvSpPr>
          <p:cNvPr id="9" name="Text 7"/>
          <p:cNvSpPr/>
          <p:nvPr/>
        </p:nvSpPr>
        <p:spPr>
          <a:xfrm>
            <a:off x="914400" y="2240280"/>
            <a:ext cx="4736592" cy="932688"/>
          </a:xfrm>
          <a:prstGeom prst="rect">
            <a:avLst/>
          </a:prstGeom>
          <a:noFill/>
          <a:ln/>
        </p:spPr>
        <p:txBody>
          <a:bodyPr wrap="square" lIns="0" tIns="0" rIns="0" bIns="0" rtlCol="0" anchor="ctr">
            <a:normAutofit/>
          </a:bodyPr>
          <a:lstStyle/>
          <a:p>
            <a:pPr algn="l" indent="0" marL="0">
              <a:buNone/>
            </a:pPr>
            <a:r>
              <a:rPr lang="en-US" sz="2900" b="1" dirty="0">
                <a:solidFill>
                  <a:srgbClr val="10233C"/>
                </a:solidFill>
                <a:latin typeface="Aptos" pitchFamily="34" charset="0"/>
                <a:ea typeface="Aptos" pitchFamily="34" charset="-122"/>
                <a:cs typeface="Aptos" pitchFamily="34" charset="-120"/>
              </a:rPr>
              <a:t>Veracruz, experiencias con raíz</a:t>
            </a:r>
            <a:endParaRPr lang="en-US" sz="2900" dirty="0"/>
          </a:p>
        </p:txBody>
      </p:sp>
      <p:sp>
        <p:nvSpPr>
          <p:cNvPr id="10" name="Text 8"/>
          <p:cNvSpPr/>
          <p:nvPr/>
        </p:nvSpPr>
        <p:spPr>
          <a:xfrm>
            <a:off x="923544" y="3282696"/>
            <a:ext cx="4709160" cy="347472"/>
          </a:xfrm>
          <a:prstGeom prst="rect">
            <a:avLst/>
          </a:prstGeom>
          <a:noFill/>
          <a:ln/>
        </p:spPr>
        <p:txBody>
          <a:bodyPr wrap="square" lIns="0" tIns="0" rIns="0" bIns="0" rtlCol="0" anchor="ctr">
            <a:normAutofit/>
          </a:bodyPr>
          <a:lstStyle/>
          <a:p>
            <a:pPr algn="l" indent="0" marL="0">
              <a:buNone/>
            </a:pPr>
            <a:r>
              <a:rPr lang="en-US" sz="1550" dirty="0">
                <a:solidFill>
                  <a:srgbClr val="5E7182"/>
                </a:solidFill>
                <a:latin typeface="Aptos" pitchFamily="34" charset="0"/>
                <a:ea typeface="Aptos" pitchFamily="34" charset="-122"/>
                <a:cs typeface="Aptos" pitchFamily="34" charset="-120"/>
              </a:rPr>
              <a:t>Concepto e identidad de campaña</a:t>
            </a:r>
            <a:endParaRPr lang="en-US" sz="1550" dirty="0"/>
          </a:p>
        </p:txBody>
      </p:sp>
      <p:sp>
        <p:nvSpPr>
          <p:cNvPr id="11" name="Shape 9"/>
          <p:cNvSpPr/>
          <p:nvPr/>
        </p:nvSpPr>
        <p:spPr>
          <a:xfrm>
            <a:off x="941832" y="4014216"/>
            <a:ext cx="86868" cy="86868"/>
          </a:xfrm>
          <a:prstGeom prst="ellipse">
            <a:avLst/>
          </a:prstGeom>
          <a:solidFill>
            <a:srgbClr val="12766C"/>
          </a:solidFill>
          <a:ln w="12700">
            <a:solidFill>
              <a:srgbClr val="12766C"/>
            </a:solidFill>
            <a:prstDash val="solid"/>
          </a:ln>
        </p:spPr>
        <p:txBody>
          <a:bodyPr/>
          <a:p/>
        </p:txBody>
      </p:sp>
      <p:sp>
        <p:nvSpPr>
          <p:cNvPr id="12" name="Text 10"/>
          <p:cNvSpPr/>
          <p:nvPr/>
        </p:nvSpPr>
        <p:spPr>
          <a:xfrm>
            <a:off x="1133856" y="3867912"/>
            <a:ext cx="4489704" cy="475488"/>
          </a:xfrm>
          <a:prstGeom prst="rect">
            <a:avLst/>
          </a:prstGeom>
          <a:noFill/>
          <a:ln/>
        </p:spPr>
        <p:txBody>
          <a:bodyPr wrap="square" lIns="0" tIns="0" rIns="0" bIns="0" rtlCol="0" anchor="ctr">
            <a:normAutofit/>
          </a:bodyPr>
          <a:lstStyle/>
          <a:p>
            <a:pPr algn="l" indent="0" marL="0">
              <a:buNone/>
            </a:pPr>
            <a:r>
              <a:rPr lang="en-US" sz="1580" dirty="0">
                <a:solidFill>
                  <a:srgbClr val="1C3044"/>
                </a:solidFill>
                <a:latin typeface="Aptos" pitchFamily="34" charset="0"/>
                <a:ea typeface="Aptos" pitchFamily="34" charset="-122"/>
                <a:cs typeface="Aptos" pitchFamily="34" charset="-120"/>
              </a:rPr>
              <a:t>Experiencias locales y específicas</a:t>
            </a:r>
            <a:endParaRPr lang="en-US" sz="1580" dirty="0"/>
          </a:p>
        </p:txBody>
      </p:sp>
      <p:sp>
        <p:nvSpPr>
          <p:cNvPr id="13" name="Shape 11"/>
          <p:cNvSpPr/>
          <p:nvPr/>
        </p:nvSpPr>
        <p:spPr>
          <a:xfrm>
            <a:off x="941832" y="4507992"/>
            <a:ext cx="86868" cy="86868"/>
          </a:xfrm>
          <a:prstGeom prst="ellipse">
            <a:avLst/>
          </a:prstGeom>
          <a:solidFill>
            <a:srgbClr val="12766C"/>
          </a:solidFill>
          <a:ln w="12700">
            <a:solidFill>
              <a:srgbClr val="12766C"/>
            </a:solidFill>
            <a:prstDash val="solid"/>
          </a:ln>
        </p:spPr>
        <p:txBody>
          <a:bodyPr/>
          <a:p/>
        </p:txBody>
      </p:sp>
      <p:sp>
        <p:nvSpPr>
          <p:cNvPr id="14" name="Text 12"/>
          <p:cNvSpPr/>
          <p:nvPr/>
        </p:nvSpPr>
        <p:spPr>
          <a:xfrm>
            <a:off x="1133856" y="4361688"/>
            <a:ext cx="4489704" cy="475488"/>
          </a:xfrm>
          <a:prstGeom prst="rect">
            <a:avLst/>
          </a:prstGeom>
          <a:noFill/>
          <a:ln/>
        </p:spPr>
        <p:txBody>
          <a:bodyPr wrap="square" lIns="0" tIns="0" rIns="0" bIns="0" rtlCol="0" anchor="ctr">
            <a:normAutofit/>
          </a:bodyPr>
          <a:lstStyle/>
          <a:p>
            <a:pPr algn="l" indent="0" marL="0">
              <a:buNone/>
            </a:pPr>
            <a:r>
              <a:rPr lang="en-US" sz="1580" dirty="0">
                <a:solidFill>
                  <a:srgbClr val="1C3044"/>
                </a:solidFill>
                <a:latin typeface="Aptos" pitchFamily="34" charset="0"/>
                <a:ea typeface="Aptos" pitchFamily="34" charset="-122"/>
                <a:cs typeface="Aptos" pitchFamily="34" charset="-120"/>
              </a:rPr>
              <a:t>Ficha con fuente, fecha y condiciones</a:t>
            </a:r>
            <a:endParaRPr lang="en-US" sz="1580" dirty="0"/>
          </a:p>
        </p:txBody>
      </p:sp>
      <p:sp>
        <p:nvSpPr>
          <p:cNvPr id="15" name="Shape 13"/>
          <p:cNvSpPr/>
          <p:nvPr/>
        </p:nvSpPr>
        <p:spPr>
          <a:xfrm>
            <a:off x="941832" y="5001768"/>
            <a:ext cx="86868" cy="86868"/>
          </a:xfrm>
          <a:prstGeom prst="ellipse">
            <a:avLst/>
          </a:prstGeom>
          <a:solidFill>
            <a:srgbClr val="12766C"/>
          </a:solidFill>
          <a:ln w="12700">
            <a:solidFill>
              <a:srgbClr val="12766C"/>
            </a:solidFill>
            <a:prstDash val="solid"/>
          </a:ln>
        </p:spPr>
        <p:txBody>
          <a:bodyPr/>
          <a:p/>
        </p:txBody>
      </p:sp>
      <p:sp>
        <p:nvSpPr>
          <p:cNvPr id="16" name="Text 14"/>
          <p:cNvSpPr/>
          <p:nvPr/>
        </p:nvSpPr>
        <p:spPr>
          <a:xfrm>
            <a:off x="1133856" y="4855464"/>
            <a:ext cx="4489704" cy="475488"/>
          </a:xfrm>
          <a:prstGeom prst="rect">
            <a:avLst/>
          </a:prstGeom>
          <a:noFill/>
          <a:ln/>
        </p:spPr>
        <p:txBody>
          <a:bodyPr wrap="square" lIns="0" tIns="0" rIns="0" bIns="0" rtlCol="0" anchor="ctr">
            <a:normAutofit/>
          </a:bodyPr>
          <a:lstStyle/>
          <a:p>
            <a:pPr algn="l" indent="0" marL="0">
              <a:buNone/>
            </a:pPr>
            <a:r>
              <a:rPr lang="en-US" sz="1580" dirty="0">
                <a:solidFill>
                  <a:srgbClr val="1C3044"/>
                </a:solidFill>
                <a:latin typeface="Aptos" pitchFamily="34" charset="0"/>
                <a:ea typeface="Aptos" pitchFamily="34" charset="-122"/>
                <a:cs typeface="Aptos" pitchFamily="34" charset="-120"/>
              </a:rPr>
              <a:t>Respeto comunitario como restricción</a:t>
            </a:r>
            <a:endParaRPr lang="en-US" sz="1580" dirty="0"/>
          </a:p>
        </p:txBody>
      </p:sp>
      <p:sp>
        <p:nvSpPr>
          <p:cNvPr id="17" name="Shape 15"/>
          <p:cNvSpPr/>
          <p:nvPr/>
        </p:nvSpPr>
        <p:spPr>
          <a:xfrm>
            <a:off x="6163056" y="1883664"/>
            <a:ext cx="5330952" cy="3840480"/>
          </a:xfrm>
          <a:prstGeom prst="roundRect">
            <a:avLst>
              <a:gd name="adj" fmla="val 2857"/>
            </a:avLst>
          </a:prstGeom>
          <a:solidFill>
            <a:srgbClr val="EDF2F6"/>
          </a:solidFill>
          <a:ln w="8890">
            <a:solidFill>
              <a:srgbClr val="D9E2E8"/>
            </a:solidFill>
            <a:prstDash val="solid"/>
          </a:ln>
        </p:spPr>
        <p:txBody>
          <a:bodyPr/>
          <a:p/>
        </p:txBody>
      </p:sp>
      <p:sp>
        <p:nvSpPr>
          <p:cNvPr id="18" name="Text 16"/>
          <p:cNvSpPr/>
          <p:nvPr/>
        </p:nvSpPr>
        <p:spPr>
          <a:xfrm>
            <a:off x="6455664" y="2240280"/>
            <a:ext cx="4727448" cy="347472"/>
          </a:xfrm>
          <a:prstGeom prst="rect">
            <a:avLst/>
          </a:prstGeom>
          <a:noFill/>
          <a:ln/>
        </p:spPr>
        <p:txBody>
          <a:bodyPr wrap="square" lIns="0" tIns="0" rIns="0" bIns="0" rtlCol="0" anchor="ctr">
            <a:normAutofit/>
          </a:bodyPr>
          <a:lstStyle/>
          <a:p>
            <a:pPr algn="l" indent="0" marL="0">
              <a:buNone/>
            </a:pPr>
            <a:r>
              <a:rPr lang="en-US" sz="2100" b="1" dirty="0">
                <a:solidFill>
                  <a:srgbClr val="12766C"/>
                </a:solidFill>
                <a:latin typeface="Aptos" pitchFamily="34" charset="0"/>
                <a:ea typeface="Aptos" pitchFamily="34" charset="-122"/>
                <a:cs typeface="Aptos" pitchFamily="34" charset="-120"/>
              </a:rPr>
              <a:t>Hallazgos para contrastar</a:t>
            </a:r>
            <a:endParaRPr lang="en-US" sz="2100" dirty="0"/>
          </a:p>
        </p:txBody>
      </p:sp>
      <p:sp>
        <p:nvSpPr>
          <p:cNvPr id="19" name="Shape 17"/>
          <p:cNvSpPr/>
          <p:nvPr/>
        </p:nvSpPr>
        <p:spPr>
          <a:xfrm>
            <a:off x="6473952" y="3044952"/>
            <a:ext cx="86868" cy="86868"/>
          </a:xfrm>
          <a:prstGeom prst="ellipse">
            <a:avLst/>
          </a:prstGeom>
          <a:solidFill>
            <a:srgbClr val="12766C"/>
          </a:solidFill>
          <a:ln w="12700">
            <a:solidFill>
              <a:srgbClr val="12766C"/>
            </a:solidFill>
            <a:prstDash val="solid"/>
          </a:ln>
        </p:spPr>
        <p:txBody>
          <a:bodyPr/>
          <a:p/>
        </p:txBody>
      </p:sp>
      <p:sp>
        <p:nvSpPr>
          <p:cNvPr id="20" name="Text 18"/>
          <p:cNvSpPr/>
          <p:nvPr/>
        </p:nvSpPr>
        <p:spPr>
          <a:xfrm>
            <a:off x="6665976" y="2898648"/>
            <a:ext cx="4507992" cy="612648"/>
          </a:xfrm>
          <a:prstGeom prst="rect">
            <a:avLst/>
          </a:prstGeom>
          <a:noFill/>
          <a:ln/>
        </p:spPr>
        <p:txBody>
          <a:bodyPr wrap="square" lIns="0" tIns="0" rIns="0" bIns="0" rtlCol="0" anchor="ctr">
            <a:normAutofit/>
          </a:bodyPr>
          <a:lstStyle/>
          <a:p>
            <a:pPr algn="l" indent="0" marL="0">
              <a:buNone/>
            </a:pPr>
            <a:r>
              <a:rPr lang="en-US" dirty="0">
                <a:solidFill>
                  <a:srgbClr val="1C3044"/>
                </a:solidFill>
                <a:latin typeface="Aptos" pitchFamily="34" charset="0"/>
                <a:ea typeface="Aptos" pitchFamily="34" charset="-122"/>
                <a:cs typeface="Aptos" pitchFamily="34" charset="-120"/>
              </a:rPr>
              <a:t>74.8% percibe pocos módulos informativos*</a:t>
            </a:r>
            <a:endParaRPr lang="en-US" sz="1700" dirty="0"/>
          </a:p>
        </p:txBody>
      </p:sp>
      <p:sp>
        <p:nvSpPr>
          <p:cNvPr id="21" name="Shape 19"/>
          <p:cNvSpPr/>
          <p:nvPr/>
        </p:nvSpPr>
        <p:spPr>
          <a:xfrm>
            <a:off x="6473952" y="3675888"/>
            <a:ext cx="86868" cy="86868"/>
          </a:xfrm>
          <a:prstGeom prst="ellipse">
            <a:avLst/>
          </a:prstGeom>
          <a:solidFill>
            <a:srgbClr val="12766C"/>
          </a:solidFill>
          <a:ln w="12700">
            <a:solidFill>
              <a:srgbClr val="12766C"/>
            </a:solidFill>
            <a:prstDash val="solid"/>
          </a:ln>
        </p:spPr>
        <p:txBody>
          <a:bodyPr/>
          <a:p/>
        </p:txBody>
      </p:sp>
      <p:sp>
        <p:nvSpPr>
          <p:cNvPr id="22" name="Text 20"/>
          <p:cNvSpPr/>
          <p:nvPr/>
        </p:nvSpPr>
        <p:spPr>
          <a:xfrm>
            <a:off x="6665976" y="3529584"/>
            <a:ext cx="4507992" cy="612648"/>
          </a:xfrm>
          <a:prstGeom prst="rect">
            <a:avLst/>
          </a:prstGeom>
          <a:noFill/>
          <a:ln/>
        </p:spPr>
        <p:txBody>
          <a:bodyPr wrap="square" lIns="0" tIns="0" rIns="0" bIns="0" rtlCol="0" anchor="ctr">
            <a:normAutofit/>
          </a:bodyPr>
          <a:lstStyle/>
          <a:p>
            <a:pPr algn="l" indent="0" marL="0">
              <a:buNone/>
            </a:pPr>
            <a:r>
              <a:rPr lang="en-US" sz="1700" dirty="0">
                <a:solidFill>
                  <a:srgbClr val="1C3044"/>
                </a:solidFill>
                <a:latin typeface="Aptos" pitchFamily="34" charset="0"/>
                <a:ea typeface="Aptos" pitchFamily="34" charset="-122"/>
                <a:cs typeface="Aptos" pitchFamily="34" charset="-120"/>
              </a:rPr>
              <a:t>45.2% evalúa mal la difusión patrimonial*</a:t>
            </a:r>
            <a:endParaRPr lang="en-US" sz="1700" dirty="0"/>
          </a:p>
        </p:txBody>
      </p:sp>
      <p:sp>
        <p:nvSpPr>
          <p:cNvPr id="23" name="Shape 21"/>
          <p:cNvSpPr/>
          <p:nvPr/>
        </p:nvSpPr>
        <p:spPr>
          <a:xfrm>
            <a:off x="6473952" y="4306824"/>
            <a:ext cx="86868" cy="86868"/>
          </a:xfrm>
          <a:prstGeom prst="ellipse">
            <a:avLst/>
          </a:prstGeom>
          <a:solidFill>
            <a:srgbClr val="12766C"/>
          </a:solidFill>
          <a:ln w="12700">
            <a:solidFill>
              <a:srgbClr val="12766C"/>
            </a:solidFill>
            <a:prstDash val="solid"/>
          </a:ln>
        </p:spPr>
        <p:txBody>
          <a:bodyPr/>
          <a:p/>
        </p:txBody>
      </p:sp>
      <p:sp>
        <p:nvSpPr>
          <p:cNvPr id="24" name="Text 22"/>
          <p:cNvSpPr/>
          <p:nvPr/>
        </p:nvSpPr>
        <p:spPr>
          <a:xfrm>
            <a:off x="6665976" y="4160520"/>
            <a:ext cx="4507992" cy="612648"/>
          </a:xfrm>
          <a:prstGeom prst="rect">
            <a:avLst/>
          </a:prstGeom>
          <a:noFill/>
          <a:ln/>
        </p:spPr>
        <p:txBody>
          <a:bodyPr wrap="square" lIns="0" tIns="0" rIns="0" bIns="0" rtlCol="0" anchor="ctr">
            <a:normAutofit/>
          </a:bodyPr>
          <a:lstStyle/>
          <a:p>
            <a:pPr algn="l" indent="0" marL="0">
              <a:buNone/>
            </a:pPr>
            <a:r>
              <a:rPr lang="en-US" sz="1700" dirty="0">
                <a:solidFill>
                  <a:srgbClr val="1C3044"/>
                </a:solidFill>
                <a:latin typeface="Aptos" pitchFamily="34" charset="0"/>
                <a:ea typeface="Aptos" pitchFamily="34" charset="-122"/>
                <a:cs typeface="Aptos" pitchFamily="34" charset="-120"/>
              </a:rPr>
              <a:t>41% acudió en familia a Cumbre Tajín**</a:t>
            </a:r>
            <a:endParaRPr lang="en-US" sz="1700" dirty="0"/>
          </a:p>
        </p:txBody>
      </p:sp>
      <p:sp>
        <p:nvSpPr>
          <p:cNvPr id="25" name="Text 23"/>
          <p:cNvSpPr/>
          <p:nvPr/>
        </p:nvSpPr>
        <p:spPr>
          <a:xfrm>
            <a:off x="6492240" y="5020056"/>
            <a:ext cx="4498848" cy="438912"/>
          </a:xfrm>
          <a:prstGeom prst="rect">
            <a:avLst/>
          </a:prstGeom>
          <a:noFill/>
          <a:ln/>
        </p:spPr>
        <p:txBody>
          <a:bodyPr wrap="square" lIns="0" tIns="0" rIns="0" bIns="0" rtlCol="0" anchor="ctr">
            <a:normAutofit/>
          </a:bodyPr>
          <a:lstStyle/>
          <a:p>
            <a:pPr algn="l" indent="0" marL="0">
              <a:buNone/>
            </a:pPr>
            <a:r>
              <a:rPr lang="en-US" sz="1350" b="1" dirty="0">
                <a:solidFill>
                  <a:srgbClr val="B64A44"/>
                </a:solidFill>
                <a:latin typeface="Aptos" pitchFamily="34" charset="0"/>
                <a:ea typeface="Aptos" pitchFamily="34" charset="-122"/>
                <a:cs typeface="Aptos" pitchFamily="34" charset="-120"/>
              </a:rPr>
              <a:t>*500 participantes, solo 40 turistas; **muestra del festival (2024).</a:t>
            </a:r>
            <a:endParaRPr lang="en-US" sz="135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DFB"/>
        </a:solidFill>
        <a:effectLst/>
      </p:bgPr>
    </p:bg>
    <p:spTree>
      <p:nvGrpSpPr>
        <p:cNvPr id="1" name=""/>
        <p:cNvGrpSpPr/>
        <p:nvPr/>
      </p:nvGrpSpPr>
      <p:grpSpPr/>
      <p:sp>
        <p:nvSpPr>
          <p:cNvPr id="2" name="TextBox 1"/>
          <p:cNvSpPr txBox="1"/>
          <p:nvPr/>
        </p:nvSpPr>
        <p:spPr>
          <a:xfrm>
            <a:off x="548640" y="329184"/>
            <a:ext cx="10058400" cy="274320"/>
          </a:xfrm>
          <a:prstGeom prst="rect">
            <a:avLst/>
          </a:prstGeom>
          <a:noFill/>
        </p:spPr>
        <p:txBody>
          <a:bodyPr wrap="square">
            <a:spAutoFit/>
          </a:bodyPr>
          <a:lstStyle/>
          <a:p>
            <a:r>
              <a:rPr sz="1100" b="1">
                <a:solidFill>
                  <a:srgbClr val="D57A2C"/>
                </a:solidFill>
                <a:latin typeface="Aptos"/>
              </a:rPr>
              <a:t>RESULTADO DIGITAL · PRODUCTO ACADÉMICO</a:t>
            </a:r>
          </a:p>
        </p:txBody>
      </p:sp>
      <p:sp>
        <p:nvSpPr>
          <p:cNvPr id="3" name="TextBox 2"/>
          <p:cNvSpPr txBox="1"/>
          <p:nvPr/>
        </p:nvSpPr>
        <p:spPr>
          <a:xfrm>
            <a:off x="548640" y="713232"/>
            <a:ext cx="10058400" cy="640080"/>
          </a:xfrm>
          <a:prstGeom prst="rect">
            <a:avLst/>
          </a:prstGeom>
          <a:noFill/>
        </p:spPr>
        <p:txBody>
          <a:bodyPr wrap="square">
            <a:spAutoFit/>
          </a:bodyPr>
          <a:lstStyle/>
          <a:p>
            <a:r>
              <a:t>Descubrir → planear → comparar → compartir</a:t>
            </a:r>
          </a:p>
        </p:txBody>
      </p:sp>
      <p:sp>
        <p:nvSpPr>
          <p:cNvPr id="4" name="TextBox 3"/>
          <p:cNvSpPr txBox="1"/>
          <p:nvPr/>
        </p:nvSpPr>
        <p:spPr>
          <a:xfrm>
            <a:off x="566928" y="1426464"/>
            <a:ext cx="9875520" cy="530352"/>
          </a:xfrm>
          <a:prstGeom prst="rect">
            <a:avLst/>
          </a:prstGeom>
          <a:noFill/>
        </p:spPr>
        <p:txBody>
          <a:bodyPr wrap="square">
            <a:spAutoFit/>
          </a:bodyPr>
          <a:lstStyle/>
          <a:p>
            <a:r>
              <a:t>Experiencias documentadas, recorridos reutilizables, costos orientativos y prestadores sujetos a revisión.</a:t>
            </a:r>
          </a:p>
        </p:txBody>
      </p:sp>
      <p:sp>
        <p:nvSpPr>
          <p:cNvPr id="5" name="Rounded Rectangle 4"/>
          <p:cNvSpPr/>
          <p:nvPr/>
        </p:nvSpPr>
        <p:spPr>
          <a:xfrm>
            <a:off x="548640" y="2212848"/>
            <a:ext cx="3352800" cy="3017520"/>
          </a:xfrm>
          <a:prstGeom prst="roundRect">
            <a:avLst/>
          </a:prstGeom>
          <a:solidFill>
            <a:srgbClr val="EC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560320"/>
            <a:ext cx="3032760" cy="640080"/>
          </a:xfrm>
          <a:prstGeom prst="rect">
            <a:avLst/>
          </a:prstGeom>
          <a:noFill/>
        </p:spPr>
        <p:txBody>
          <a:bodyPr wrap="square">
            <a:spAutoFit/>
          </a:bodyPr>
          <a:lstStyle/>
          <a:p>
            <a:r>
              <a:rPr sz="2100" b="1">
                <a:solidFill>
                  <a:srgbClr val="11524C"/>
                </a:solidFill>
                <a:latin typeface="Aptos"/>
              </a:rPr>
              <a:t>Descubre</a:t>
            </a:r>
          </a:p>
        </p:txBody>
      </p:sp>
      <p:sp>
        <p:nvSpPr>
          <p:cNvPr id="7" name="TextBox 6"/>
          <p:cNvSpPr txBox="1"/>
          <p:nvPr/>
        </p:nvSpPr>
        <p:spPr>
          <a:xfrm>
            <a:off x="749808" y="3337560"/>
            <a:ext cx="2987040" cy="1508760"/>
          </a:xfrm>
          <a:prstGeom prst="rect">
            <a:avLst/>
          </a:prstGeom>
          <a:noFill/>
        </p:spPr>
        <p:txBody>
          <a:bodyPr wrap="square">
            <a:spAutoFit/>
          </a:bodyPr>
          <a:lstStyle/>
          <a:p>
            <a:r>
              <a:rPr sz="1500" b="0">
                <a:solidFill>
                  <a:srgbClr val="1D2B30"/>
                </a:solidFill>
                <a:latin typeface="Aptos"/>
              </a:rPr>
              <a:t>Actividades específicas, intereses declarados y «Sorpréndeme»; recomendaciones documentadas.</a:t>
            </a:r>
          </a:p>
        </p:txBody>
      </p:sp>
      <p:sp>
        <p:nvSpPr>
          <p:cNvPr id="8" name="Rounded Rectangle 7"/>
          <p:cNvSpPr/>
          <p:nvPr/>
        </p:nvSpPr>
        <p:spPr>
          <a:xfrm>
            <a:off x="4023360" y="2212848"/>
            <a:ext cx="3352800" cy="3017520"/>
          </a:xfrm>
          <a:prstGeom prst="roundRect">
            <a:avLst/>
          </a:prstGeom>
          <a:solidFill>
            <a:srgbClr val="EC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24528" y="2560320"/>
            <a:ext cx="3032760" cy="640080"/>
          </a:xfrm>
          <a:prstGeom prst="rect">
            <a:avLst/>
          </a:prstGeom>
          <a:noFill/>
        </p:spPr>
        <p:txBody>
          <a:bodyPr wrap="square">
            <a:spAutoFit/>
          </a:bodyPr>
          <a:lstStyle/>
          <a:p>
            <a:r>
              <a:rPr sz="2100" b="1">
                <a:solidFill>
                  <a:srgbClr val="11524C"/>
                </a:solidFill>
                <a:latin typeface="Aptos"/>
              </a:rPr>
              <a:t>Traza</a:t>
            </a:r>
          </a:p>
        </p:txBody>
      </p:sp>
      <p:sp>
        <p:nvSpPr>
          <p:cNvPr id="10" name="TextBox 9"/>
          <p:cNvSpPr txBox="1"/>
          <p:nvPr/>
        </p:nvSpPr>
        <p:spPr>
          <a:xfrm>
            <a:off x="4224528" y="3337560"/>
            <a:ext cx="2987040" cy="1508760"/>
          </a:xfrm>
          <a:prstGeom prst="rect">
            <a:avLst/>
          </a:prstGeom>
          <a:noFill/>
        </p:spPr>
        <p:txBody>
          <a:bodyPr wrap="square">
            <a:spAutoFit/>
          </a:bodyPr>
          <a:lstStyle/>
          <a:p>
            <a:r>
              <a:rPr sz="1500" b="0">
                <a:solidFill>
                  <a:srgbClr val="1D2B30"/>
                </a:solidFill>
                <a:latin typeface="Aptos"/>
              </a:rPr>
              <a:t>Paradas reordenables y trazado vial sujeto a servicio externo; itinerario organizado.</a:t>
            </a:r>
          </a:p>
        </p:txBody>
      </p:sp>
      <p:sp>
        <p:nvSpPr>
          <p:cNvPr id="11" name="Rounded Rectangle 10"/>
          <p:cNvSpPr/>
          <p:nvPr/>
        </p:nvSpPr>
        <p:spPr>
          <a:xfrm>
            <a:off x="7498080" y="2212848"/>
            <a:ext cx="3352800" cy="3017520"/>
          </a:xfrm>
          <a:prstGeom prst="roundRect">
            <a:avLst/>
          </a:prstGeom>
          <a:solidFill>
            <a:srgbClr val="EC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99248" y="2560320"/>
            <a:ext cx="3032760" cy="640080"/>
          </a:xfrm>
          <a:prstGeom prst="rect">
            <a:avLst/>
          </a:prstGeom>
          <a:noFill/>
        </p:spPr>
        <p:txBody>
          <a:bodyPr wrap="square">
            <a:spAutoFit/>
          </a:bodyPr>
          <a:lstStyle/>
          <a:p>
            <a:r>
              <a:rPr sz="2100" b="1">
                <a:solidFill>
                  <a:srgbClr val="11524C"/>
                </a:solidFill>
                <a:latin typeface="Aptos"/>
              </a:rPr>
              <a:t>Presupuesta</a:t>
            </a:r>
          </a:p>
        </p:txBody>
      </p:sp>
      <p:sp>
        <p:nvSpPr>
          <p:cNvPr id="13" name="TextBox 12"/>
          <p:cNvSpPr txBox="1"/>
          <p:nvPr/>
        </p:nvSpPr>
        <p:spPr>
          <a:xfrm>
            <a:off x="7699248" y="3337560"/>
            <a:ext cx="2987040" cy="1508760"/>
          </a:xfrm>
          <a:prstGeom prst="rect">
            <a:avLst/>
          </a:prstGeom>
          <a:noFill/>
        </p:spPr>
        <p:txBody>
          <a:bodyPr wrap="square">
            <a:spAutoFit/>
          </a:bodyPr>
          <a:lstStyle/>
          <a:p>
            <a:r>
              <a:t>Precios de referencia y rangos de gasto; fichas aprobadas de prestadores por municipio.</a:t>
            </a:r>
          </a:p>
        </p:txBody>
      </p:sp>
      <p:sp>
        <p:nvSpPr>
          <p:cNvPr id="14" name="TextBox 13"/>
          <p:cNvSpPr txBox="1"/>
          <p:nvPr/>
        </p:nvSpPr>
        <p:spPr>
          <a:xfrm>
            <a:off x="621792" y="5696712"/>
            <a:ext cx="10149840" cy="731520"/>
          </a:xfrm>
          <a:prstGeom prst="rect">
            <a:avLst/>
          </a:prstGeom>
          <a:noFill/>
        </p:spPr>
        <p:txBody>
          <a:bodyPr wrap="square">
            <a:spAutoFit/>
          </a:bodyPr>
          <a:lstStyle/>
          <a:p>
            <a:r>
              <a:t>Flujo: actividades → paradas → gastos y ofertas → itinerarios compartidos.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oundRect">
            <a:avLst/>
          </a:prstGeom>
          <a:solidFill>
            <a:srgbClr val="12766C"/>
          </a:solidFill>
          <a:ln w="8890">
            <a:solidFill>
              <a:srgbClr val="12766C"/>
            </a:solidFill>
            <a:prstDash val="solid"/>
          </a:ln>
        </p:spPr>
        <p:txBody>
          <a:bodyPr/>
          <a:p/>
        </p:txBody>
      </p:sp>
      <p:sp>
        <p:nvSpPr>
          <p:cNvPr id="3" name="Text 1"/>
          <p:cNvSpPr/>
          <p:nvPr/>
        </p:nvSpPr>
        <p:spPr>
          <a:xfrm>
            <a:off x="585216" y="347472"/>
            <a:ext cx="10789920" cy="219456"/>
          </a:xfrm>
          <a:prstGeom prst="rect">
            <a:avLst/>
          </a:prstGeom>
          <a:noFill/>
          <a:ln/>
        </p:spPr>
        <p:txBody>
          <a:bodyPr wrap="square" lIns="0" tIns="0" rIns="0" bIns="0" rtlCol="0" anchor="ctr">
            <a:normAutofit/>
          </a:bodyPr>
          <a:lstStyle/>
          <a:p>
            <a:pPr algn="l" indent="0" marL="0">
              <a:buNone/>
            </a:pPr>
            <a:r>
              <a:rPr lang="en-US" sz="900" b="1" spc="150" kern="0" dirty="0">
                <a:solidFill>
                  <a:srgbClr val="12766C"/>
                </a:solidFill>
                <a:latin typeface="Aptos" pitchFamily="34" charset="0"/>
                <a:ea typeface="Aptos" pitchFamily="34" charset="-122"/>
                <a:cs typeface="Aptos" pitchFamily="34" charset="-120"/>
              </a:rPr>
              <a:t>ASIGNACIÓN DEL PRESUPUESTO PILOTO</a:t>
            </a:r>
            <a:endParaRPr lang="en-US" sz="900" dirty="0"/>
          </a:p>
        </p:txBody>
      </p:sp>
      <p:sp>
        <p:nvSpPr>
          <p:cNvPr id="4" name="Text 2"/>
          <p:cNvSpPr/>
          <p:nvPr/>
        </p:nvSpPr>
        <p:spPr>
          <a:xfrm>
            <a:off x="585216" y="749808"/>
            <a:ext cx="11064240" cy="658368"/>
          </a:xfrm>
          <a:prstGeom prst="rect">
            <a:avLst/>
          </a:prstGeom>
          <a:noFill/>
          <a:ln/>
        </p:spPr>
        <p:txBody>
          <a:bodyPr wrap="square" lIns="0" tIns="0" rIns="0" bIns="0" rtlCol="0" anchor="ctr">
            <a:normAutofit/>
          </a:bodyPr>
          <a:lstStyle/>
          <a:p>
            <a:pPr algn="l" indent="0" marL="0">
              <a:buNone/>
            </a:pPr>
            <a:r>
              <a:rPr lang="en-US" sz="2900" b="1" dirty="0">
                <a:solidFill>
                  <a:srgbClr val="10233C"/>
                </a:solidFill>
                <a:latin typeface="Aptos" pitchFamily="34" charset="0"/>
                <a:ea typeface="Aptos" pitchFamily="34" charset="-122"/>
                <a:cs typeface="Aptos" pitchFamily="34" charset="-120"/>
              </a:rPr>
              <a:t>Presupuesto de prueba por canal</a:t>
            </a:r>
            <a:endParaRPr lang="en-US" sz="2900" dirty="0"/>
          </a:p>
        </p:txBody>
      </p:sp>
      <p:sp>
        <p:nvSpPr>
          <p:cNvPr id="5" name="Shape 3"/>
          <p:cNvSpPr/>
          <p:nvPr/>
        </p:nvSpPr>
        <p:spPr>
          <a:xfrm>
            <a:off x="585216" y="1508760"/>
            <a:ext cx="10991088" cy="0"/>
          </a:xfrm>
          <a:prstGeom prst="line">
            <a:avLst/>
          </a:prstGeom>
          <a:noFill/>
          <a:ln w="15875">
            <a:solidFill>
              <a:srgbClr val="D9E2E8"/>
            </a:solidFill>
            <a:prstDash val="solid"/>
          </a:ln>
        </p:spPr>
        <p:txBody>
          <a:bodyPr/>
          <a:p/>
        </p:txBody>
      </p:sp>
      <p:sp>
        <p:nvSpPr>
          <p:cNvPr id="6" name="Text 4"/>
          <p:cNvSpPr/>
          <p:nvPr/>
        </p:nvSpPr>
        <p:spPr>
          <a:xfrm>
            <a:off x="585216" y="6547104"/>
            <a:ext cx="9921240" cy="137160"/>
          </a:xfrm>
          <a:prstGeom prst="rect">
            <a:avLst/>
          </a:prstGeom>
          <a:noFill/>
          <a:ln/>
        </p:spPr>
        <p:txBody>
          <a:bodyPr wrap="square" lIns="0" tIns="0" rIns="0" bIns="0" rtlCol="0" anchor="ctr">
            <a:normAutofit/>
          </a:bodyPr>
          <a:lstStyle/>
          <a:p>
            <a:pPr algn="l" indent="0" marL="0">
              <a:buNone/>
            </a:pPr>
            <a:r>
              <a:rPr lang="en-US" sz="850" dirty="0">
                <a:solidFill>
                  <a:srgbClr val="5E7182"/>
                </a:solidFill>
                <a:latin typeface="Aptos" pitchFamily="34" charset="0"/>
                <a:ea typeface="Aptos" pitchFamily="34" charset="-122"/>
                <a:cs typeface="Aptos" pitchFamily="34" charset="-120"/>
              </a:rPr>
              <a:t>Elaboración propia · Modelo publicitario MXN 30 000</a:t>
            </a:r>
            <a:endParaRPr lang="en-US" sz="850" dirty="0"/>
          </a:p>
        </p:txBody>
      </p:sp>
      <p:sp>
        <p:nvSpPr>
          <p:cNvPr id="7" name="Text 5"/>
          <p:cNvSpPr/>
          <p:nvPr/>
        </p:nvSpPr>
        <p:spPr>
          <a:xfrm>
            <a:off x="11018520" y="6519672"/>
            <a:ext cx="475488" cy="164592"/>
          </a:xfrm>
          <a:prstGeom prst="rect">
            <a:avLst/>
          </a:prstGeom>
          <a:noFill/>
          <a:ln/>
        </p:spPr>
        <p:txBody>
          <a:bodyPr wrap="square" lIns="0" tIns="0" rIns="0" bIns="0" rtlCol="0" anchor="ctr">
            <a:normAutofit/>
          </a:bodyPr>
          <a:lstStyle/>
          <a:p>
            <a:pPr algn="r" indent="0" marL="0">
              <a:buNone/>
            </a:pPr>
            <a:r>
              <a:rPr lang="en-US" sz="900" dirty="0">
                <a:solidFill>
                  <a:srgbClr val="5E7182"/>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713232" y="2212848"/>
            <a:ext cx="4290365" cy="987552"/>
          </a:xfrm>
          <a:prstGeom prst="roundRect">
            <a:avLst/>
          </a:prstGeom>
          <a:solidFill>
            <a:srgbClr val="12766C"/>
          </a:solidFill>
          <a:ln w="8890">
            <a:solidFill>
              <a:srgbClr val="12766C"/>
            </a:solidFill>
            <a:prstDash val="solid"/>
          </a:ln>
        </p:spPr>
        <p:txBody>
          <a:bodyPr/>
          <a:p/>
        </p:txBody>
      </p:sp>
      <p:sp>
        <p:nvSpPr>
          <p:cNvPr id="9" name="Text 7"/>
          <p:cNvSpPr/>
          <p:nvPr/>
        </p:nvSpPr>
        <p:spPr>
          <a:xfrm>
            <a:off x="786384" y="2505456"/>
            <a:ext cx="4144061" cy="283464"/>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$12,000</a:t>
            </a:r>
            <a:endParaRPr lang="en-US" sz="1800" dirty="0"/>
          </a:p>
        </p:txBody>
      </p:sp>
      <p:sp>
        <p:nvSpPr>
          <p:cNvPr id="10" name="Shape 8"/>
          <p:cNvSpPr/>
          <p:nvPr/>
        </p:nvSpPr>
        <p:spPr>
          <a:xfrm>
            <a:off x="5003597" y="2212848"/>
            <a:ext cx="3217774" cy="987552"/>
          </a:xfrm>
          <a:prstGeom prst="roundRect">
            <a:avLst/>
          </a:prstGeom>
          <a:solidFill>
            <a:srgbClr val="3C90A0"/>
          </a:solidFill>
          <a:ln w="8890">
            <a:solidFill>
              <a:srgbClr val="3C90A0"/>
            </a:solidFill>
            <a:prstDash val="solid"/>
          </a:ln>
        </p:spPr>
        <p:txBody>
          <a:bodyPr/>
          <a:p/>
        </p:txBody>
      </p:sp>
      <p:sp>
        <p:nvSpPr>
          <p:cNvPr id="11" name="Text 9"/>
          <p:cNvSpPr/>
          <p:nvPr/>
        </p:nvSpPr>
        <p:spPr>
          <a:xfrm>
            <a:off x="5076749" y="2505456"/>
            <a:ext cx="3071470" cy="283464"/>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$9,000</a:t>
            </a:r>
            <a:endParaRPr lang="en-US" sz="1800" dirty="0"/>
          </a:p>
        </p:txBody>
      </p:sp>
      <p:sp>
        <p:nvSpPr>
          <p:cNvPr id="12" name="Shape 10"/>
          <p:cNvSpPr/>
          <p:nvPr/>
        </p:nvSpPr>
        <p:spPr>
          <a:xfrm>
            <a:off x="8221370" y="2212848"/>
            <a:ext cx="2145182" cy="987552"/>
          </a:xfrm>
          <a:prstGeom prst="roundRect">
            <a:avLst/>
          </a:prstGeom>
          <a:solidFill>
            <a:srgbClr val="76BDB4"/>
          </a:solidFill>
          <a:ln w="8890">
            <a:solidFill>
              <a:srgbClr val="76BDB4"/>
            </a:solidFill>
            <a:prstDash val="solid"/>
          </a:ln>
        </p:spPr>
        <p:txBody>
          <a:bodyPr/>
          <a:p/>
        </p:txBody>
      </p:sp>
      <p:sp>
        <p:nvSpPr>
          <p:cNvPr id="13" name="Text 11"/>
          <p:cNvSpPr/>
          <p:nvPr/>
        </p:nvSpPr>
        <p:spPr>
          <a:xfrm>
            <a:off x="8294522" y="2505456"/>
            <a:ext cx="1998878" cy="283464"/>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$6,000</a:t>
            </a:r>
            <a:endParaRPr lang="en-US" sz="1800" dirty="0"/>
          </a:p>
        </p:txBody>
      </p:sp>
      <p:sp>
        <p:nvSpPr>
          <p:cNvPr id="14" name="Shape 12"/>
          <p:cNvSpPr/>
          <p:nvPr/>
        </p:nvSpPr>
        <p:spPr>
          <a:xfrm>
            <a:off x="10366553" y="2212848"/>
            <a:ext cx="1072591" cy="987552"/>
          </a:xfrm>
          <a:prstGeom prst="roundRect">
            <a:avLst/>
          </a:prstGeom>
          <a:solidFill>
            <a:srgbClr val="AACDCA"/>
          </a:solidFill>
          <a:ln w="8890">
            <a:solidFill>
              <a:srgbClr val="AACDCA"/>
            </a:solidFill>
            <a:prstDash val="solid"/>
          </a:ln>
        </p:spPr>
        <p:txBody>
          <a:bodyPr/>
          <a:p/>
        </p:txBody>
      </p:sp>
      <p:sp>
        <p:nvSpPr>
          <p:cNvPr id="15" name="Text 13"/>
          <p:cNvSpPr/>
          <p:nvPr/>
        </p:nvSpPr>
        <p:spPr>
          <a:xfrm>
            <a:off x="923544" y="3721608"/>
            <a:ext cx="5303520" cy="320040"/>
          </a:xfrm>
          <a:prstGeom prst="rect">
            <a:avLst/>
          </a:prstGeom>
          <a:noFill/>
          <a:ln/>
        </p:spPr>
        <p:txBody>
          <a:bodyPr wrap="square" lIns="0" tIns="0" rIns="0" bIns="0" rtlCol="0" anchor="ctr">
            <a:normAutofit/>
          </a:bodyPr>
          <a:lstStyle/>
          <a:p>
            <a:pPr algn="l" indent="0" marL="0">
              <a:buNone/>
            </a:pPr>
            <a:r>
              <a:rPr lang="en-US" sz="1700" dirty="0">
                <a:solidFill>
                  <a:srgbClr val="1C3044"/>
                </a:solidFill>
                <a:latin typeface="Aptos" pitchFamily="34" charset="0"/>
                <a:ea typeface="Aptos" pitchFamily="34" charset="-122"/>
                <a:cs typeface="Aptos" pitchFamily="34" charset="-120"/>
              </a:rPr>
              <a:t>Social / video</a:t>
            </a:r>
            <a:endParaRPr lang="en-US" sz="1700" dirty="0"/>
          </a:p>
        </p:txBody>
      </p:sp>
      <p:sp>
        <p:nvSpPr>
          <p:cNvPr id="16" name="Text 14"/>
          <p:cNvSpPr/>
          <p:nvPr/>
        </p:nvSpPr>
        <p:spPr>
          <a:xfrm>
            <a:off x="8046720" y="3721608"/>
            <a:ext cx="2852928" cy="320040"/>
          </a:xfrm>
          <a:prstGeom prst="rect">
            <a:avLst/>
          </a:prstGeom>
          <a:noFill/>
          <a:ln/>
        </p:spPr>
        <p:txBody>
          <a:bodyPr wrap="square" lIns="0" tIns="0" rIns="0" bIns="0" rtlCol="0" anchor="ctr">
            <a:normAutofit/>
          </a:bodyPr>
          <a:lstStyle/>
          <a:p>
            <a:pPr algn="r" indent="0" marL="0">
              <a:buNone/>
            </a:pPr>
            <a:r>
              <a:rPr lang="en-US" sz="1700" b="1" dirty="0">
                <a:solidFill>
                  <a:srgbClr val="12766C"/>
                </a:solidFill>
                <a:latin typeface="Aptos" pitchFamily="34" charset="0"/>
                <a:ea typeface="Aptos" pitchFamily="34" charset="-122"/>
                <a:cs typeface="Aptos" pitchFamily="34" charset="-120"/>
              </a:rPr>
              <a:t>$12,000</a:t>
            </a:r>
            <a:endParaRPr lang="en-US" sz="1700" dirty="0"/>
          </a:p>
        </p:txBody>
      </p:sp>
      <p:sp>
        <p:nvSpPr>
          <p:cNvPr id="17" name="Text 15"/>
          <p:cNvSpPr/>
          <p:nvPr/>
        </p:nvSpPr>
        <p:spPr>
          <a:xfrm>
            <a:off x="923544" y="4224528"/>
            <a:ext cx="5303520" cy="320040"/>
          </a:xfrm>
          <a:prstGeom prst="rect">
            <a:avLst/>
          </a:prstGeom>
          <a:noFill/>
          <a:ln/>
        </p:spPr>
        <p:txBody>
          <a:bodyPr wrap="square" lIns="0" tIns="0" rIns="0" bIns="0" rtlCol="0" anchor="ctr">
            <a:normAutofit/>
          </a:bodyPr>
          <a:lstStyle/>
          <a:p>
            <a:pPr algn="l" indent="0" marL="0">
              <a:buNone/>
            </a:pPr>
            <a:r>
              <a:rPr lang="en-US" sz="1700" dirty="0">
                <a:solidFill>
                  <a:srgbClr val="1C3044"/>
                </a:solidFill>
                <a:latin typeface="Aptos" pitchFamily="34" charset="0"/>
                <a:ea typeface="Aptos" pitchFamily="34" charset="-122"/>
                <a:cs typeface="Aptos" pitchFamily="34" charset="-120"/>
              </a:rPr>
              <a:t>Búsqueda</a:t>
            </a:r>
            <a:endParaRPr lang="en-US" sz="1700" dirty="0"/>
          </a:p>
        </p:txBody>
      </p:sp>
      <p:sp>
        <p:nvSpPr>
          <p:cNvPr id="18" name="Text 16"/>
          <p:cNvSpPr/>
          <p:nvPr/>
        </p:nvSpPr>
        <p:spPr>
          <a:xfrm>
            <a:off x="8046720" y="4224528"/>
            <a:ext cx="2852928" cy="320040"/>
          </a:xfrm>
          <a:prstGeom prst="rect">
            <a:avLst/>
          </a:prstGeom>
          <a:noFill/>
          <a:ln/>
        </p:spPr>
        <p:txBody>
          <a:bodyPr wrap="square" lIns="0" tIns="0" rIns="0" bIns="0" rtlCol="0" anchor="ctr">
            <a:normAutofit/>
          </a:bodyPr>
          <a:lstStyle/>
          <a:p>
            <a:pPr algn="r" indent="0" marL="0">
              <a:buNone/>
            </a:pPr>
            <a:r>
              <a:rPr lang="en-US" sz="1700" b="1" dirty="0">
                <a:solidFill>
                  <a:srgbClr val="12766C"/>
                </a:solidFill>
                <a:latin typeface="Aptos" pitchFamily="34" charset="0"/>
                <a:ea typeface="Aptos" pitchFamily="34" charset="-122"/>
                <a:cs typeface="Aptos" pitchFamily="34" charset="-120"/>
              </a:rPr>
              <a:t>$9,000</a:t>
            </a:r>
            <a:endParaRPr lang="en-US" sz="1700" dirty="0"/>
          </a:p>
        </p:txBody>
      </p:sp>
      <p:sp>
        <p:nvSpPr>
          <p:cNvPr id="19" name="Text 17"/>
          <p:cNvSpPr/>
          <p:nvPr/>
        </p:nvSpPr>
        <p:spPr>
          <a:xfrm>
            <a:off x="923544" y="4727448"/>
            <a:ext cx="5303520" cy="320040"/>
          </a:xfrm>
          <a:prstGeom prst="rect">
            <a:avLst/>
          </a:prstGeom>
          <a:noFill/>
          <a:ln/>
        </p:spPr>
        <p:txBody>
          <a:bodyPr wrap="square" lIns="0" tIns="0" rIns="0" bIns="0" rtlCol="0" anchor="ctr">
            <a:normAutofit/>
          </a:bodyPr>
          <a:lstStyle/>
          <a:p>
            <a:pPr algn="l" indent="0" marL="0">
              <a:buNone/>
            </a:pPr>
            <a:r>
              <a:rPr lang="en-US" sz="1700" dirty="0">
                <a:solidFill>
                  <a:srgbClr val="1C3044"/>
                </a:solidFill>
                <a:latin typeface="Aptos" pitchFamily="34" charset="0"/>
                <a:ea typeface="Aptos" pitchFamily="34" charset="-122"/>
                <a:cs typeface="Aptos" pitchFamily="34" charset="-120"/>
              </a:rPr>
              <a:t>Contenido / fichas</a:t>
            </a:r>
            <a:endParaRPr lang="en-US" sz="1700" dirty="0"/>
          </a:p>
        </p:txBody>
      </p:sp>
      <p:sp>
        <p:nvSpPr>
          <p:cNvPr id="20" name="Text 18"/>
          <p:cNvSpPr/>
          <p:nvPr/>
        </p:nvSpPr>
        <p:spPr>
          <a:xfrm>
            <a:off x="8046720" y="4727448"/>
            <a:ext cx="2852928" cy="320040"/>
          </a:xfrm>
          <a:prstGeom prst="rect">
            <a:avLst/>
          </a:prstGeom>
          <a:noFill/>
          <a:ln/>
        </p:spPr>
        <p:txBody>
          <a:bodyPr wrap="square" lIns="0" tIns="0" rIns="0" bIns="0" rtlCol="0" anchor="ctr">
            <a:normAutofit/>
          </a:bodyPr>
          <a:lstStyle/>
          <a:p>
            <a:pPr algn="r" indent="0" marL="0">
              <a:buNone/>
            </a:pPr>
            <a:r>
              <a:rPr lang="en-US" sz="1700" b="1" dirty="0">
                <a:solidFill>
                  <a:srgbClr val="12766C"/>
                </a:solidFill>
                <a:latin typeface="Aptos" pitchFamily="34" charset="0"/>
                <a:ea typeface="Aptos" pitchFamily="34" charset="-122"/>
                <a:cs typeface="Aptos" pitchFamily="34" charset="-120"/>
              </a:rPr>
              <a:t>$6,000</a:t>
            </a:r>
            <a:endParaRPr lang="en-US" sz="1700" dirty="0"/>
          </a:p>
        </p:txBody>
      </p:sp>
      <p:sp>
        <p:nvSpPr>
          <p:cNvPr id="21" name="Text 19"/>
          <p:cNvSpPr/>
          <p:nvPr/>
        </p:nvSpPr>
        <p:spPr>
          <a:xfrm>
            <a:off x="923544" y="5230368"/>
            <a:ext cx="5303520" cy="320040"/>
          </a:xfrm>
          <a:prstGeom prst="rect">
            <a:avLst/>
          </a:prstGeom>
          <a:noFill/>
          <a:ln/>
        </p:spPr>
        <p:txBody>
          <a:bodyPr wrap="square" lIns="0" tIns="0" rIns="0" bIns="0" rtlCol="0" anchor="ctr">
            <a:normAutofit/>
          </a:bodyPr>
          <a:lstStyle/>
          <a:p>
            <a:pPr algn="l" indent="0" marL="0">
              <a:buNone/>
            </a:pPr>
            <a:r>
              <a:rPr lang="en-US" sz="1700" dirty="0">
                <a:solidFill>
                  <a:srgbClr val="1C3044"/>
                </a:solidFill>
                <a:latin typeface="Aptos" pitchFamily="34" charset="0"/>
                <a:ea typeface="Aptos" pitchFamily="34" charset="-122"/>
                <a:cs typeface="Aptos" pitchFamily="34" charset="-120"/>
              </a:rPr>
              <a:t>Medición</a:t>
            </a:r>
            <a:endParaRPr lang="en-US" sz="1700" dirty="0"/>
          </a:p>
        </p:txBody>
      </p:sp>
      <p:sp>
        <p:nvSpPr>
          <p:cNvPr id="22" name="Text 20"/>
          <p:cNvSpPr/>
          <p:nvPr/>
        </p:nvSpPr>
        <p:spPr>
          <a:xfrm>
            <a:off x="8046720" y="5230368"/>
            <a:ext cx="2852928" cy="320040"/>
          </a:xfrm>
          <a:prstGeom prst="rect">
            <a:avLst/>
          </a:prstGeom>
          <a:noFill/>
          <a:ln/>
        </p:spPr>
        <p:txBody>
          <a:bodyPr wrap="square" lIns="0" tIns="0" rIns="0" bIns="0" rtlCol="0" anchor="ctr">
            <a:normAutofit/>
          </a:bodyPr>
          <a:lstStyle/>
          <a:p>
            <a:pPr algn="r" indent="0" marL="0">
              <a:buNone/>
            </a:pPr>
            <a:r>
              <a:rPr lang="en-US" sz="1700" b="1" dirty="0">
                <a:solidFill>
                  <a:srgbClr val="12766C"/>
                </a:solidFill>
                <a:latin typeface="Aptos" pitchFamily="34" charset="0"/>
                <a:ea typeface="Aptos" pitchFamily="34" charset="-122"/>
                <a:cs typeface="Aptos" pitchFamily="34" charset="-120"/>
              </a:rPr>
              <a:t>$3,000</a:t>
            </a:r>
            <a:endParaRPr lang="en-US" sz="1700" dirty="0"/>
          </a:p>
        </p:txBody>
      </p:sp>
      <p:sp>
        <p:nvSpPr>
          <p:cNvPr id="23" name="Shape 21"/>
          <p:cNvSpPr/>
          <p:nvPr/>
        </p:nvSpPr>
        <p:spPr>
          <a:xfrm>
            <a:off x="749808" y="5888736"/>
            <a:ext cx="10698480" cy="393192"/>
          </a:xfrm>
          <a:prstGeom prst="roundRect">
            <a:avLst>
              <a:gd name="adj" fmla="val 27907"/>
            </a:avLst>
          </a:prstGeom>
          <a:solidFill>
            <a:srgbClr val="F7F3E9"/>
          </a:solidFill>
          <a:ln w="8890">
            <a:solidFill>
              <a:srgbClr val="D9E2E8"/>
            </a:solidFill>
            <a:prstDash val="solid"/>
          </a:ln>
        </p:spPr>
        <p:txBody>
          <a:bodyPr/>
          <a:p/>
        </p:txBody>
      </p:sp>
      <p:sp>
        <p:nvSpPr>
          <p:cNvPr id="24" name="Text 22"/>
          <p:cNvSpPr/>
          <p:nvPr/>
        </p:nvSpPr>
        <p:spPr>
          <a:xfrm>
            <a:off x="914400" y="5989320"/>
            <a:ext cx="10305288" cy="182880"/>
          </a:xfrm>
          <a:prstGeom prst="rect">
            <a:avLst/>
          </a:prstGeom>
          <a:noFill/>
          <a:ln/>
        </p:spPr>
        <p:txBody>
          <a:bodyPr wrap="square" lIns="0" tIns="0" rIns="0" bIns="0" rtlCol="0" anchor="ctr">
            <a:normAutofit/>
          </a:bodyPr>
          <a:lstStyle/>
          <a:p>
            <a:pPr algn="l" indent="0" marL="0">
              <a:buNone/>
            </a:pPr>
            <a:r>
              <a:rPr lang="en-US" sz="1200" dirty="0">
                <a:solidFill>
                  <a:srgbClr val="10233C"/>
                </a:solidFill>
                <a:latin typeface="Aptos" pitchFamily="34" charset="0"/>
                <a:ea typeface="Aptos" pitchFamily="34" charset="-122"/>
                <a:cs typeface="Aptos" pitchFamily="34" charset="-120"/>
              </a:rPr>
              <a:t>MXN 5 000 por municipio como unidad de esfuerzo; distribución por canales para el piloto.</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oundRect">
            <a:avLst/>
          </a:prstGeom>
          <a:solidFill>
            <a:srgbClr val="12766C"/>
          </a:solidFill>
          <a:ln w="8890">
            <a:solidFill>
              <a:srgbClr val="12766C"/>
            </a:solidFill>
            <a:prstDash val="solid"/>
          </a:ln>
        </p:spPr>
        <p:txBody>
          <a:bodyPr/>
          <a:p/>
        </p:txBody>
      </p:sp>
      <p:sp>
        <p:nvSpPr>
          <p:cNvPr id="3" name="Text 1"/>
          <p:cNvSpPr/>
          <p:nvPr/>
        </p:nvSpPr>
        <p:spPr>
          <a:xfrm>
            <a:off x="585216" y="347472"/>
            <a:ext cx="10789920" cy="219456"/>
          </a:xfrm>
          <a:prstGeom prst="rect">
            <a:avLst/>
          </a:prstGeom>
          <a:noFill/>
          <a:ln/>
        </p:spPr>
        <p:txBody>
          <a:bodyPr wrap="square" lIns="0" tIns="0" rIns="0" bIns="0" rtlCol="0" anchor="ctr">
            <a:normAutofit/>
          </a:bodyPr>
          <a:lstStyle/>
          <a:p>
            <a:pPr algn="l" indent="0" marL="0">
              <a:buNone/>
            </a:pPr>
            <a:r>
              <a:rPr lang="en-US" sz="900" b="1" spc="150" kern="0" dirty="0">
                <a:solidFill>
                  <a:srgbClr val="12766C"/>
                </a:solidFill>
                <a:latin typeface="Aptos" pitchFamily="34" charset="0"/>
                <a:ea typeface="Aptos" pitchFamily="34" charset="-122"/>
                <a:cs typeface="Aptos" pitchFamily="34" charset="-120"/>
              </a:rPr>
              <a:t>INDICADORES Y SALVAGUARDAS</a:t>
            </a:r>
            <a:endParaRPr lang="en-US" sz="900" dirty="0"/>
          </a:p>
        </p:txBody>
      </p:sp>
      <p:sp>
        <p:nvSpPr>
          <p:cNvPr id="4" name="Text 2"/>
          <p:cNvSpPr/>
          <p:nvPr/>
        </p:nvSpPr>
        <p:spPr>
          <a:xfrm>
            <a:off x="585216" y="749808"/>
            <a:ext cx="11064240" cy="658368"/>
          </a:xfrm>
          <a:prstGeom prst="rect">
            <a:avLst/>
          </a:prstGeom>
          <a:noFill/>
          <a:ln/>
        </p:spPr>
        <p:txBody>
          <a:bodyPr wrap="square" lIns="0" tIns="0" rIns="0" bIns="0" rtlCol="0" anchor="ctr">
            <a:normAutofit/>
          </a:bodyPr>
          <a:lstStyle/>
          <a:p>
            <a:pPr algn="l" indent="0" marL="0">
              <a:buNone/>
            </a:pPr>
            <a:r>
              <a:rPr lang="en-US" sz="2900" b="1" dirty="0">
                <a:solidFill>
                  <a:srgbClr val="10233C"/>
                </a:solidFill>
                <a:latin typeface="Aptos" pitchFamily="34" charset="0"/>
                <a:ea typeface="Aptos" pitchFamily="34" charset="-122"/>
                <a:cs typeface="Aptos" pitchFamily="34" charset="-120"/>
              </a:rPr>
              <a:t>Evaluación de desempeño e impacto</a:t>
            </a:r>
            <a:endParaRPr lang="en-US" sz="2900" dirty="0"/>
          </a:p>
        </p:txBody>
      </p:sp>
      <p:sp>
        <p:nvSpPr>
          <p:cNvPr id="5" name="Shape 3"/>
          <p:cNvSpPr/>
          <p:nvPr/>
        </p:nvSpPr>
        <p:spPr>
          <a:xfrm>
            <a:off x="585216" y="1508760"/>
            <a:ext cx="10991088" cy="0"/>
          </a:xfrm>
          <a:prstGeom prst="line">
            <a:avLst/>
          </a:prstGeom>
          <a:noFill/>
          <a:ln w="15875">
            <a:solidFill>
              <a:srgbClr val="D9E2E8"/>
            </a:solidFill>
            <a:prstDash val="solid"/>
          </a:ln>
        </p:spPr>
        <p:txBody>
          <a:bodyPr/>
          <a:p/>
        </p:txBody>
      </p:sp>
      <p:sp>
        <p:nvSpPr>
          <p:cNvPr id="6" name="Text 4"/>
          <p:cNvSpPr/>
          <p:nvPr/>
        </p:nvSpPr>
        <p:spPr>
          <a:xfrm>
            <a:off x="585216" y="6547104"/>
            <a:ext cx="9921240" cy="137160"/>
          </a:xfrm>
          <a:prstGeom prst="rect">
            <a:avLst/>
          </a:prstGeom>
          <a:noFill/>
          <a:ln/>
        </p:spPr>
        <p:txBody>
          <a:bodyPr wrap="square" lIns="0" tIns="0" rIns="0" bIns="0" rtlCol="0" anchor="ctr">
            <a:normAutofit/>
          </a:bodyPr>
          <a:lstStyle/>
          <a:p>
            <a:pPr algn="l" indent="0" marL="0">
              <a:buNone/>
            </a:pPr>
            <a:r>
              <a:rPr lang="en-US" sz="850" dirty="0">
                <a:solidFill>
                  <a:srgbClr val="5E7182"/>
                </a:solidFill>
                <a:latin typeface="Aptos" pitchFamily="34" charset="0"/>
                <a:ea typeface="Aptos" pitchFamily="34" charset="-122"/>
                <a:cs typeface="Aptos" pitchFamily="34" charset="-120"/>
              </a:rPr>
              <a:t>Elaboración propia · Modelo publicitario MXN 30 000</a:t>
            </a:r>
            <a:endParaRPr lang="en-US" sz="850" dirty="0"/>
          </a:p>
        </p:txBody>
      </p:sp>
      <p:sp>
        <p:nvSpPr>
          <p:cNvPr id="7" name="Text 5"/>
          <p:cNvSpPr/>
          <p:nvPr/>
        </p:nvSpPr>
        <p:spPr>
          <a:xfrm>
            <a:off x="11018520" y="6519672"/>
            <a:ext cx="475488" cy="164592"/>
          </a:xfrm>
          <a:prstGeom prst="rect">
            <a:avLst/>
          </a:prstGeom>
          <a:noFill/>
          <a:ln/>
        </p:spPr>
        <p:txBody>
          <a:bodyPr wrap="square" lIns="0" tIns="0" rIns="0" bIns="0" rtlCol="0" anchor="ctr">
            <a:normAutofit/>
          </a:bodyPr>
          <a:lstStyle/>
          <a:p>
            <a:pPr algn="r" indent="0" marL="0">
              <a:buNone/>
            </a:pPr>
            <a:r>
              <a:rPr lang="en-US" sz="900" dirty="0">
                <a:solidFill>
                  <a:srgbClr val="5E7182"/>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713232" y="1856232"/>
            <a:ext cx="10762488" cy="667512"/>
          </a:xfrm>
          <a:prstGeom prst="roundRect">
            <a:avLst>
              <a:gd name="adj" fmla="val 16438"/>
            </a:avLst>
          </a:prstGeom>
          <a:solidFill>
            <a:srgbClr val="EDF2F6"/>
          </a:solidFill>
          <a:ln w="8890">
            <a:solidFill>
              <a:srgbClr val="D9E2E8"/>
            </a:solidFill>
            <a:prstDash val="solid"/>
          </a:ln>
        </p:spPr>
        <p:txBody>
          <a:bodyPr/>
          <a:p/>
        </p:txBody>
      </p:sp>
      <p:sp>
        <p:nvSpPr>
          <p:cNvPr id="9" name="Text 7"/>
          <p:cNvSpPr/>
          <p:nvPr/>
        </p:nvSpPr>
        <p:spPr>
          <a:xfrm>
            <a:off x="896112" y="2002536"/>
            <a:ext cx="2139696" cy="329184"/>
          </a:xfrm>
          <a:prstGeom prst="rect">
            <a:avLst/>
          </a:prstGeom>
          <a:noFill/>
          <a:ln/>
        </p:spPr>
        <p:txBody>
          <a:bodyPr wrap="square" lIns="0" tIns="0" rIns="0" bIns="0" rtlCol="0" anchor="ctr">
            <a:normAutofit/>
          </a:bodyPr>
          <a:lstStyle/>
          <a:p>
            <a:pPr algn="l" indent="0" marL="0">
              <a:buNone/>
            </a:pPr>
            <a:r>
              <a:rPr lang="en-US" sz="1650" b="1" dirty="0">
                <a:solidFill>
                  <a:srgbClr val="12766C"/>
                </a:solidFill>
                <a:latin typeface="Aptos" pitchFamily="34" charset="0"/>
                <a:ea typeface="Aptos" pitchFamily="34" charset="-122"/>
                <a:cs typeface="Aptos" pitchFamily="34" charset="-120"/>
              </a:rPr>
              <a:t>Visibilidad</a:t>
            </a:r>
            <a:endParaRPr lang="en-US" sz="1650" dirty="0"/>
          </a:p>
        </p:txBody>
      </p:sp>
      <p:sp>
        <p:nvSpPr>
          <p:cNvPr id="10" name="Text 8"/>
          <p:cNvSpPr/>
          <p:nvPr/>
        </p:nvSpPr>
        <p:spPr>
          <a:xfrm>
            <a:off x="3054096" y="1993392"/>
            <a:ext cx="5349240" cy="329184"/>
          </a:xfrm>
          <a:prstGeom prst="rect">
            <a:avLst/>
          </a:prstGeom>
          <a:noFill/>
          <a:ln/>
        </p:spPr>
        <p:txBody>
          <a:bodyPr wrap="square" lIns="0" tIns="0" rIns="0" bIns="0" rtlCol="0" anchor="ctr">
            <a:normAutofit/>
          </a:bodyPr>
          <a:lstStyle/>
          <a:p>
            <a:pPr algn="l" indent="0" marL="0">
              <a:buNone/>
            </a:pPr>
            <a:r>
              <a:rPr lang="en-US" sz="1600" dirty="0">
                <a:solidFill>
                  <a:srgbClr val="1C3044"/>
                </a:solidFill>
                <a:latin typeface="Aptos" pitchFamily="34" charset="0"/>
                <a:ea typeface="Aptos" pitchFamily="34" charset="-122"/>
                <a:cs typeface="Aptos" pitchFamily="34" charset="-120"/>
              </a:rPr>
              <a:t>Impresiones, alcance y CTR</a:t>
            </a:r>
            <a:endParaRPr lang="en-US" sz="1600" dirty="0"/>
          </a:p>
        </p:txBody>
      </p:sp>
      <p:sp>
        <p:nvSpPr>
          <p:cNvPr id="11" name="Text 9"/>
          <p:cNvSpPr/>
          <p:nvPr/>
        </p:nvSpPr>
        <p:spPr>
          <a:xfrm>
            <a:off x="8549640" y="1993392"/>
            <a:ext cx="2606040" cy="329184"/>
          </a:xfrm>
          <a:prstGeom prst="rect">
            <a:avLst/>
          </a:prstGeom>
          <a:noFill/>
          <a:ln/>
        </p:spPr>
        <p:txBody>
          <a:bodyPr wrap="square" lIns="0" tIns="0" rIns="0" bIns="0" rtlCol="0" anchor="ctr">
            <a:normAutofit/>
          </a:bodyPr>
          <a:lstStyle/>
          <a:p>
            <a:pPr algn="l" indent="0" marL="0">
              <a:buNone/>
            </a:pPr>
            <a:r>
              <a:rPr lang="en-US" sz="1450" dirty="0">
                <a:solidFill>
                  <a:srgbClr val="5E7182"/>
                </a:solidFill>
                <a:latin typeface="Aptos" pitchFamily="34" charset="0"/>
                <a:ea typeface="Aptos" pitchFamily="34" charset="-122"/>
                <a:cs typeface="Aptos" pitchFamily="34" charset="-120"/>
              </a:rPr>
              <a:t>Plataformas</a:t>
            </a:r>
            <a:endParaRPr lang="en-US" sz="1450" dirty="0"/>
          </a:p>
        </p:txBody>
      </p:sp>
      <p:sp>
        <p:nvSpPr>
          <p:cNvPr id="12" name="Shape 10"/>
          <p:cNvSpPr/>
          <p:nvPr/>
        </p:nvSpPr>
        <p:spPr>
          <a:xfrm>
            <a:off x="713232" y="2660904"/>
            <a:ext cx="10762488" cy="667512"/>
          </a:xfrm>
          <a:prstGeom prst="roundRect">
            <a:avLst>
              <a:gd name="adj" fmla="val 16438"/>
            </a:avLst>
          </a:prstGeom>
          <a:solidFill>
            <a:srgbClr val="FFFFFF"/>
          </a:solidFill>
          <a:ln w="8890">
            <a:solidFill>
              <a:srgbClr val="D9E2E8"/>
            </a:solidFill>
            <a:prstDash val="solid"/>
          </a:ln>
        </p:spPr>
        <p:txBody>
          <a:bodyPr/>
          <a:p/>
        </p:txBody>
      </p:sp>
      <p:sp>
        <p:nvSpPr>
          <p:cNvPr id="13" name="Text 11"/>
          <p:cNvSpPr/>
          <p:nvPr/>
        </p:nvSpPr>
        <p:spPr>
          <a:xfrm>
            <a:off x="896112" y="2807208"/>
            <a:ext cx="2139696" cy="329184"/>
          </a:xfrm>
          <a:prstGeom prst="rect">
            <a:avLst/>
          </a:prstGeom>
          <a:noFill/>
          <a:ln/>
        </p:spPr>
        <p:txBody>
          <a:bodyPr wrap="square" lIns="0" tIns="0" rIns="0" bIns="0" rtlCol="0" anchor="ctr">
            <a:normAutofit/>
          </a:bodyPr>
          <a:lstStyle/>
          <a:p>
            <a:pPr algn="l" indent="0" marL="0">
              <a:buNone/>
            </a:pPr>
            <a:r>
              <a:rPr lang="en-US" sz="1650" b="1" dirty="0">
                <a:solidFill>
                  <a:srgbClr val="12766C"/>
                </a:solidFill>
                <a:latin typeface="Aptos" pitchFamily="34" charset="0"/>
                <a:ea typeface="Aptos" pitchFamily="34" charset="-122"/>
                <a:cs typeface="Aptos" pitchFamily="34" charset="-120"/>
              </a:rPr>
              <a:t>Interés</a:t>
            </a:r>
            <a:endParaRPr lang="en-US" sz="1650" dirty="0"/>
          </a:p>
        </p:txBody>
      </p:sp>
      <p:sp>
        <p:nvSpPr>
          <p:cNvPr id="14" name="Text 12"/>
          <p:cNvSpPr/>
          <p:nvPr/>
        </p:nvSpPr>
        <p:spPr>
          <a:xfrm>
            <a:off x="3054096" y="2798064"/>
            <a:ext cx="5349240" cy="329184"/>
          </a:xfrm>
          <a:prstGeom prst="rect">
            <a:avLst/>
          </a:prstGeom>
          <a:noFill/>
          <a:ln/>
        </p:spPr>
        <p:txBody>
          <a:bodyPr wrap="square" lIns="0" tIns="0" rIns="0" bIns="0" rtlCol="0" anchor="ctr">
            <a:normAutofit/>
          </a:bodyPr>
          <a:lstStyle/>
          <a:p>
            <a:r>
              <a:t>Rutas guardadas; contactos abiertos</a:t>
            </a:r>
          </a:p>
        </p:txBody>
      </p:sp>
      <p:sp>
        <p:nvSpPr>
          <p:cNvPr id="15" name="Text 13"/>
          <p:cNvSpPr/>
          <p:nvPr/>
        </p:nvSpPr>
        <p:spPr>
          <a:xfrm>
            <a:off x="8549640" y="2798064"/>
            <a:ext cx="2606040" cy="329184"/>
          </a:xfrm>
          <a:prstGeom prst="rect">
            <a:avLst/>
          </a:prstGeom>
          <a:noFill/>
          <a:ln/>
        </p:spPr>
        <p:txBody>
          <a:bodyPr wrap="square" lIns="0" tIns="0" rIns="0" bIns="0" rtlCol="0" anchor="ctr">
            <a:normAutofit/>
          </a:bodyPr>
          <a:lstStyle/>
          <a:p>
            <a:r>
              <a:t>Sitio y ofertas</a:t>
            </a:r>
          </a:p>
        </p:txBody>
      </p:sp>
      <p:sp>
        <p:nvSpPr>
          <p:cNvPr id="16" name="Shape 14"/>
          <p:cNvSpPr/>
          <p:nvPr/>
        </p:nvSpPr>
        <p:spPr>
          <a:xfrm>
            <a:off x="713232" y="3465576"/>
            <a:ext cx="10762488" cy="667512"/>
          </a:xfrm>
          <a:prstGeom prst="roundRect">
            <a:avLst>
              <a:gd name="adj" fmla="val 16438"/>
            </a:avLst>
          </a:prstGeom>
          <a:solidFill>
            <a:srgbClr val="EDF2F6"/>
          </a:solidFill>
          <a:ln w="8890">
            <a:solidFill>
              <a:srgbClr val="D9E2E8"/>
            </a:solidFill>
            <a:prstDash val="solid"/>
          </a:ln>
        </p:spPr>
        <p:txBody>
          <a:bodyPr/>
          <a:p/>
        </p:txBody>
      </p:sp>
      <p:sp>
        <p:nvSpPr>
          <p:cNvPr id="17" name="Text 15"/>
          <p:cNvSpPr/>
          <p:nvPr/>
        </p:nvSpPr>
        <p:spPr>
          <a:xfrm>
            <a:off x="896112" y="3611880"/>
            <a:ext cx="2139696" cy="329184"/>
          </a:xfrm>
          <a:prstGeom prst="rect">
            <a:avLst/>
          </a:prstGeom>
          <a:noFill/>
          <a:ln/>
        </p:spPr>
        <p:txBody>
          <a:bodyPr wrap="square" lIns="0" tIns="0" rIns="0" bIns="0" rtlCol="0" anchor="ctr">
            <a:normAutofit/>
          </a:bodyPr>
          <a:lstStyle/>
          <a:p>
            <a:pPr algn="l" indent="0" marL="0">
              <a:buNone/>
            </a:pPr>
            <a:r>
              <a:rPr lang="en-US" sz="1650" b="1" dirty="0">
                <a:solidFill>
                  <a:srgbClr val="12766C"/>
                </a:solidFill>
                <a:latin typeface="Aptos" pitchFamily="34" charset="0"/>
                <a:ea typeface="Aptos" pitchFamily="34" charset="-122"/>
                <a:cs typeface="Aptos" pitchFamily="34" charset="-120"/>
              </a:rPr>
              <a:t>Gasto</a:t>
            </a:r>
            <a:endParaRPr lang="en-US" sz="1650" dirty="0"/>
          </a:p>
        </p:txBody>
      </p:sp>
      <p:sp>
        <p:nvSpPr>
          <p:cNvPr id="18" name="Text 16"/>
          <p:cNvSpPr/>
          <p:nvPr/>
        </p:nvSpPr>
        <p:spPr>
          <a:xfrm>
            <a:off x="3054096" y="3602736"/>
            <a:ext cx="5349240" cy="329184"/>
          </a:xfrm>
          <a:prstGeom prst="rect">
            <a:avLst/>
          </a:prstGeom>
          <a:noFill/>
          <a:ln/>
        </p:spPr>
        <p:txBody>
          <a:bodyPr wrap="square" lIns="0" tIns="0" rIns="0" bIns="0" rtlCol="0" anchor="ctr">
            <a:normAutofit/>
          </a:bodyPr>
          <a:lstStyle/>
          <a:p>
            <a:r>
              <a:t>Costo por contacto verificado</a:t>
            </a:r>
          </a:p>
        </p:txBody>
      </p:sp>
      <p:sp>
        <p:nvSpPr>
          <p:cNvPr id="19" name="Text 17"/>
          <p:cNvSpPr/>
          <p:nvPr/>
        </p:nvSpPr>
        <p:spPr>
          <a:xfrm>
            <a:off x="8549640" y="3602736"/>
            <a:ext cx="2606040" cy="329184"/>
          </a:xfrm>
          <a:prstGeom prst="rect">
            <a:avLst/>
          </a:prstGeom>
          <a:noFill/>
          <a:ln/>
        </p:spPr>
        <p:txBody>
          <a:bodyPr wrap="square" lIns="0" tIns="0" rIns="0" bIns="0" rtlCol="0" anchor="ctr">
            <a:normAutofit/>
          </a:bodyPr>
          <a:lstStyle/>
          <a:p>
            <a:pPr algn="l" indent="0" marL="0">
              <a:buNone/>
            </a:pPr>
            <a:r>
              <a:rPr lang="en-US" sz="1450" dirty="0">
                <a:solidFill>
                  <a:srgbClr val="5E7182"/>
                </a:solidFill>
                <a:latin typeface="Aptos" pitchFamily="34" charset="0"/>
                <a:ea typeface="Aptos" pitchFamily="34" charset="-122"/>
                <a:cs typeface="Aptos" pitchFamily="34" charset="-120"/>
              </a:rPr>
              <a:t>Presupuesto real</a:t>
            </a:r>
            <a:endParaRPr lang="en-US" sz="1450" dirty="0"/>
          </a:p>
        </p:txBody>
      </p:sp>
      <p:sp>
        <p:nvSpPr>
          <p:cNvPr id="20" name="Shape 18"/>
          <p:cNvSpPr/>
          <p:nvPr/>
        </p:nvSpPr>
        <p:spPr>
          <a:xfrm>
            <a:off x="713232" y="4270248"/>
            <a:ext cx="10762488" cy="667512"/>
          </a:xfrm>
          <a:prstGeom prst="roundRect">
            <a:avLst>
              <a:gd name="adj" fmla="val 16438"/>
            </a:avLst>
          </a:prstGeom>
          <a:solidFill>
            <a:srgbClr val="FFFFFF"/>
          </a:solidFill>
          <a:ln w="8890">
            <a:solidFill>
              <a:srgbClr val="D9E2E8"/>
            </a:solidFill>
            <a:prstDash val="solid"/>
          </a:ln>
        </p:spPr>
        <p:txBody>
          <a:bodyPr/>
          <a:p/>
        </p:txBody>
      </p:sp>
      <p:sp>
        <p:nvSpPr>
          <p:cNvPr id="21" name="Text 19"/>
          <p:cNvSpPr/>
          <p:nvPr/>
        </p:nvSpPr>
        <p:spPr>
          <a:xfrm>
            <a:off x="896112" y="4416552"/>
            <a:ext cx="2139696" cy="329184"/>
          </a:xfrm>
          <a:prstGeom prst="rect">
            <a:avLst/>
          </a:prstGeom>
          <a:noFill/>
          <a:ln/>
        </p:spPr>
        <p:txBody>
          <a:bodyPr wrap="square" lIns="0" tIns="0" rIns="0" bIns="0" rtlCol="0" anchor="ctr">
            <a:normAutofit/>
          </a:bodyPr>
          <a:lstStyle/>
          <a:p>
            <a:pPr algn="l" indent="0" marL="0">
              <a:buNone/>
            </a:pPr>
            <a:r>
              <a:rPr lang="en-US" sz="1650" b="1" dirty="0">
                <a:solidFill>
                  <a:srgbClr val="12766C"/>
                </a:solidFill>
                <a:latin typeface="Aptos" pitchFamily="34" charset="0"/>
                <a:ea typeface="Aptos" pitchFamily="34" charset="-122"/>
                <a:cs typeface="Aptos" pitchFamily="34" charset="-120"/>
              </a:rPr>
              <a:t>Impacto turístico</a:t>
            </a:r>
            <a:endParaRPr lang="en-US" sz="1650" dirty="0"/>
          </a:p>
        </p:txBody>
      </p:sp>
      <p:sp>
        <p:nvSpPr>
          <p:cNvPr id="22" name="Text 20"/>
          <p:cNvSpPr/>
          <p:nvPr/>
        </p:nvSpPr>
        <p:spPr>
          <a:xfrm>
            <a:off x="3054096" y="4407408"/>
            <a:ext cx="5349240" cy="329184"/>
          </a:xfrm>
          <a:prstGeom prst="rect">
            <a:avLst/>
          </a:prstGeom>
          <a:noFill/>
          <a:ln/>
        </p:spPr>
        <p:txBody>
          <a:bodyPr wrap="square" lIns="0" tIns="0" rIns="0" bIns="0" rtlCol="0" anchor="ctr">
            <a:normAutofit/>
          </a:bodyPr>
          <a:lstStyle/>
          <a:p>
            <a:pPr algn="l" indent="0" marL="0">
              <a:buNone/>
            </a:pPr>
            <a:r>
              <a:rPr lang="en-US" sz="1600" dirty="0">
                <a:solidFill>
                  <a:srgbClr val="1C3044"/>
                </a:solidFill>
                <a:latin typeface="Aptos" pitchFamily="34" charset="0"/>
                <a:ea typeface="Aptos" pitchFamily="34" charset="-122"/>
                <a:cs typeface="Aptos" pitchFamily="34" charset="-120"/>
              </a:rPr>
              <a:t>Cambio de visitas, con base comparable</a:t>
            </a:r>
            <a:endParaRPr lang="en-US" sz="1600" dirty="0"/>
          </a:p>
        </p:txBody>
      </p:sp>
      <p:sp>
        <p:nvSpPr>
          <p:cNvPr id="23" name="Text 21"/>
          <p:cNvSpPr/>
          <p:nvPr/>
        </p:nvSpPr>
        <p:spPr>
          <a:xfrm>
            <a:off x="8549640" y="4407408"/>
            <a:ext cx="2606040" cy="329184"/>
          </a:xfrm>
          <a:prstGeom prst="rect">
            <a:avLst/>
          </a:prstGeom>
          <a:noFill/>
          <a:ln/>
        </p:spPr>
        <p:txBody>
          <a:bodyPr wrap="square" lIns="0" tIns="0" rIns="0" bIns="0" rtlCol="0" anchor="ctr">
            <a:normAutofit/>
          </a:bodyPr>
          <a:lstStyle/>
          <a:p>
            <a:pPr algn="l" indent="0" marL="0">
              <a:buNone/>
            </a:pPr>
            <a:r>
              <a:rPr lang="en-US" sz="1450" dirty="0">
                <a:solidFill>
                  <a:srgbClr val="5E7182"/>
                </a:solidFill>
                <a:latin typeface="Aptos" pitchFamily="34" charset="0"/>
                <a:ea typeface="Aptos" pitchFamily="34" charset="-122"/>
                <a:cs typeface="Aptos" pitchFamily="34" charset="-120"/>
              </a:rPr>
              <a:t>Registro posterior</a:t>
            </a:r>
            <a:endParaRPr lang="en-US" sz="1450" dirty="0"/>
          </a:p>
        </p:txBody>
      </p:sp>
      <p:sp>
        <p:nvSpPr>
          <p:cNvPr id="24" name="Shape 22"/>
          <p:cNvSpPr/>
          <p:nvPr/>
        </p:nvSpPr>
        <p:spPr>
          <a:xfrm>
            <a:off x="713232" y="5074920"/>
            <a:ext cx="10762488" cy="667512"/>
          </a:xfrm>
          <a:prstGeom prst="roundRect">
            <a:avLst>
              <a:gd name="adj" fmla="val 16438"/>
            </a:avLst>
          </a:prstGeom>
          <a:solidFill>
            <a:srgbClr val="EDF2F6"/>
          </a:solidFill>
          <a:ln w="8890">
            <a:solidFill>
              <a:srgbClr val="D9E2E8"/>
            </a:solidFill>
            <a:prstDash val="solid"/>
          </a:ln>
        </p:spPr>
        <p:txBody>
          <a:bodyPr/>
          <a:p/>
        </p:txBody>
      </p:sp>
      <p:sp>
        <p:nvSpPr>
          <p:cNvPr id="25" name="Text 23"/>
          <p:cNvSpPr/>
          <p:nvPr/>
        </p:nvSpPr>
        <p:spPr>
          <a:xfrm>
            <a:off x="896112" y="5221224"/>
            <a:ext cx="2139696" cy="329184"/>
          </a:xfrm>
          <a:prstGeom prst="rect">
            <a:avLst/>
          </a:prstGeom>
          <a:noFill/>
          <a:ln/>
        </p:spPr>
        <p:txBody>
          <a:bodyPr wrap="square" lIns="0" tIns="0" rIns="0" bIns="0" rtlCol="0" anchor="ctr">
            <a:normAutofit/>
          </a:bodyPr>
          <a:lstStyle/>
          <a:p>
            <a:pPr algn="l" indent="0" marL="0">
              <a:buNone/>
            </a:pPr>
            <a:r>
              <a:rPr lang="en-US" sz="1650" b="1" dirty="0">
                <a:solidFill>
                  <a:srgbClr val="12766C"/>
                </a:solidFill>
                <a:latin typeface="Aptos" pitchFamily="34" charset="0"/>
                <a:ea typeface="Aptos" pitchFamily="34" charset="-122"/>
                <a:cs typeface="Aptos" pitchFamily="34" charset="-120"/>
              </a:rPr>
              <a:t>Sustentabilidad</a:t>
            </a:r>
            <a:endParaRPr lang="en-US" sz="1650" dirty="0"/>
          </a:p>
        </p:txBody>
      </p:sp>
      <p:sp>
        <p:nvSpPr>
          <p:cNvPr id="26" name="Text 24"/>
          <p:cNvSpPr/>
          <p:nvPr/>
        </p:nvSpPr>
        <p:spPr>
          <a:xfrm>
            <a:off x="3054096" y="5212080"/>
            <a:ext cx="5349240" cy="329184"/>
          </a:xfrm>
          <a:prstGeom prst="rect">
            <a:avLst/>
          </a:prstGeom>
          <a:noFill/>
          <a:ln/>
        </p:spPr>
        <p:txBody>
          <a:bodyPr wrap="square" lIns="0" tIns="0" rIns="0" bIns="0" rtlCol="0" anchor="ctr">
            <a:normAutofit/>
          </a:bodyPr>
          <a:lstStyle/>
          <a:p>
            <a:pPr algn="l" indent="0" marL="0">
              <a:buNone/>
            </a:pPr>
            <a:r>
              <a:rPr lang="en-US" sz="1600" dirty="0">
                <a:solidFill>
                  <a:srgbClr val="1C3044"/>
                </a:solidFill>
                <a:latin typeface="Aptos" pitchFamily="34" charset="0"/>
                <a:ea typeface="Aptos" pitchFamily="34" charset="-122"/>
                <a:cs typeface="Aptos" pitchFamily="34" charset="-120"/>
              </a:rPr>
              <a:t>Disponibilidad, permisos y presión local</a:t>
            </a:r>
            <a:endParaRPr lang="en-US" sz="1600" dirty="0"/>
          </a:p>
        </p:txBody>
      </p:sp>
      <p:sp>
        <p:nvSpPr>
          <p:cNvPr id="27" name="Text 25"/>
          <p:cNvSpPr/>
          <p:nvPr/>
        </p:nvSpPr>
        <p:spPr>
          <a:xfrm>
            <a:off x="8549640" y="5212080"/>
            <a:ext cx="2606040" cy="329184"/>
          </a:xfrm>
          <a:prstGeom prst="rect">
            <a:avLst/>
          </a:prstGeom>
          <a:noFill/>
          <a:ln/>
        </p:spPr>
        <p:txBody>
          <a:bodyPr wrap="square" lIns="0" tIns="0" rIns="0" bIns="0" rtlCol="0" anchor="ctr">
            <a:normAutofit/>
          </a:bodyPr>
          <a:lstStyle/>
          <a:p>
            <a:pPr algn="l" indent="0" marL="0">
              <a:buNone/>
            </a:pPr>
            <a:r>
              <a:rPr lang="en-US" sz="1450" dirty="0">
                <a:solidFill>
                  <a:srgbClr val="5E7182"/>
                </a:solidFill>
                <a:latin typeface="Aptos" pitchFamily="34" charset="0"/>
                <a:ea typeface="Aptos" pitchFamily="34" charset="-122"/>
                <a:cs typeface="Aptos" pitchFamily="34" charset="-120"/>
              </a:rPr>
              <a:t>Confirmación externa</a:t>
            </a:r>
            <a:endParaRPr lang="en-US" sz="1450" dirty="0"/>
          </a:p>
        </p:txBody>
      </p:sp>
      <p:sp>
        <p:nvSpPr>
          <p:cNvPr id="28" name="Text 26"/>
          <p:cNvSpPr/>
          <p:nvPr/>
        </p:nvSpPr>
        <p:spPr>
          <a:xfrm>
            <a:off x="868680" y="6153912"/>
            <a:ext cx="10515600" cy="182880"/>
          </a:xfrm>
          <a:prstGeom prst="rect">
            <a:avLst/>
          </a:prstGeom>
          <a:noFill/>
          <a:ln/>
        </p:spPr>
        <p:txBody>
          <a:bodyPr wrap="square" lIns="0" tIns="0" rIns="0" bIns="0" rtlCol="0" anchor="ctr">
            <a:normAutofit/>
          </a:bodyPr>
          <a:lstStyle/>
          <a:p>
            <a:pPr algn="l" indent="0" marL="0">
              <a:buNone/>
            </a:pPr>
            <a:r>
              <a:rPr lang="en-US" sz="1300" b="1" dirty="0">
                <a:solidFill>
                  <a:srgbClr val="B64A44"/>
                </a:solidFill>
                <a:latin typeface="Aptos" pitchFamily="34" charset="0"/>
                <a:ea typeface="Aptos" pitchFamily="34" charset="-122"/>
                <a:cs typeface="Aptos" pitchFamily="34" charset="-120"/>
              </a:rPr>
              <a:t>El protocolo distingue métricas digitales y futuras mediciones de afluencia territorial.</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oundRect">
            <a:avLst/>
          </a:prstGeom>
          <a:solidFill>
            <a:srgbClr val="12766C"/>
          </a:solidFill>
          <a:ln w="8890">
            <a:solidFill>
              <a:srgbClr val="12766C"/>
            </a:solidFill>
            <a:prstDash val="solid"/>
          </a:ln>
        </p:spPr>
        <p:txBody>
          <a:bodyPr/>
          <a:p/>
        </p:txBody>
      </p:sp>
      <p:sp>
        <p:nvSpPr>
          <p:cNvPr id="3" name="Text 1"/>
          <p:cNvSpPr/>
          <p:nvPr/>
        </p:nvSpPr>
        <p:spPr>
          <a:xfrm>
            <a:off x="585216" y="347472"/>
            <a:ext cx="10789920" cy="219456"/>
          </a:xfrm>
          <a:prstGeom prst="rect">
            <a:avLst/>
          </a:prstGeom>
          <a:noFill/>
          <a:ln/>
        </p:spPr>
        <p:txBody>
          <a:bodyPr wrap="square" lIns="0" tIns="0" rIns="0" bIns="0" rtlCol="0" anchor="ctr">
            <a:normAutofit/>
          </a:bodyPr>
          <a:lstStyle/>
          <a:p>
            <a:pPr algn="l" indent="0" marL="0">
              <a:buNone/>
            </a:pPr>
            <a:r>
              <a:rPr lang="en-US" sz="900" b="1" spc="150" kern="0" dirty="0">
                <a:solidFill>
                  <a:srgbClr val="12766C"/>
                </a:solidFill>
                <a:latin typeface="Aptos" pitchFamily="34" charset="0"/>
                <a:ea typeface="Aptos" pitchFamily="34" charset="-122"/>
                <a:cs typeface="Aptos" pitchFamily="34" charset="-120"/>
              </a:rPr>
              <a:t>CIERRE · 15 MINUTOS</a:t>
            </a:r>
            <a:endParaRPr lang="en-US" sz="900" dirty="0"/>
          </a:p>
        </p:txBody>
      </p:sp>
      <p:sp>
        <p:nvSpPr>
          <p:cNvPr id="4" name="Text 2"/>
          <p:cNvSpPr/>
          <p:nvPr/>
        </p:nvSpPr>
        <p:spPr>
          <a:xfrm>
            <a:off x="585216" y="749808"/>
            <a:ext cx="11064240" cy="658368"/>
          </a:xfrm>
          <a:prstGeom prst="rect">
            <a:avLst/>
          </a:prstGeom>
          <a:noFill/>
          <a:ln/>
        </p:spPr>
        <p:txBody>
          <a:bodyPr wrap="square" lIns="0" tIns="0" rIns="0" bIns="0" rtlCol="0" anchor="ctr">
            <a:normAutofit/>
          </a:bodyPr>
          <a:lstStyle/>
          <a:p>
            <a:pPr algn="l" indent="0" marL="0">
              <a:buNone/>
            </a:pPr>
            <a:r>
              <a:rPr lang="en-US" sz="2900" b="1" dirty="0">
                <a:solidFill>
                  <a:srgbClr val="10233C"/>
                </a:solidFill>
                <a:latin typeface="Aptos" pitchFamily="34" charset="0"/>
                <a:ea typeface="Aptos" pitchFamily="34" charset="-122"/>
                <a:cs typeface="Aptos" pitchFamily="34" charset="-120"/>
              </a:rPr>
              <a:t>Contribución integrada y siguientes decisiones</a:t>
            </a:r>
            <a:endParaRPr lang="en-US" sz="2900" dirty="0"/>
          </a:p>
        </p:txBody>
      </p:sp>
      <p:sp>
        <p:nvSpPr>
          <p:cNvPr id="5" name="Shape 3"/>
          <p:cNvSpPr/>
          <p:nvPr/>
        </p:nvSpPr>
        <p:spPr>
          <a:xfrm>
            <a:off x="585216" y="1508760"/>
            <a:ext cx="10991088" cy="0"/>
          </a:xfrm>
          <a:prstGeom prst="line">
            <a:avLst/>
          </a:prstGeom>
          <a:noFill/>
          <a:ln w="15875">
            <a:solidFill>
              <a:srgbClr val="D9E2E8"/>
            </a:solidFill>
            <a:prstDash val="solid"/>
          </a:ln>
        </p:spPr>
        <p:txBody>
          <a:bodyPr/>
          <a:p/>
        </p:txBody>
      </p:sp>
      <p:sp>
        <p:nvSpPr>
          <p:cNvPr id="6" name="Text 4"/>
          <p:cNvSpPr/>
          <p:nvPr/>
        </p:nvSpPr>
        <p:spPr>
          <a:xfrm>
            <a:off x="585216" y="6547104"/>
            <a:ext cx="9921240" cy="137160"/>
          </a:xfrm>
          <a:prstGeom prst="rect">
            <a:avLst/>
          </a:prstGeom>
          <a:noFill/>
          <a:ln/>
        </p:spPr>
        <p:txBody>
          <a:bodyPr wrap="square" lIns="0" tIns="0" rIns="0" bIns="0" rtlCol="0" anchor="ctr">
            <a:normAutofit/>
          </a:bodyPr>
          <a:lstStyle/>
          <a:p>
            <a:pPr algn="l" indent="0" marL="0">
              <a:buNone/>
            </a:pPr>
            <a:r>
              <a:rPr lang="en-US" sz="850" dirty="0">
                <a:solidFill>
                  <a:srgbClr val="5E7182"/>
                </a:solidFill>
                <a:latin typeface="Aptos" pitchFamily="34" charset="0"/>
                <a:ea typeface="Aptos" pitchFamily="34" charset="-122"/>
                <a:cs typeface="Aptos" pitchFamily="34" charset="-120"/>
              </a:rPr>
              <a:t>Universidad Rosario Castellanos (2026)</a:t>
            </a:r>
            <a:endParaRPr lang="en-US" sz="850" dirty="0"/>
          </a:p>
        </p:txBody>
      </p:sp>
      <p:sp>
        <p:nvSpPr>
          <p:cNvPr id="7" name="Text 5"/>
          <p:cNvSpPr/>
          <p:nvPr/>
        </p:nvSpPr>
        <p:spPr>
          <a:xfrm>
            <a:off x="11018520" y="6519672"/>
            <a:ext cx="475488" cy="164592"/>
          </a:xfrm>
          <a:prstGeom prst="rect">
            <a:avLst/>
          </a:prstGeom>
          <a:noFill/>
          <a:ln/>
        </p:spPr>
        <p:txBody>
          <a:bodyPr wrap="square" lIns="0" tIns="0" rIns="0" bIns="0" rtlCol="0" anchor="ctr">
            <a:normAutofit/>
          </a:bodyPr>
          <a:lstStyle/>
          <a:p>
            <a:pPr algn="r" indent="0" marL="0">
              <a:buNone/>
            </a:pPr>
            <a:r>
              <a:rPr lang="en-US" sz="900" dirty="0">
                <a:solidFill>
                  <a:srgbClr val="5E7182"/>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722376" y="1810512"/>
            <a:ext cx="10735056" cy="850392"/>
          </a:xfrm>
          <a:prstGeom prst="roundRect">
            <a:avLst>
              <a:gd name="adj" fmla="val 12903"/>
            </a:avLst>
          </a:prstGeom>
          <a:solidFill>
            <a:srgbClr val="E3F6F2"/>
          </a:solidFill>
          <a:ln w="8890">
            <a:solidFill>
              <a:srgbClr val="D9E2E8"/>
            </a:solidFill>
            <a:prstDash val="solid"/>
          </a:ln>
        </p:spPr>
        <p:txBody>
          <a:bodyPr/>
          <a:p/>
        </p:txBody>
      </p:sp>
      <p:sp>
        <p:nvSpPr>
          <p:cNvPr id="9" name="Text 7"/>
          <p:cNvSpPr/>
          <p:nvPr/>
        </p:nvSpPr>
        <p:spPr>
          <a:xfrm>
            <a:off x="914400" y="2048256"/>
            <a:ext cx="2660904" cy="274320"/>
          </a:xfrm>
          <a:prstGeom prst="rect">
            <a:avLst/>
          </a:prstGeom>
          <a:noFill/>
          <a:ln/>
        </p:spPr>
        <p:txBody>
          <a:bodyPr wrap="square" lIns="0" tIns="0" rIns="0" bIns="0" rtlCol="0" anchor="ctr">
            <a:normAutofit/>
          </a:bodyPr>
          <a:lstStyle/>
          <a:p>
            <a:pPr algn="l" indent="0" marL="0">
              <a:buNone/>
            </a:pPr>
            <a:r>
              <a:rPr lang="en-US" sz="1650" b="1" dirty="0">
                <a:solidFill>
                  <a:srgbClr val="12766C"/>
                </a:solidFill>
                <a:latin typeface="Aptos" pitchFamily="34" charset="0"/>
                <a:ea typeface="Aptos" pitchFamily="34" charset="-122"/>
                <a:cs typeface="Aptos" pitchFamily="34" charset="-120"/>
              </a:rPr>
              <a:t>RESULTADO</a:t>
            </a:r>
            <a:endParaRPr lang="en-US" sz="1650" dirty="0"/>
          </a:p>
        </p:txBody>
      </p:sp>
      <p:sp>
        <p:nvSpPr>
          <p:cNvPr id="10" name="Text 8"/>
          <p:cNvSpPr/>
          <p:nvPr/>
        </p:nvSpPr>
        <p:spPr>
          <a:xfrm>
            <a:off x="3611880" y="1975104"/>
            <a:ext cx="7370064" cy="448056"/>
          </a:xfrm>
          <a:prstGeom prst="rect">
            <a:avLst/>
          </a:prstGeom>
          <a:noFill/>
          <a:ln/>
        </p:spPr>
        <p:txBody>
          <a:bodyPr wrap="square" lIns="0" tIns="0" rIns="0" bIns="0" rtlCol="0" anchor="ctr">
            <a:normAutofit/>
          </a:bodyPr>
          <a:lstStyle/>
          <a:p>
            <a:pPr algn="l" indent="0" marL="0">
              <a:buNone/>
            </a:pPr>
            <a:r>
              <a:rPr lang="en-US" sz="1700" dirty="0">
                <a:solidFill>
                  <a:srgbClr val="1C3044"/>
                </a:solidFill>
                <a:latin typeface="Aptos" pitchFamily="34" charset="0"/>
                <a:ea typeface="Aptos" pitchFamily="34" charset="-122"/>
                <a:cs typeface="Aptos" pitchFamily="34" charset="-120"/>
              </a:rPr>
              <a:t>Base restaurada, evidencia rastreable y comparación reproducible</a:t>
            </a:r>
            <a:endParaRPr lang="en-US" sz="1700" dirty="0"/>
          </a:p>
        </p:txBody>
      </p:sp>
      <p:sp>
        <p:nvSpPr>
          <p:cNvPr id="11" name="Shape 9"/>
          <p:cNvSpPr/>
          <p:nvPr/>
        </p:nvSpPr>
        <p:spPr>
          <a:xfrm>
            <a:off x="722376" y="2807208"/>
            <a:ext cx="10735056" cy="850392"/>
          </a:xfrm>
          <a:prstGeom prst="roundRect">
            <a:avLst>
              <a:gd name="adj" fmla="val 12903"/>
            </a:avLst>
          </a:prstGeom>
          <a:solidFill>
            <a:srgbClr val="E3F6F2"/>
          </a:solidFill>
          <a:ln w="8890">
            <a:solidFill>
              <a:srgbClr val="D9E2E8"/>
            </a:solidFill>
            <a:prstDash val="solid"/>
          </a:ln>
        </p:spPr>
        <p:txBody>
          <a:bodyPr/>
          <a:p/>
        </p:txBody>
      </p:sp>
      <p:sp>
        <p:nvSpPr>
          <p:cNvPr id="12" name="Text 10"/>
          <p:cNvSpPr/>
          <p:nvPr/>
        </p:nvSpPr>
        <p:spPr>
          <a:xfrm>
            <a:off x="914400" y="3044952"/>
            <a:ext cx="2660904" cy="274320"/>
          </a:xfrm>
          <a:prstGeom prst="rect">
            <a:avLst/>
          </a:prstGeom>
          <a:noFill/>
          <a:ln/>
        </p:spPr>
        <p:txBody>
          <a:bodyPr wrap="square" lIns="0" tIns="0" rIns="0" bIns="0" rtlCol="0" anchor="ctr">
            <a:normAutofit/>
          </a:bodyPr>
          <a:lstStyle/>
          <a:p>
            <a:pPr algn="l" indent="0" marL="0">
              <a:buNone/>
            </a:pPr>
            <a:r>
              <a:rPr lang="en-US" sz="1650" b="1" dirty="0">
                <a:solidFill>
                  <a:srgbClr val="12766C"/>
                </a:solidFill>
                <a:latin typeface="Aptos" pitchFamily="34" charset="0"/>
                <a:ea typeface="Aptos" pitchFamily="34" charset="-122"/>
                <a:cs typeface="Aptos" pitchFamily="34" charset="-120"/>
              </a:rPr>
              <a:t>RESULTADO</a:t>
            </a:r>
            <a:endParaRPr lang="en-US" sz="1650" dirty="0"/>
          </a:p>
        </p:txBody>
      </p:sp>
      <p:sp>
        <p:nvSpPr>
          <p:cNvPr id="13" name="Text 11"/>
          <p:cNvSpPr/>
          <p:nvPr/>
        </p:nvSpPr>
        <p:spPr>
          <a:xfrm>
            <a:off x="3611880" y="2971800"/>
            <a:ext cx="7370064" cy="448056"/>
          </a:xfrm>
          <a:prstGeom prst="rect">
            <a:avLst/>
          </a:prstGeom>
          <a:noFill/>
          <a:ln/>
        </p:spPr>
        <p:txBody>
          <a:bodyPr wrap="square" lIns="0" tIns="0" rIns="0" bIns="0" rtlCol="0" anchor="ctr">
            <a:normAutofit/>
          </a:bodyPr>
          <a:lstStyle/>
          <a:p>
            <a:pPr algn="l" indent="0" marL="0">
              <a:buNone/>
            </a:pPr>
            <a:r>
              <a:rPr lang="en-US" sz="1700" dirty="0">
                <a:solidFill>
                  <a:srgbClr val="1C3044"/>
                </a:solidFill>
                <a:latin typeface="Aptos" pitchFamily="34" charset="0"/>
                <a:ea typeface="Aptos" pitchFamily="34" charset="-122"/>
                <a:cs typeface="Aptos" pitchFamily="34" charset="-120"/>
              </a:rPr>
              <a:t>Optimización que cubre 47 tipos de actividad con seis municipios</a:t>
            </a:r>
            <a:endParaRPr lang="en-US" sz="1700" dirty="0"/>
          </a:p>
        </p:txBody>
      </p:sp>
      <p:sp>
        <p:nvSpPr>
          <p:cNvPr id="14" name="Shape 12"/>
          <p:cNvSpPr/>
          <p:nvPr/>
        </p:nvSpPr>
        <p:spPr>
          <a:xfrm>
            <a:off x="722376" y="3803904"/>
            <a:ext cx="10735056" cy="850392"/>
          </a:xfrm>
          <a:prstGeom prst="roundRect">
            <a:avLst>
              <a:gd name="adj" fmla="val 12903"/>
            </a:avLst>
          </a:prstGeom>
          <a:solidFill>
            <a:srgbClr val="F7F3E9"/>
          </a:solidFill>
          <a:ln w="8890">
            <a:solidFill>
              <a:srgbClr val="D9E2E8"/>
            </a:solidFill>
            <a:prstDash val="solid"/>
          </a:ln>
        </p:spPr>
        <p:txBody>
          <a:bodyPr/>
          <a:p/>
        </p:txBody>
      </p:sp>
      <p:sp>
        <p:nvSpPr>
          <p:cNvPr id="15" name="Text 13"/>
          <p:cNvSpPr/>
          <p:nvPr/>
        </p:nvSpPr>
        <p:spPr>
          <a:xfrm>
            <a:off x="914400" y="4041648"/>
            <a:ext cx="2660904" cy="274320"/>
          </a:xfrm>
          <a:prstGeom prst="rect">
            <a:avLst/>
          </a:prstGeom>
          <a:noFill/>
          <a:ln/>
        </p:spPr>
        <p:txBody>
          <a:bodyPr wrap="square" lIns="0" tIns="0" rIns="0" bIns="0" rtlCol="0" anchor="ctr">
            <a:normAutofit/>
          </a:bodyPr>
          <a:lstStyle/>
          <a:p>
            <a:pPr algn="l" indent="0" marL="0">
              <a:buNone/>
            </a:pPr>
            <a:r>
              <a:rPr lang="en-US" sz="1650" b="1" dirty="0">
                <a:solidFill>
                  <a:srgbClr val="10233C"/>
                </a:solidFill>
                <a:latin typeface="Aptos" pitchFamily="34" charset="0"/>
                <a:ea typeface="Aptos" pitchFamily="34" charset="-122"/>
                <a:cs typeface="Aptos" pitchFamily="34" charset="-120"/>
              </a:rPr>
              <a:t>SEGUIMIENTO</a:t>
            </a:r>
            <a:endParaRPr lang="en-US" sz="1650" dirty="0"/>
          </a:p>
        </p:txBody>
      </p:sp>
      <p:sp>
        <p:nvSpPr>
          <p:cNvPr id="16" name="Text 14"/>
          <p:cNvSpPr/>
          <p:nvPr/>
        </p:nvSpPr>
        <p:spPr>
          <a:xfrm>
            <a:off x="3611880" y="3968496"/>
            <a:ext cx="7370064" cy="448056"/>
          </a:xfrm>
          <a:prstGeom prst="rect">
            <a:avLst/>
          </a:prstGeom>
          <a:noFill/>
          <a:ln/>
        </p:spPr>
        <p:txBody>
          <a:bodyPr wrap="square" lIns="0" tIns="0" rIns="0" bIns="0" rtlCol="0" anchor="ctr">
            <a:normAutofit/>
          </a:bodyPr>
          <a:lstStyle/>
          <a:p>
            <a:pPr algn="l" indent="0" marL="0">
              <a:buNone/>
            </a:pPr>
            <a:r>
              <a:rPr lang="en-US" sz="1700" dirty="0">
                <a:solidFill>
                  <a:srgbClr val="1C3044"/>
                </a:solidFill>
                <a:latin typeface="Aptos" pitchFamily="34" charset="0"/>
                <a:ea typeface="Aptos" pitchFamily="34" charset="-122"/>
                <a:cs typeface="Aptos" pitchFamily="34" charset="-120"/>
              </a:rPr>
              <a:t>Afluencia, desempeño de campaña y capacidad territorial: métricas de seguimiento</a:t>
            </a:r>
            <a:endParaRPr lang="en-US" sz="1700" dirty="0"/>
          </a:p>
        </p:txBody>
      </p:sp>
      <p:sp>
        <p:nvSpPr>
          <p:cNvPr id="17" name="Shape 15"/>
          <p:cNvSpPr/>
          <p:nvPr/>
        </p:nvSpPr>
        <p:spPr>
          <a:xfrm>
            <a:off x="722376" y="4800600"/>
            <a:ext cx="10735056" cy="850392"/>
          </a:xfrm>
          <a:prstGeom prst="roundRect">
            <a:avLst>
              <a:gd name="adj" fmla="val 12903"/>
            </a:avLst>
          </a:prstGeom>
          <a:solidFill>
            <a:srgbClr val="EDF2F6"/>
          </a:solidFill>
          <a:ln w="8890">
            <a:solidFill>
              <a:srgbClr val="D9E2E8"/>
            </a:solidFill>
            <a:prstDash val="solid"/>
          </a:ln>
        </p:spPr>
        <p:txBody>
          <a:bodyPr/>
          <a:p/>
        </p:txBody>
      </p:sp>
      <p:sp>
        <p:nvSpPr>
          <p:cNvPr id="18" name="Text 16"/>
          <p:cNvSpPr/>
          <p:nvPr/>
        </p:nvSpPr>
        <p:spPr>
          <a:xfrm>
            <a:off x="914400" y="5038344"/>
            <a:ext cx="2660904" cy="274320"/>
          </a:xfrm>
          <a:prstGeom prst="rect">
            <a:avLst/>
          </a:prstGeom>
          <a:noFill/>
          <a:ln/>
        </p:spPr>
        <p:txBody>
          <a:bodyPr wrap="square" lIns="0" tIns="0" rIns="0" bIns="0" rtlCol="0" anchor="ctr">
            <a:normAutofit/>
          </a:bodyPr>
          <a:lstStyle/>
          <a:p>
            <a:pPr algn="l" indent="0" marL="0">
              <a:buNone/>
            </a:pPr>
            <a:r>
              <a:rPr lang="en-US" sz="1650" b="1" dirty="0">
                <a:solidFill>
                  <a:srgbClr val="10233C"/>
                </a:solidFill>
                <a:latin typeface="Aptos" pitchFamily="34" charset="0"/>
                <a:ea typeface="Aptos" pitchFamily="34" charset="-122"/>
                <a:cs typeface="Aptos" pitchFamily="34" charset="-120"/>
              </a:rPr>
              <a:t>Siguiente decisión</a:t>
            </a:r>
            <a:endParaRPr lang="en-US" sz="1650" dirty="0"/>
          </a:p>
        </p:txBody>
      </p:sp>
      <p:sp>
        <p:nvSpPr>
          <p:cNvPr id="19" name="Text 17"/>
          <p:cNvSpPr/>
          <p:nvPr/>
        </p:nvSpPr>
        <p:spPr>
          <a:xfrm>
            <a:off x="3611880" y="4965192"/>
            <a:ext cx="7370064" cy="448056"/>
          </a:xfrm>
          <a:prstGeom prst="rect">
            <a:avLst/>
          </a:prstGeom>
          <a:noFill/>
          <a:ln/>
        </p:spPr>
        <p:txBody>
          <a:bodyPr wrap="square" lIns="0" tIns="0" rIns="0" bIns="0" rtlCol="0" anchor="ctr">
            <a:normAutofit/>
          </a:bodyPr>
          <a:lstStyle/>
          <a:p>
            <a:pPr algn="l" indent="0" marL="0">
              <a:buNone/>
            </a:pPr>
            <a:r>
              <a:rPr lang="en-US" sz="1700" dirty="0">
                <a:solidFill>
                  <a:srgbClr val="1C3044"/>
                </a:solidFill>
                <a:latin typeface="Aptos" pitchFamily="34" charset="0"/>
                <a:ea typeface="Aptos" pitchFamily="34" charset="-122"/>
                <a:cs typeface="Aptos" pitchFamily="34" charset="-120"/>
              </a:rPr>
              <a:t>Piloto con fuentes, revisión de prestadores y medición de indicadores</a:t>
            </a:r>
            <a:endParaRPr lang="en-US" sz="1700" dirty="0"/>
          </a:p>
        </p:txBody>
      </p:sp>
      <p:sp>
        <p:nvSpPr>
          <p:cNvPr id="20" name="Text 18"/>
          <p:cNvSpPr/>
          <p:nvPr/>
        </p:nvSpPr>
        <p:spPr>
          <a:xfrm>
            <a:off x="804672" y="6062472"/>
            <a:ext cx="10652760" cy="246888"/>
          </a:xfrm>
          <a:prstGeom prst="rect">
            <a:avLst/>
          </a:prstGeom>
          <a:noFill/>
          <a:ln/>
        </p:spPr>
        <p:txBody>
          <a:bodyPr wrap="square" lIns="0" tIns="0" rIns="0" bIns="0" rtlCol="0" anchor="ctr">
            <a:normAutofit/>
          </a:bodyPr>
          <a:lstStyle/>
          <a:p>
            <a:pPr algn="l" indent="0" marL="0">
              <a:buNone/>
            </a:pPr>
            <a:r>
              <a:rPr lang="en-US" sz="1400" b="1" dirty="0">
                <a:solidFill>
                  <a:srgbClr val="1C3044"/>
                </a:solidFill>
                <a:latin typeface="Aptos" pitchFamily="34" charset="0"/>
                <a:ea typeface="Aptos" pitchFamily="34" charset="-122"/>
                <a:cs typeface="Aptos" pitchFamily="34" charset="-120"/>
              </a:rPr>
              <a:t>Resultado: sistema de evidencia y decisión con campaña y evaluación definida.</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oundRect">
            <a:avLst/>
          </a:prstGeom>
          <a:solidFill>
            <a:srgbClr val="12766C"/>
          </a:solidFill>
          <a:ln w="8890">
            <a:solidFill>
              <a:srgbClr val="12766C"/>
            </a:solidFill>
            <a:prstDash val="solid"/>
          </a:ln>
        </p:spPr>
        <p:txBody>
          <a:bodyPr/>
          <a:p/>
        </p:txBody>
      </p:sp>
      <p:sp>
        <p:nvSpPr>
          <p:cNvPr id="3" name="Text 1"/>
          <p:cNvSpPr/>
          <p:nvPr/>
        </p:nvSpPr>
        <p:spPr>
          <a:xfrm>
            <a:off x="585216" y="347472"/>
            <a:ext cx="10789920" cy="219456"/>
          </a:xfrm>
          <a:prstGeom prst="rect">
            <a:avLst/>
          </a:prstGeom>
          <a:noFill/>
          <a:ln/>
        </p:spPr>
        <p:txBody>
          <a:bodyPr wrap="square" lIns="0" tIns="0" rIns="0" bIns="0" rtlCol="0" anchor="ctr">
            <a:normAutofit/>
          </a:bodyPr>
          <a:lstStyle/>
          <a:p>
            <a:pPr algn="l" indent="0" marL="0">
              <a:buNone/>
            </a:pPr>
            <a:r>
              <a:rPr lang="en-US" sz="900" b="1" spc="150" kern="0" dirty="0">
                <a:solidFill>
                  <a:srgbClr val="12766C"/>
                </a:solidFill>
                <a:latin typeface="Aptos" pitchFamily="34" charset="0"/>
                <a:ea typeface="Aptos" pitchFamily="34" charset="-122"/>
                <a:cs typeface="Aptos" pitchFamily="34" charset="-120"/>
              </a:rPr>
              <a:t>FUENTES DE INFORMACIÓN Y MÉTODOS</a:t>
            </a:r>
            <a:endParaRPr lang="en-US" sz="900" dirty="0"/>
          </a:p>
        </p:txBody>
      </p:sp>
      <p:sp>
        <p:nvSpPr>
          <p:cNvPr id="4" name="Text 2"/>
          <p:cNvSpPr/>
          <p:nvPr/>
        </p:nvSpPr>
        <p:spPr>
          <a:xfrm>
            <a:off x="585216" y="749808"/>
            <a:ext cx="11064240" cy="658368"/>
          </a:xfrm>
          <a:prstGeom prst="rect">
            <a:avLst/>
          </a:prstGeom>
          <a:noFill/>
          <a:ln/>
        </p:spPr>
        <p:txBody>
          <a:bodyPr wrap="square" lIns="0" tIns="0" rIns="0" bIns="0" rtlCol="0" anchor="ctr">
            <a:normAutofit/>
          </a:bodyPr>
          <a:lstStyle/>
          <a:p>
            <a:pPr algn="l" indent="0" marL="0">
              <a:buNone/>
            </a:pPr>
            <a:r>
              <a:rPr lang="en-US" sz="2900" b="1" dirty="0">
                <a:solidFill>
                  <a:srgbClr val="10233C"/>
                </a:solidFill>
                <a:latin typeface="Aptos" pitchFamily="34" charset="0"/>
                <a:ea typeface="Aptos" pitchFamily="34" charset="-122"/>
                <a:cs typeface="Aptos" pitchFamily="34" charset="-120"/>
              </a:rPr>
              <a:t>Las cifras proceden de fuentes institucionales y cálculos propios</a:t>
            </a:r>
            <a:endParaRPr lang="en-US" sz="2900" dirty="0"/>
          </a:p>
        </p:txBody>
      </p:sp>
      <p:sp>
        <p:nvSpPr>
          <p:cNvPr id="5" name="Shape 3"/>
          <p:cNvSpPr/>
          <p:nvPr/>
        </p:nvSpPr>
        <p:spPr>
          <a:xfrm>
            <a:off x="585216" y="1508760"/>
            <a:ext cx="10991088" cy="0"/>
          </a:xfrm>
          <a:prstGeom prst="line">
            <a:avLst/>
          </a:prstGeom>
          <a:noFill/>
          <a:ln w="15875">
            <a:solidFill>
              <a:srgbClr val="D9E2E8"/>
            </a:solidFill>
            <a:prstDash val="solid"/>
          </a:ln>
        </p:spPr>
        <p:txBody>
          <a:bodyPr/>
          <a:p/>
        </p:txBody>
      </p:sp>
      <p:sp>
        <p:nvSpPr>
          <p:cNvPr id="6" name="Text 4"/>
          <p:cNvSpPr/>
          <p:nvPr/>
        </p:nvSpPr>
        <p:spPr>
          <a:xfrm>
            <a:off x="585216" y="6547104"/>
            <a:ext cx="9921240" cy="137160"/>
          </a:xfrm>
          <a:prstGeom prst="rect">
            <a:avLst/>
          </a:prstGeom>
          <a:noFill/>
          <a:ln/>
        </p:spPr>
        <p:txBody>
          <a:bodyPr wrap="square" lIns="0" tIns="0" rIns="0" bIns="0" rtlCol="0" anchor="ctr">
            <a:normAutofit/>
          </a:bodyPr>
          <a:lstStyle/>
          <a:p>
            <a:pPr algn="l" indent="0" marL="0">
              <a:buNone/>
            </a:pPr>
            <a:r>
              <a:rPr lang="en-US" sz="850" dirty="0">
                <a:solidFill>
                  <a:srgbClr val="5E7182"/>
                </a:solidFill>
                <a:latin typeface="Aptos" pitchFamily="34" charset="0"/>
                <a:ea typeface="Aptos" pitchFamily="34" charset="-122"/>
                <a:cs typeface="Aptos" pitchFamily="34" charset="-120"/>
              </a:rPr>
              <a:t>Universidad Rosario Castellanos (2026)</a:t>
            </a:r>
            <a:endParaRPr lang="en-US" sz="850" dirty="0"/>
          </a:p>
        </p:txBody>
      </p:sp>
      <p:sp>
        <p:nvSpPr>
          <p:cNvPr id="7" name="Text 5"/>
          <p:cNvSpPr/>
          <p:nvPr/>
        </p:nvSpPr>
        <p:spPr>
          <a:xfrm>
            <a:off x="11018520" y="6519672"/>
            <a:ext cx="475488" cy="164592"/>
          </a:xfrm>
          <a:prstGeom prst="rect">
            <a:avLst/>
          </a:prstGeom>
          <a:noFill/>
          <a:ln/>
        </p:spPr>
        <p:txBody>
          <a:bodyPr wrap="square" lIns="0" tIns="0" rIns="0" bIns="0" rtlCol="0" anchor="ctr">
            <a:normAutofit/>
          </a:bodyPr>
          <a:lstStyle/>
          <a:p>
            <a:pPr algn="r" indent="0" marL="0">
              <a:buNone/>
            </a:pPr>
            <a:r>
              <a:rPr lang="en-US" sz="900" dirty="0">
                <a:solidFill>
                  <a:srgbClr val="5E7182"/>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740664" y="1920240"/>
            <a:ext cx="10661904" cy="484632"/>
          </a:xfrm>
          <a:prstGeom prst="roundRect">
            <a:avLst>
              <a:gd name="adj" fmla="val 22642"/>
            </a:avLst>
          </a:prstGeom>
          <a:solidFill>
            <a:srgbClr val="EDF2F6"/>
          </a:solidFill>
          <a:ln w="8890">
            <a:solidFill>
              <a:srgbClr val="D9E2E8"/>
            </a:solidFill>
            <a:prstDash val="solid"/>
          </a:ln>
        </p:spPr>
        <p:txBody>
          <a:bodyPr/>
          <a:p/>
        </p:txBody>
      </p:sp>
      <p:sp>
        <p:nvSpPr>
          <p:cNvPr id="9" name="Text 7"/>
          <p:cNvSpPr/>
          <p:nvPr/>
        </p:nvSpPr>
        <p:spPr>
          <a:xfrm>
            <a:off x="923544" y="2029968"/>
            <a:ext cx="3675888" cy="237744"/>
          </a:xfrm>
          <a:prstGeom prst="rect">
            <a:avLst/>
          </a:prstGeom>
          <a:noFill/>
          <a:ln/>
        </p:spPr>
        <p:txBody>
          <a:bodyPr wrap="square" lIns="0" tIns="0" rIns="0" bIns="0" rtlCol="0" anchor="ctr">
            <a:normAutofit/>
          </a:bodyPr>
          <a:lstStyle/>
          <a:p>
            <a:pPr algn="l" indent="0" marL="0">
              <a:buNone/>
            </a:pPr>
            <a:r>
              <a:rPr lang="en-US" sz="1500" b="1" dirty="0">
                <a:solidFill>
                  <a:srgbClr val="12766C"/>
                </a:solidFill>
                <a:latin typeface="Aptos" pitchFamily="34" charset="0"/>
                <a:ea typeface="Aptos" pitchFamily="34" charset="-122"/>
                <a:cs typeface="Aptos" pitchFamily="34" charset="-120"/>
              </a:rPr>
              <a:t>212 / 216 / 295 / 173</a:t>
            </a:r>
            <a:endParaRPr lang="en-US" sz="1500" dirty="0"/>
          </a:p>
        </p:txBody>
      </p:sp>
      <p:sp>
        <p:nvSpPr>
          <p:cNvPr id="10" name="Text 8"/>
          <p:cNvSpPr/>
          <p:nvPr/>
        </p:nvSpPr>
        <p:spPr>
          <a:xfrm>
            <a:off x="4581144" y="2029968"/>
            <a:ext cx="6528816" cy="237744"/>
          </a:xfrm>
          <a:prstGeom prst="rect">
            <a:avLst/>
          </a:prstGeom>
          <a:noFill/>
          <a:ln/>
        </p:spPr>
        <p:txBody>
          <a:bodyPr wrap="square" lIns="0" tIns="0" rIns="0" bIns="0" rtlCol="0" anchor="ctr">
            <a:normAutofit/>
          </a:bodyPr>
          <a:lstStyle/>
          <a:p>
            <a:pPr algn="l" indent="0" marL="0">
              <a:buNone/>
            </a:pPr>
            <a:r>
              <a:rPr lang="en-US" sz="1400" dirty="0">
                <a:solidFill>
                  <a:srgbClr val="10233C"/>
                </a:solidFill>
                <a:latin typeface="Aptos" pitchFamily="34" charset="0"/>
                <a:ea typeface="Aptos" pitchFamily="34" charset="-122"/>
                <a:cs typeface="Aptos" pitchFamily="34" charset="-120"/>
              </a:rPr>
              <a:t>Catálogo y registros propios · SECTUR Veracruz</a:t>
            </a:r>
            <a:endParaRPr lang="en-US" sz="1400" dirty="0"/>
          </a:p>
        </p:txBody>
      </p:sp>
      <p:sp>
        <p:nvSpPr>
          <p:cNvPr id="11" name="Shape 9"/>
          <p:cNvSpPr/>
          <p:nvPr/>
        </p:nvSpPr>
        <p:spPr>
          <a:xfrm>
            <a:off x="740664" y="2487168"/>
            <a:ext cx="10661904" cy="484632"/>
          </a:xfrm>
          <a:prstGeom prst="roundRect">
            <a:avLst>
              <a:gd name="adj" fmla="val 22642"/>
            </a:avLst>
          </a:prstGeom>
          <a:solidFill>
            <a:srgbClr val="FFFFFF"/>
          </a:solidFill>
          <a:ln w="8890">
            <a:solidFill>
              <a:srgbClr val="D9E2E8"/>
            </a:solidFill>
            <a:prstDash val="solid"/>
          </a:ln>
        </p:spPr>
        <p:txBody>
          <a:bodyPr/>
          <a:p/>
        </p:txBody>
      </p:sp>
      <p:sp>
        <p:nvSpPr>
          <p:cNvPr id="12" name="Text 10"/>
          <p:cNvSpPr/>
          <p:nvPr/>
        </p:nvSpPr>
        <p:spPr>
          <a:xfrm>
            <a:off x="923544" y="2596896"/>
            <a:ext cx="3675888" cy="237744"/>
          </a:xfrm>
          <a:prstGeom prst="rect">
            <a:avLst/>
          </a:prstGeom>
          <a:noFill/>
          <a:ln/>
        </p:spPr>
        <p:txBody>
          <a:bodyPr wrap="square" lIns="0" tIns="0" rIns="0" bIns="0" rtlCol="0" anchor="ctr">
            <a:normAutofit/>
          </a:bodyPr>
          <a:lstStyle/>
          <a:p>
            <a:pPr algn="l" indent="0" marL="0">
              <a:buNone/>
            </a:pPr>
            <a:r>
              <a:rPr lang="en-US" sz="1500" b="1" dirty="0">
                <a:solidFill>
                  <a:srgbClr val="12766C"/>
                </a:solidFill>
                <a:latin typeface="Aptos" pitchFamily="34" charset="0"/>
                <a:ea typeface="Aptos" pitchFamily="34" charset="-122"/>
                <a:cs typeface="Aptos" pitchFamily="34" charset="-120"/>
              </a:rPr>
              <a:t>Intersección kayak / aves</a:t>
            </a:r>
            <a:endParaRPr lang="en-US" sz="1500" dirty="0"/>
          </a:p>
        </p:txBody>
      </p:sp>
      <p:sp>
        <p:nvSpPr>
          <p:cNvPr id="13" name="Text 11"/>
          <p:cNvSpPr/>
          <p:nvPr/>
        </p:nvSpPr>
        <p:spPr>
          <a:xfrm>
            <a:off x="4581144" y="2596896"/>
            <a:ext cx="6528816" cy="237744"/>
          </a:xfrm>
          <a:prstGeom prst="rect">
            <a:avLst/>
          </a:prstGeom>
          <a:noFill/>
          <a:ln/>
        </p:spPr>
        <p:txBody>
          <a:bodyPr wrap="square" lIns="0" tIns="0" rIns="0" bIns="0" rtlCol="0" anchor="ctr">
            <a:normAutofit/>
          </a:bodyPr>
          <a:lstStyle/>
          <a:p>
            <a:pPr algn="l" indent="0" marL="0">
              <a:buNone/>
            </a:pPr>
            <a:r>
              <a:rPr lang="en-US" sz="1400" dirty="0">
                <a:solidFill>
                  <a:srgbClr val="10233C"/>
                </a:solidFill>
                <a:latin typeface="Aptos" pitchFamily="34" charset="0"/>
                <a:ea typeface="Aptos" pitchFamily="34" charset="-122"/>
                <a:cs typeface="Aptos" pitchFamily="34" charset="-120"/>
              </a:rPr>
              <a:t>Catálogo de experiencias · SECTUR Veracruz</a:t>
            </a:r>
            <a:endParaRPr lang="en-US" sz="1400" dirty="0"/>
          </a:p>
        </p:txBody>
      </p:sp>
      <p:sp>
        <p:nvSpPr>
          <p:cNvPr id="14" name="Shape 12"/>
          <p:cNvSpPr/>
          <p:nvPr/>
        </p:nvSpPr>
        <p:spPr>
          <a:xfrm>
            <a:off x="740664" y="3054096"/>
            <a:ext cx="10661904" cy="484632"/>
          </a:xfrm>
          <a:prstGeom prst="roundRect">
            <a:avLst>
              <a:gd name="adj" fmla="val 22642"/>
            </a:avLst>
          </a:prstGeom>
          <a:solidFill>
            <a:srgbClr val="EDF2F6"/>
          </a:solidFill>
          <a:ln w="8890">
            <a:solidFill>
              <a:srgbClr val="D9E2E8"/>
            </a:solidFill>
            <a:prstDash val="solid"/>
          </a:ln>
        </p:spPr>
        <p:txBody>
          <a:bodyPr/>
          <a:p/>
        </p:txBody>
      </p:sp>
      <p:sp>
        <p:nvSpPr>
          <p:cNvPr id="15" name="Text 13"/>
          <p:cNvSpPr/>
          <p:nvPr/>
        </p:nvSpPr>
        <p:spPr>
          <a:xfrm>
            <a:off x="923544" y="3163824"/>
            <a:ext cx="3675888" cy="237744"/>
          </a:xfrm>
          <a:prstGeom prst="rect">
            <a:avLst/>
          </a:prstGeom>
          <a:noFill/>
          <a:ln/>
        </p:spPr>
        <p:txBody>
          <a:bodyPr wrap="square" lIns="0" tIns="0" rIns="0" bIns="0" rtlCol="0" anchor="ctr">
            <a:normAutofit/>
          </a:bodyPr>
          <a:lstStyle/>
          <a:p>
            <a:pPr algn="l" indent="0" marL="0">
              <a:buNone/>
            </a:pPr>
            <a:r>
              <a:rPr lang="en-US" sz="1500" b="1" dirty="0">
                <a:solidFill>
                  <a:srgbClr val="12766C"/>
                </a:solidFill>
                <a:latin typeface="Aptos" pitchFamily="34" charset="0"/>
                <a:ea typeface="Aptos" pitchFamily="34" charset="-122"/>
                <a:cs typeface="Aptos" pitchFamily="34" charset="-120"/>
              </a:rPr>
              <a:t>52 predicciones y MAE</a:t>
            </a:r>
            <a:endParaRPr lang="en-US" sz="1500" dirty="0"/>
          </a:p>
        </p:txBody>
      </p:sp>
      <p:sp>
        <p:nvSpPr>
          <p:cNvPr id="16" name="Text 14"/>
          <p:cNvSpPr/>
          <p:nvPr/>
        </p:nvSpPr>
        <p:spPr>
          <a:xfrm>
            <a:off x="4581144" y="3163824"/>
            <a:ext cx="6528816" cy="237744"/>
          </a:xfrm>
          <a:prstGeom prst="rect">
            <a:avLst/>
          </a:prstGeom>
          <a:noFill/>
          <a:ln/>
        </p:spPr>
        <p:txBody>
          <a:bodyPr wrap="square" lIns="0" tIns="0" rIns="0" bIns="0" rtlCol="0" anchor="ctr">
            <a:normAutofit/>
          </a:bodyPr>
          <a:lstStyle/>
          <a:p>
            <a:pPr algn="l" indent="0" marL="0">
              <a:buNone/>
            </a:pPr>
            <a:r>
              <a:rPr lang="en-US" sz="1400" dirty="0">
                <a:solidFill>
                  <a:srgbClr val="10233C"/>
                </a:solidFill>
                <a:latin typeface="Aptos" pitchFamily="34" charset="0"/>
                <a:ea typeface="Aptos" pitchFamily="34" charset="-122"/>
                <a:cs typeface="Aptos" pitchFamily="34" charset="-120"/>
              </a:rPr>
              <a:t>Series DataTur · SECTUR</a:t>
            </a:r>
            <a:endParaRPr lang="en-US" sz="1400" dirty="0"/>
          </a:p>
        </p:txBody>
      </p:sp>
      <p:sp>
        <p:nvSpPr>
          <p:cNvPr id="17" name="Shape 15"/>
          <p:cNvSpPr/>
          <p:nvPr/>
        </p:nvSpPr>
        <p:spPr>
          <a:xfrm>
            <a:off x="740664" y="3621024"/>
            <a:ext cx="10661904" cy="484632"/>
          </a:xfrm>
          <a:prstGeom prst="roundRect">
            <a:avLst>
              <a:gd name="adj" fmla="val 22642"/>
            </a:avLst>
          </a:prstGeom>
          <a:solidFill>
            <a:srgbClr val="FFFFFF"/>
          </a:solidFill>
          <a:ln w="8890">
            <a:solidFill>
              <a:srgbClr val="D9E2E8"/>
            </a:solidFill>
            <a:prstDash val="solid"/>
          </a:ln>
        </p:spPr>
        <p:txBody>
          <a:bodyPr/>
          <a:p/>
        </p:txBody>
      </p:sp>
      <p:sp>
        <p:nvSpPr>
          <p:cNvPr id="18" name="Text 16"/>
          <p:cNvSpPr/>
          <p:nvPr/>
        </p:nvSpPr>
        <p:spPr>
          <a:xfrm>
            <a:off x="923544" y="3730752"/>
            <a:ext cx="3675888" cy="237744"/>
          </a:xfrm>
          <a:prstGeom prst="rect">
            <a:avLst/>
          </a:prstGeom>
          <a:noFill/>
          <a:ln/>
        </p:spPr>
        <p:txBody>
          <a:bodyPr wrap="square" lIns="0" tIns="0" rIns="0" bIns="0" rtlCol="0" anchor="ctr">
            <a:normAutofit/>
          </a:bodyPr>
          <a:lstStyle/>
          <a:p>
            <a:pPr algn="l" indent="0" marL="0">
              <a:buNone/>
            </a:pPr>
            <a:r>
              <a:rPr lang="en-US" sz="1500" b="1" dirty="0">
                <a:solidFill>
                  <a:srgbClr val="12766C"/>
                </a:solidFill>
                <a:latin typeface="Aptos" pitchFamily="34" charset="0"/>
                <a:ea typeface="Aptos" pitchFamily="34" charset="-122"/>
                <a:cs typeface="Aptos" pitchFamily="34" charset="-120"/>
              </a:rPr>
              <a:t>Cobertura y ancho</a:t>
            </a:r>
            <a:endParaRPr lang="en-US" sz="1500" dirty="0"/>
          </a:p>
        </p:txBody>
      </p:sp>
      <p:sp>
        <p:nvSpPr>
          <p:cNvPr id="19" name="Text 17"/>
          <p:cNvSpPr/>
          <p:nvPr/>
        </p:nvSpPr>
        <p:spPr>
          <a:xfrm>
            <a:off x="4581144" y="3730752"/>
            <a:ext cx="6528816" cy="237744"/>
          </a:xfrm>
          <a:prstGeom prst="rect">
            <a:avLst/>
          </a:prstGeom>
          <a:noFill/>
          <a:ln/>
        </p:spPr>
        <p:txBody>
          <a:bodyPr wrap="square" lIns="0" tIns="0" rIns="0" bIns="0" rtlCol="0" anchor="ctr">
            <a:normAutofit/>
          </a:bodyPr>
          <a:lstStyle/>
          <a:p>
            <a:pPr algn="l" indent="0" marL="0">
              <a:buNone/>
            </a:pPr>
            <a:r>
              <a:rPr lang="en-US" sz="1400" dirty="0">
                <a:solidFill>
                  <a:srgbClr val="10233C"/>
                </a:solidFill>
                <a:latin typeface="Aptos" pitchFamily="34" charset="0"/>
                <a:ea typeface="Aptos" pitchFamily="34" charset="-122"/>
                <a:cs typeface="Aptos" pitchFamily="34" charset="-120"/>
              </a:rPr>
              <a:t>Series DataTur · SECTUR</a:t>
            </a:r>
            <a:endParaRPr lang="en-US" sz="1400" dirty="0"/>
          </a:p>
        </p:txBody>
      </p:sp>
      <p:sp>
        <p:nvSpPr>
          <p:cNvPr id="20" name="Shape 18"/>
          <p:cNvSpPr/>
          <p:nvPr/>
        </p:nvSpPr>
        <p:spPr>
          <a:xfrm>
            <a:off x="740664" y="4187952"/>
            <a:ext cx="10661904" cy="484632"/>
          </a:xfrm>
          <a:prstGeom prst="roundRect">
            <a:avLst>
              <a:gd name="adj" fmla="val 22642"/>
            </a:avLst>
          </a:prstGeom>
          <a:solidFill>
            <a:srgbClr val="EDF2F6"/>
          </a:solidFill>
          <a:ln w="8890">
            <a:solidFill>
              <a:srgbClr val="D9E2E8"/>
            </a:solidFill>
            <a:prstDash val="solid"/>
          </a:ln>
        </p:spPr>
        <p:txBody>
          <a:bodyPr/>
          <a:p/>
        </p:txBody>
      </p:sp>
      <p:sp>
        <p:nvSpPr>
          <p:cNvPr id="21" name="Text 19"/>
          <p:cNvSpPr/>
          <p:nvPr/>
        </p:nvSpPr>
        <p:spPr>
          <a:xfrm>
            <a:off x="923544" y="4297680"/>
            <a:ext cx="3675888" cy="237744"/>
          </a:xfrm>
          <a:prstGeom prst="rect">
            <a:avLst/>
          </a:prstGeom>
          <a:noFill/>
          <a:ln/>
        </p:spPr>
        <p:txBody>
          <a:bodyPr wrap="square" lIns="0" tIns="0" rIns="0" bIns="0" rtlCol="0" anchor="ctr">
            <a:normAutofit/>
          </a:bodyPr>
          <a:lstStyle/>
          <a:p>
            <a:pPr algn="l" indent="0" marL="0">
              <a:buNone/>
            </a:pPr>
            <a:r>
              <a:rPr lang="en-US" sz="1500" b="1" dirty="0">
                <a:solidFill>
                  <a:srgbClr val="12766C"/>
                </a:solidFill>
                <a:latin typeface="Aptos" pitchFamily="34" charset="0"/>
                <a:ea typeface="Aptos" pitchFamily="34" charset="-122"/>
                <a:cs typeface="Aptos" pitchFamily="34" charset="-120"/>
              </a:rPr>
              <a:t>Markov 8/20</a:t>
            </a:r>
            <a:endParaRPr lang="en-US" sz="1500" dirty="0"/>
          </a:p>
        </p:txBody>
      </p:sp>
      <p:sp>
        <p:nvSpPr>
          <p:cNvPr id="22" name="Text 20"/>
          <p:cNvSpPr/>
          <p:nvPr/>
        </p:nvSpPr>
        <p:spPr>
          <a:xfrm>
            <a:off x="4581144" y="4297680"/>
            <a:ext cx="6528816" cy="237744"/>
          </a:xfrm>
          <a:prstGeom prst="rect">
            <a:avLst/>
          </a:prstGeom>
          <a:noFill/>
          <a:ln/>
        </p:spPr>
        <p:txBody>
          <a:bodyPr wrap="square" lIns="0" tIns="0" rIns="0" bIns="0" rtlCol="0" anchor="ctr">
            <a:normAutofit/>
          </a:bodyPr>
          <a:lstStyle/>
          <a:p>
            <a:pPr algn="l" indent="0" marL="0">
              <a:buNone/>
            </a:pPr>
            <a:r>
              <a:rPr lang="en-US" sz="1400" dirty="0">
                <a:solidFill>
                  <a:srgbClr val="10233C"/>
                </a:solidFill>
                <a:latin typeface="Aptos" pitchFamily="34" charset="0"/>
                <a:ea typeface="Aptos" pitchFamily="34" charset="-122"/>
                <a:cs typeface="Aptos" pitchFamily="34" charset="-120"/>
              </a:rPr>
              <a:t>Ocupación DataTur · SECTUR</a:t>
            </a:r>
            <a:endParaRPr lang="en-US" sz="1400" dirty="0"/>
          </a:p>
        </p:txBody>
      </p:sp>
      <p:sp>
        <p:nvSpPr>
          <p:cNvPr id="23" name="Shape 21"/>
          <p:cNvSpPr/>
          <p:nvPr/>
        </p:nvSpPr>
        <p:spPr>
          <a:xfrm>
            <a:off x="740664" y="4754880"/>
            <a:ext cx="10661904" cy="484632"/>
          </a:xfrm>
          <a:prstGeom prst="roundRect">
            <a:avLst>
              <a:gd name="adj" fmla="val 22642"/>
            </a:avLst>
          </a:prstGeom>
          <a:solidFill>
            <a:srgbClr val="FFFFFF"/>
          </a:solidFill>
          <a:ln w="8890">
            <a:solidFill>
              <a:srgbClr val="D9E2E8"/>
            </a:solidFill>
            <a:prstDash val="solid"/>
          </a:ln>
        </p:spPr>
        <p:txBody>
          <a:bodyPr/>
          <a:p/>
        </p:txBody>
      </p:sp>
      <p:sp>
        <p:nvSpPr>
          <p:cNvPr id="24" name="Text 22"/>
          <p:cNvSpPr/>
          <p:nvPr/>
        </p:nvSpPr>
        <p:spPr>
          <a:xfrm>
            <a:off x="923544" y="4864608"/>
            <a:ext cx="3675888" cy="237744"/>
          </a:xfrm>
          <a:prstGeom prst="rect">
            <a:avLst/>
          </a:prstGeom>
          <a:noFill/>
          <a:ln/>
        </p:spPr>
        <p:txBody>
          <a:bodyPr wrap="square" lIns="0" tIns="0" rIns="0" bIns="0" rtlCol="0" anchor="ctr">
            <a:normAutofit/>
          </a:bodyPr>
          <a:lstStyle/>
          <a:p>
            <a:pPr algn="l" indent="0" marL="0">
              <a:buNone/>
            </a:pPr>
            <a:r>
              <a:rPr lang="en-US" sz="1500" b="1" dirty="0">
                <a:solidFill>
                  <a:srgbClr val="12766C"/>
                </a:solidFill>
                <a:latin typeface="Aptos" pitchFamily="34" charset="0"/>
                <a:ea typeface="Aptos" pitchFamily="34" charset="-122"/>
                <a:cs typeface="Aptos" pitchFamily="34" charset="-120"/>
              </a:rPr>
              <a:t>Selección y 47 tipos</a:t>
            </a:r>
            <a:endParaRPr lang="en-US" sz="1500" dirty="0"/>
          </a:p>
        </p:txBody>
      </p:sp>
      <p:sp>
        <p:nvSpPr>
          <p:cNvPr id="25" name="Text 23"/>
          <p:cNvSpPr/>
          <p:nvPr/>
        </p:nvSpPr>
        <p:spPr>
          <a:xfrm>
            <a:off x="4581144" y="4864608"/>
            <a:ext cx="6528816" cy="237744"/>
          </a:xfrm>
          <a:prstGeom prst="rect">
            <a:avLst/>
          </a:prstGeom>
          <a:noFill/>
          <a:ln/>
        </p:spPr>
        <p:txBody>
          <a:bodyPr wrap="square" lIns="0" tIns="0" rIns="0" bIns="0" rtlCol="0" anchor="ctr">
            <a:normAutofit/>
          </a:bodyPr>
          <a:lstStyle/>
          <a:p>
            <a:pPr algn="l" indent="0" marL="0">
              <a:buNone/>
            </a:pPr>
            <a:r>
              <a:rPr lang="en-US" sz="1400" dirty="0">
                <a:solidFill>
                  <a:srgbClr val="10233C"/>
                </a:solidFill>
                <a:latin typeface="Aptos" pitchFamily="34" charset="0"/>
                <a:ea typeface="Aptos" pitchFamily="34" charset="-122"/>
                <a:cs typeface="Aptos" pitchFamily="34" charset="-120"/>
              </a:rPr>
              <a:t>Modelo de cobertura · elaboración propia</a:t>
            </a:r>
            <a:endParaRPr lang="en-US" sz="1400" dirty="0"/>
          </a:p>
        </p:txBody>
      </p:sp>
      <p:sp>
        <p:nvSpPr>
          <p:cNvPr id="26" name="Shape 24"/>
          <p:cNvSpPr/>
          <p:nvPr/>
        </p:nvSpPr>
        <p:spPr>
          <a:xfrm>
            <a:off x="740664" y="5321808"/>
            <a:ext cx="10661904" cy="484632"/>
          </a:xfrm>
          <a:prstGeom prst="roundRect">
            <a:avLst>
              <a:gd name="adj" fmla="val 22642"/>
            </a:avLst>
          </a:prstGeom>
          <a:solidFill>
            <a:srgbClr val="EDF2F6"/>
          </a:solidFill>
          <a:ln w="8890">
            <a:solidFill>
              <a:srgbClr val="D9E2E8"/>
            </a:solidFill>
            <a:prstDash val="solid"/>
          </a:ln>
        </p:spPr>
        <p:txBody>
          <a:bodyPr/>
          <a:p/>
        </p:txBody>
      </p:sp>
      <p:sp>
        <p:nvSpPr>
          <p:cNvPr id="27" name="Text 25"/>
          <p:cNvSpPr/>
          <p:nvPr/>
        </p:nvSpPr>
        <p:spPr>
          <a:xfrm>
            <a:off x="923544" y="5431536"/>
            <a:ext cx="3675888" cy="237744"/>
          </a:xfrm>
          <a:prstGeom prst="rect">
            <a:avLst/>
          </a:prstGeom>
          <a:noFill/>
          <a:ln/>
        </p:spPr>
        <p:txBody>
          <a:bodyPr wrap="square" lIns="0" tIns="0" rIns="0" bIns="0" rtlCol="0" anchor="ctr">
            <a:normAutofit/>
          </a:bodyPr>
          <a:lstStyle/>
          <a:p>
            <a:pPr algn="l" indent="0" marL="0">
              <a:buNone/>
            </a:pPr>
            <a:r>
              <a:rPr lang="en-US" sz="1500" b="1" dirty="0">
                <a:solidFill>
                  <a:srgbClr val="12766C"/>
                </a:solidFill>
                <a:latin typeface="Aptos" pitchFamily="34" charset="0"/>
                <a:ea typeface="Aptos" pitchFamily="34" charset="-122"/>
                <a:cs typeface="Aptos" pitchFamily="34" charset="-120"/>
              </a:rPr>
              <a:t>Presupuesto y publicidad</a:t>
            </a:r>
            <a:endParaRPr lang="en-US" sz="1500" dirty="0"/>
          </a:p>
        </p:txBody>
      </p:sp>
      <p:sp>
        <p:nvSpPr>
          <p:cNvPr id="28" name="Text 26"/>
          <p:cNvSpPr/>
          <p:nvPr/>
        </p:nvSpPr>
        <p:spPr>
          <a:xfrm>
            <a:off x="4581144" y="5431536"/>
            <a:ext cx="6528816" cy="237744"/>
          </a:xfrm>
          <a:prstGeom prst="rect">
            <a:avLst/>
          </a:prstGeom>
          <a:noFill/>
          <a:ln/>
        </p:spPr>
        <p:txBody>
          <a:bodyPr wrap="square" lIns="0" tIns="0" rIns="0" bIns="0" rtlCol="0" anchor="ctr">
            <a:normAutofit/>
          </a:bodyPr>
          <a:lstStyle/>
          <a:p>
            <a:pPr algn="l" indent="0" marL="0">
              <a:buNone/>
            </a:pPr>
            <a:r>
              <a:rPr lang="en-US" sz="1400" dirty="0">
                <a:solidFill>
                  <a:srgbClr val="10233C"/>
                </a:solidFill>
                <a:latin typeface="Aptos" pitchFamily="34" charset="0"/>
                <a:ea typeface="Aptos" pitchFamily="34" charset="-122"/>
                <a:cs typeface="Aptos" pitchFamily="34" charset="-120"/>
              </a:rPr>
              <a:t>Plan de campaña · elaboración propia</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Veracruz: experiencias con raíz — coloquio integrado</dc:title>
  <dc:subject>Coloquio interdisciplinario de Ciencias de Datos para Negocios</dc:subject>
  <dc:creator>Equipo académico · Proyecto Veracruz</dc:creator>
  <cp:lastModifiedBy>Proyecto Veracruz — PP6</cp:lastModifiedBy>
  <cp:revision>1</cp:revision>
  <dcterms:created xsi:type="dcterms:W3CDTF">2026-10-20T22:59:36Z</dcterms:created>
  <dcterms:modified xsi:type="dcterms:W3CDTF">2026-10-20T22:59:36Z</dcterms:modified>
</cp:coreProperties>
</file>